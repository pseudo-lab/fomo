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5852160" cy="585216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4389120" cy="438912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가짜연구소 12기 · 논문 리뷰 세션 · 2026-06-02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Full-Duplex 음성 AI,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두 번째 이야기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65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빠름의 대가</a:t>
            </a:r>
            <a:pPr indent="0" marL="0">
              <a:buNone/>
            </a:pPr>
            <a:r>
              <a:rPr lang="en-US" sz="2200" dirty="0">
                <a:solidFill>
                  <a:srgbClr val="5E5E6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 xml:space="preserve">  와  </a:t>
            </a:r>
            <a:pPr indent="0" marL="0">
              <a:buNone/>
            </a:pPr>
            <a:r>
              <a:rPr lang="en-US" sz="2200" b="1" dirty="0">
                <a:solidFill>
                  <a:srgbClr val="2EAE9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“들으면서 생각하기”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515600" cy="1463040"/>
          </a:xfrm>
          <a:prstGeom prst="roundRect">
            <a:avLst>
              <a:gd name="adj" fmla="val 5625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33425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4306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핵심 주장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46817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오픈소스 풀듀플렉스는 캐스케이드를 하나의 빠른 단일 모델로 합치는 데 수렴했지만, 그 대가로 추론을 잃었다. 그 절충안으로 떠오른 가장 활발한 갈래가 think-while-listening 이다.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논문·벤치마크 수치는 2026-06-02 기준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REMINDER · 지난주에서 오늘로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캐스케이드는 대화가 아니라 순차 처리다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ASR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음성 → 텍스트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57300" y="32461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65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latency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2578608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17720" y="182880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LLM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4617720" y="2834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텍스트 추론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06340" y="32461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634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text bottleneck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578608"/>
            <a:ext cx="36576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66760" y="182880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6676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TTS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8366760" y="2834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텍스트 → 음성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755380" y="32461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75538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turn-based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68680" y="4114800"/>
            <a:ext cx="10469880" cy="1600200"/>
          </a:xfrm>
          <a:prstGeom prst="roundRect">
            <a:avLst>
              <a:gd name="adj" fmla="val 5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7083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핵심 난점은 “빠른 응답”만이 아니다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234440" y="47548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단계마다 지연 누적</a:t>
            </a:r>
            <a:endParaRPr lang="en-US" sz="13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비언어(paralinguistic) 정보 손실</a:t>
            </a:r>
            <a:endParaRPr lang="en-US" sz="13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턴 기반 구조 → 끼어들기·중첩 발화에서 붕괴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Moshi (arXiv:2410.00037) · Step-Audio 2 (arXiv:2507.16632)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2부 · 진짜 수렴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수렴 = 하나의 빠른 단일 모델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291840" cy="91440"/>
          </a:xfrm>
          <a:prstGeom prst="rect">
            <a:avLst/>
          </a:prstGeom>
          <a:solidFill>
            <a:srgbClr val="E2655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Moshi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8072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inner monologue + multi-stream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텍스트를 오디오 prefix로 예측 · 사용자/시스템 음성 병렬, 턴 제거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496" y="274320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178308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783080"/>
            <a:ext cx="329184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PersonaPlex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63440" y="28072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Moshi architecture 기반 · Moshi weights로 초기화한 7B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role / voice conditioning 추가 · Helium 계열 백본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2743200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0" y="178308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783080"/>
            <a:ext cx="329184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6" name="Text 12"/>
          <p:cNvSpPr/>
          <p:nvPr/>
        </p:nvSpPr>
        <p:spPr>
          <a:xfrm>
            <a:off x="845820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Nemotron 3 VoiceChat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458200" y="28072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conformer → Nemotron Nano V2 → TTS decoder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persona/voice 계열 12B open model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4498848"/>
            <a:ext cx="10927080" cy="1207008"/>
          </a:xfrm>
          <a:prstGeom prst="roundRect">
            <a:avLst>
              <a:gd name="adj" fmla="val 6818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365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46817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구분 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여기서 “수렴”은 단일 모델화이지, Thinking Machines의 2-model(interaction + background) 분리가 아니다. 그 구조는 슬라이드 7에서 별도 제안으로 다룬다.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Moshi 2410.00037 · PersonaPlex 2602.06053 · Nemotron 3 VoiceChat (NVIDIA model card)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2부 · 지도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단일 모델 안의 토큰 전략 — 세 분류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56432" cy="3154680"/>
          </a:xfrm>
          <a:prstGeom prst="roundRect">
            <a:avLst>
              <a:gd name="adj" fmla="val 2609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77724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AE9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86000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Thinker-Talker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7673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텍스트 추론(Thinker)이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음향 합성(Talker)에 선행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5537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Qwen2.5 / 3-Omni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25696" y="1828800"/>
            <a:ext cx="3456432" cy="3154680"/>
          </a:xfrm>
          <a:prstGeom prst="roundRect">
            <a:avLst>
              <a:gd name="adj" fmla="val 2609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0016" y="2121408"/>
            <a:ext cx="77724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2655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86000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016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Interleaved / Parallel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0016" y="37673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텍스트·오디오 토큰을 고정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비율·병렬 스트림으로 교차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00016" y="45537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Moshi · Step-Audio 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11312" y="1828800"/>
            <a:ext cx="3456432" cy="3154680"/>
          </a:xfrm>
          <a:prstGeom prst="roundRect">
            <a:avLst>
              <a:gd name="adj" fmla="val 2609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85632" y="2121408"/>
            <a:ext cx="777240" cy="7772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AE9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286000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85632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Cascaded-with-controller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85632" y="37673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외부 모듈이 듣기 / 말하기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상태를 판단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85632" y="45537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Freeze-Omni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이 taxonomy는 뒤의 think-while-listening 논문들을 분류하기 위한 지도다 — 깊은 설명은 생략.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Covo-Audio Technical Report (arXiv:2602.09823) · Step-Audio 2 (arXiv:2507.16632)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2부 클라이맥스 · 그 대가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fast vs smart — 빠를수록 추론이 무너진다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6766560" cy="3703320"/>
          </a:xfrm>
          <a:prstGeom prst="roundRect">
            <a:avLst>
              <a:gd name="adj" fmla="val 2222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2103120"/>
            <a:ext cx="0" cy="2697480"/>
          </a:xfrm>
          <a:prstGeom prst="line">
            <a:avLst/>
          </a:prstGeom>
          <a:noFill/>
          <a:ln w="19050">
            <a:solidFill>
              <a:srgbClr val="D6D6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4800600"/>
            <a:ext cx="5532120" cy="0"/>
          </a:xfrm>
          <a:prstGeom prst="line">
            <a:avLst/>
          </a:prstGeom>
          <a:noFill/>
          <a:ln w="19050">
            <a:solidFill>
              <a:srgbClr val="D6D6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4126230"/>
            <a:ext cx="5532120" cy="0"/>
          </a:xfrm>
          <a:prstGeom prst="line">
            <a:avLst/>
          </a:prstGeom>
          <a:noFill/>
          <a:ln w="6350">
            <a:solidFill>
              <a:srgbClr val="EAEA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3451860"/>
            <a:ext cx="5532120" cy="0"/>
          </a:xfrm>
          <a:prstGeom prst="line">
            <a:avLst/>
          </a:prstGeom>
          <a:noFill/>
          <a:ln w="6350">
            <a:solidFill>
              <a:srgbClr val="EAEA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777490"/>
            <a:ext cx="5532120" cy="0"/>
          </a:xfrm>
          <a:prstGeom prst="line">
            <a:avLst/>
          </a:prstGeom>
          <a:noFill/>
          <a:ln w="6350">
            <a:solidFill>
              <a:srgbClr val="EAEA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103120"/>
            <a:ext cx="5532120" cy="0"/>
          </a:xfrm>
          <a:prstGeom prst="line">
            <a:avLst/>
          </a:prstGeom>
          <a:noFill/>
          <a:ln w="6350">
            <a:solidFill>
              <a:srgbClr val="EA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49103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conversational dynamics  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1832" y="304038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speech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reasoning 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52717" y="3832022"/>
            <a:ext cx="237744" cy="237744"/>
          </a:xfrm>
          <a:prstGeom prst="ellipse">
            <a:avLst/>
          </a:prstGeom>
          <a:solidFill>
            <a:srgbClr val="E2655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54269" y="390517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PersonaPlex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48402" y="4567085"/>
            <a:ext cx="237744" cy="237744"/>
          </a:xfrm>
          <a:prstGeom prst="ellipse">
            <a:avLst/>
          </a:prstGeom>
          <a:solidFill>
            <a:srgbClr val="2EAE9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1866" y="4521365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Moshi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31336" y="2395614"/>
            <a:ext cx="237744" cy="237744"/>
          </a:xfrm>
          <a:prstGeom prst="ellipse">
            <a:avLst/>
          </a:prstGeom>
          <a:solidFill>
            <a:srgbClr val="2EAE9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33088" y="242304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Freeze-Omni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22477" y="2712568"/>
            <a:ext cx="237744" cy="237744"/>
          </a:xfrm>
          <a:prstGeom prst="ellipse">
            <a:avLst/>
          </a:prstGeom>
          <a:solidFill>
            <a:srgbClr val="2EAE9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24229" y="2602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Nemotron 3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VoiceChat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09560" y="178308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83880" y="1984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확인 수치 (reasoning)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2377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PersonaPlex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921240" y="2377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91.0 / 12.6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8388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Moshi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21240" y="28346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— / 1.7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83880" y="3291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Freeze-Omni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92124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— / 33.9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83880" y="3749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Nemotron 3 VC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2124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77.8 / 29.2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83880" y="4270248"/>
            <a:ext cx="3063240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4389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dynamics 91 / reasoning 12.6 처럼, 자연스러운 대화 역학을 얻을수록 추론이 무너지는 경향.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83880" y="5093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예외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Nemotron 3 VoiceChat — open weights 중 양 축 모두 top 3 균형형.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868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좌표는 발표용 근사 배치 · 수치는 본문 기준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Artificial Analysis — Nemotron 3 VoiceChat: Conversational Dynamics vs Speech Reasoning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2부 · 전환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지연을 늘리지 않고 추론을 되돌릴 수 있을까?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5166360" cy="2788920"/>
          </a:xfrm>
          <a:prstGeom prst="roundRect">
            <a:avLst>
              <a:gd name="adj" fmla="val 2951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(a)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679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interaction + background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Thinking Machines식 2-model 분리.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빠른 경로와 느린 경로를 별도 모델로 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88720" y="4160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6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오늘은 다루지 않음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166360" cy="2788920"/>
          </a:xfrm>
          <a:prstGeom prst="roundRect">
            <a:avLst>
              <a:gd name="adj" fmla="val 2951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965960"/>
            <a:ext cx="516636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(b)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679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think-while-listening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32461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단일 모델 안에서 listening 시간을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추론 시간으로 바꾼다.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75120" y="4160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EAE94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오늘의 초점 →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310896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5074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두 갈래 모두 “빠름을 깨지 않고 smart를 회복”하려는 시도다.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Thinking Machines (thinkingmachines.ai/blog/interaction-models)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2부 → 3부 다리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인간의 답 — 우린 들으면서 생각한다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user speech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20240" y="1783080"/>
            <a:ext cx="6649517" cy="457200"/>
          </a:xfrm>
          <a:prstGeom prst="roundRect">
            <a:avLst>
              <a:gd name="adj" fmla="val 16000"/>
            </a:avLst>
          </a:prstGeom>
          <a:solidFill>
            <a:srgbClr val="E2655F">
              <a:alpha val="92000"/>
            </a:srgbClr>
          </a:solidFill>
          <a:ln w="12700">
            <a:solidFill>
              <a:srgbClr val="E2655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562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model listening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20240" y="2423160"/>
            <a:ext cx="6649517" cy="457200"/>
          </a:xfrm>
          <a:prstGeom prst="roundRect">
            <a:avLst>
              <a:gd name="adj" fmla="val 16000"/>
            </a:avLst>
          </a:prstGeom>
          <a:solidFill>
            <a:srgbClr val="2EAE94">
              <a:alpha val="92000"/>
            </a:srgbClr>
          </a:solidFill>
          <a:ln w="12700">
            <a:solidFill>
              <a:srgbClr val="2EAE9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4963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model thinking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60290" y="30632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2EAE94">
              <a:alpha val="78000"/>
            </a:srgbClr>
          </a:solidFill>
          <a:ln w="12700">
            <a:solidFill>
              <a:srgbClr val="2EAE9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30" y="313639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9308592" y="3703320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2EAE94">
              <a:alpha val="92000"/>
            </a:srgbClr>
          </a:solidFill>
          <a:ln w="12700">
            <a:solidFill>
              <a:srgbClr val="2EAE9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3776472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60290" y="1737360"/>
            <a:ext cx="0" cy="2468880"/>
          </a:xfrm>
          <a:prstGeom prst="line">
            <a:avLst/>
          </a:prstGeom>
          <a:noFill/>
          <a:ln w="19050">
            <a:solidFill>
              <a:srgbClr val="E2655F"/>
            </a:solidFill>
            <a:prstDash val="dash"/>
          </a:ln>
        </p:spPr>
      </p:sp>
      <p:sp>
        <p:nvSpPr>
          <p:cNvPr id="17" name="Text 11"/>
          <p:cNvSpPr/>
          <p:nvPr/>
        </p:nvSpPr>
        <p:spPr>
          <a:xfrm>
            <a:off x="1920240" y="4325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thinking이 speech 중간부터 겹쳐 시작 → response latency 감소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5074920"/>
            <a:ext cx="10835640" cy="1005840"/>
          </a:xfrm>
          <a:prstGeom prst="roundRect">
            <a:avLst>
              <a:gd name="adj" fmla="val 8182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0352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52303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구분 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interaction + background 분리는 Thinking Machines의 새 제안이지, 슬라이드 3 모델들의 수렴점이 아니다.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SHANKS (arXiv:2510.06917) · Thinking Machines · seangoedecke.com/interaction-models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공통 문제 정의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기존 모델은 듣는 동안 사실상 멈춰 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" y="16276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full-duplex SDLM은 listening 구간에 silence token을 반복 예측하며 idle 상태가 되기 쉽다 — 인간 행동과의 이 괴리가 think-while-listening 계열이 메우려는 빈틈이다.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기존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26517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980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651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silence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6517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9806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2651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silence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18120" y="26517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9806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18120" y="2651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silence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33649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listening 구간을 idle로 버린다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97880" y="376732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목표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1051560" y="47091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EAE94">
              <a:alpha val="86000"/>
            </a:srgbClr>
          </a:solidFill>
          <a:ln w="16510">
            <a:solidFill>
              <a:srgbClr val="2EAE94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855464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4709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partial reasoning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434840" y="47091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EAE94">
              <a:alpha val="86000"/>
            </a:srgbClr>
          </a:solidFill>
          <a:ln w="16510">
            <a:solidFill>
              <a:srgbClr val="2EAE94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855464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34840" y="4709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partial reasoning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7818120" y="47091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EAE94">
              <a:alpha val="86000"/>
            </a:srgbClr>
          </a:solidFill>
          <a:ln w="16510">
            <a:solidFill>
              <a:srgbClr val="2EAE94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4855464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818120" y="4709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partial reasoning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1005840" y="54589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listening 구간을 추론 예산으로 재활용한다 — 3부 전체의 공통 목표.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Chronological Thinking (OpenReview id=ofJYlbzoqn · arXiv:2510.05150)</a:t>
            </a:r>
            <a:endParaRPr lang="en-US" sz="850" dirty="0"/>
          </a:p>
        </p:txBody>
      </p:sp>
      <p:sp>
        <p:nvSpPr>
          <p:cNvPr id="29" name="Text 20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갈래 A-1 (텍스트 CoT)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Can Speech LLMs Think while Listening?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E2655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E2655F">
              <a:alpha val="14000"/>
            </a:srgbClr>
          </a:solidFill>
          <a:ln w="15240">
            <a:solidFill>
              <a:srgbClr val="E265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5440680" cy="475488"/>
          </a:xfrm>
          <a:prstGeom prst="rect">
            <a:avLst/>
          </a:prstGeom>
          <a:noFill/>
          <a:ln/>
        </p:spPr>
        <p:txBody>
          <a:bodyPr wrap="square" lIns="146304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user speech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15461" y="2267712"/>
            <a:ext cx="0" cy="1316736"/>
          </a:xfrm>
          <a:prstGeom prst="line">
            <a:avLst/>
          </a:prstGeom>
          <a:noFill/>
          <a:ln w="17780">
            <a:solidFill>
              <a:srgbClr val="E2655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178101" y="20299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question complete ↑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3035808"/>
            <a:ext cx="2991917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5240">
            <a:solidFill>
              <a:srgbClr val="5E5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35808"/>
            <a:ext cx="29919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listening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0325" y="3035808"/>
            <a:ext cx="2339035" cy="475488"/>
          </a:xfrm>
          <a:prstGeom prst="roundRect">
            <a:avLst>
              <a:gd name="adj" fmla="val 13462"/>
            </a:avLst>
          </a:prstGeom>
          <a:solidFill>
            <a:srgbClr val="E2655F">
              <a:alpha val="22000"/>
            </a:srgbClr>
          </a:solidFill>
          <a:ln w="15240">
            <a:solidFill>
              <a:srgbClr val="E265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0325" y="3035808"/>
            <a:ext cx="23390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text CoT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→ text CoT가 곧 더 정확한 answer로 이어진다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질문이 충분해지는 순간부터 텍스트 CoT를 시작한다.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8680" y="4956048"/>
            <a:ext cx="99121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65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56048"/>
            <a:ext cx="99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text CoT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06194" y="4956048"/>
            <a:ext cx="221559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65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06194" y="4956048"/>
            <a:ext cx="2215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question completeness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68089" y="4956048"/>
            <a:ext cx="52029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65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8089" y="4956048"/>
            <a:ext cx="5202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DPO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멀티스트림 speech LLM에 CoT 파인튜닝 적용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엔트로피 기반 question completeness로 “언제” 추론 시작할지 결정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DPO로 Pareto를 더 밀어 정확도 손실 없이 지연 절감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040880" y="4059936"/>
            <a:ext cx="4233672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416966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accuracy–latency trade-off를 임계값으로 명시 제어.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40880" y="4645152"/>
            <a:ext cx="131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2.4×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040880" y="5029200"/>
            <a:ext cx="131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음성 추론 정확도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52104" y="4645152"/>
            <a:ext cx="131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−70%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452104" y="5029200"/>
            <a:ext cx="131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지연 (DPO)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63328" y="4645152"/>
            <a:ext cx="131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+4%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863328" y="5029200"/>
            <a:ext cx="131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ARC-Easy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arXiv:2510.07497 (OpenReview id=dFVenZdVbX)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갈래 A-2 (텍스트 CoT)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SHANKS — Simultaneous Hearing and Thinking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E2655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1051560" cy="384048"/>
          </a:xfrm>
          <a:prstGeom prst="roundRect">
            <a:avLst>
              <a:gd name="adj" fmla="val 42857"/>
            </a:avLst>
          </a:prstGeom>
          <a:solidFill>
            <a:srgbClr val="E2655F">
              <a:alpha val="20000"/>
            </a:srgbClr>
          </a:solidFill>
          <a:ln w="15240">
            <a:solidFill>
              <a:srgbClr val="E265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86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CoT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1303020" y="267004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" y="27889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E5E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788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chunk 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84832" y="2286000"/>
            <a:ext cx="1051560" cy="384048"/>
          </a:xfrm>
          <a:prstGeom prst="roundRect">
            <a:avLst>
              <a:gd name="adj" fmla="val 42857"/>
            </a:avLst>
          </a:prstGeom>
          <a:solidFill>
            <a:srgbClr val="E2655F">
              <a:alpha val="20000"/>
            </a:srgbClr>
          </a:solidFill>
          <a:ln w="15240">
            <a:solidFill>
              <a:srgbClr val="E265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84832" y="2286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CoT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519172" y="2670048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084832" y="27889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E5E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2788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chunk 2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300984" y="2286000"/>
            <a:ext cx="1051560" cy="384048"/>
          </a:xfrm>
          <a:prstGeom prst="roundRect">
            <a:avLst>
              <a:gd name="adj" fmla="val 42857"/>
            </a:avLst>
          </a:prstGeom>
          <a:solidFill>
            <a:srgbClr val="E2655F">
              <a:alpha val="20000"/>
            </a:srgbClr>
          </a:solidFill>
          <a:ln w="15240">
            <a:solidFill>
              <a:srgbClr val="E265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0984" y="2286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CoT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735324" y="2670048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300984" y="27889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5E5E6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300984" y="2788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chunk 3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679192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773168" y="2331720"/>
            <a:ext cx="1536192" cy="420624"/>
          </a:xfrm>
          <a:prstGeom prst="roundRect">
            <a:avLst>
              <a:gd name="adj" fmla="val 15217"/>
            </a:avLst>
          </a:prstGeom>
          <a:solidFill>
            <a:srgbClr val="E2655F">
              <a:alpha val="20000"/>
            </a:srgbClr>
          </a:solidFill>
          <a:ln w="15240">
            <a:solidFill>
              <a:srgbClr val="E2655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73168" y="233172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interruption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73168" y="2834640"/>
            <a:ext cx="1536192" cy="420624"/>
          </a:xfrm>
          <a:prstGeom prst="roundRect">
            <a:avLst>
              <a:gd name="adj" fmla="val 15217"/>
            </a:avLst>
          </a:prstGeom>
          <a:solidFill>
            <a:srgbClr val="E2655F">
              <a:alpha val="20000"/>
            </a:srgbClr>
          </a:solidFill>
          <a:ln w="15240">
            <a:solidFill>
              <a:srgbClr val="E2655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73168" y="28346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tool-call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68680" y="34930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턴 종료 전부터 사고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턴이 끝나기 전, chunk마다 숨은 CoT를 만든다.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868680" y="4956048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655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68680" y="4956048"/>
            <a:ext cx="1367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unspoken CoT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382926" y="4956048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655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382926" y="495604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chunk-wise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708806" y="4956048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655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708806" y="4956048"/>
            <a:ext cx="1367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interruption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chunk 단위로 듣는 동안 unspoken CoT 생성, 턴 종료 전 사고 시작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적시 끼어들기·tool-call·응답 준비를 앞당기는 데 사용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갈래 A의 짝 — 둘 다 텍스트 CoT 진영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040880" y="4059936"/>
            <a:ext cx="4233672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040880" y="416966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추론 정확도뿐 아니라 끼어들기·tool-call 타이밍으로 확장.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7040880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37.1%</a:t>
            </a:r>
            <a:endParaRPr lang="en-US" sz="1900" dirty="0"/>
          </a:p>
        </p:txBody>
      </p:sp>
      <p:sp>
        <p:nvSpPr>
          <p:cNvPr id="42" name="Text 36"/>
          <p:cNvSpPr/>
          <p:nvPr/>
        </p:nvSpPr>
        <p:spPr>
          <a:xfrm>
            <a:off x="7040880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↑ interruption acc.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9157716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56.9%</a:t>
            </a:r>
            <a:endParaRPr lang="en-US" sz="1900" dirty="0"/>
          </a:p>
        </p:txBody>
      </p:sp>
      <p:sp>
        <p:nvSpPr>
          <p:cNvPr id="44" name="Text 38"/>
          <p:cNvSpPr/>
          <p:nvPr/>
        </p:nvSpPr>
        <p:spPr>
          <a:xfrm>
            <a:off x="9157716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tool-call 선행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arXiv:2510.06917 (OpenReview id=4Jnev8rWaq)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갈래 B (타이밍 제어)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Chronological Thinking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4026103" cy="713232"/>
          </a:xfrm>
          <a:prstGeom prst="roundRect">
            <a:avLst>
              <a:gd name="adj" fmla="val 8974"/>
            </a:avLst>
          </a:prstGeom>
          <a:solidFill>
            <a:srgbClr val="2EAE94">
              <a:alpha val="12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432304"/>
            <a:ext cx="38432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listening window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" y="2706624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2EAE94">
              <a:alpha val="45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0662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reasoning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43786" y="27066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2EAE94">
              <a:alpha val="45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3786" y="27066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6012" y="27066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2EAE94">
              <a:alpha val="45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6012" y="27066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28237" y="27066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2EAE94">
              <a:alpha val="45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8237" y="27066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3071" y="2651760"/>
            <a:ext cx="237744" cy="23774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169103" y="2542032"/>
            <a:ext cx="1121969" cy="502920"/>
          </a:xfrm>
          <a:prstGeom prst="roundRect">
            <a:avLst>
              <a:gd name="adj" fmla="val 12727"/>
            </a:avLst>
          </a:prstGeom>
          <a:solidFill>
            <a:srgbClr val="2EAE94">
              <a:alpha val="25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9103" y="2542032"/>
            <a:ext cx="11219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speak now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8680" y="34564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사용자가 멈추면 추가 지연 없이 즉시 발화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사고를 몰아서 하지 않고 listening window에 분산한다.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868680" y="4956048"/>
            <a:ext cx="108539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956048"/>
            <a:ext cx="10853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amortized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100377" y="4956048"/>
            <a:ext cx="165049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00377" y="4956048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strictly causal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897173" y="4956048"/>
            <a:ext cx="108539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97173" y="4956048"/>
            <a:ext cx="10853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0 latency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추론을 listening 구간에 분산(amortize)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“무엇을 생각하나”보다 “언제 생각하나”에 초점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strictly causal — 과거·현재 발화만 사용, 미래 미참조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040880" y="4059936"/>
            <a:ext cx="4233672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40880" y="416966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타이밍 자체가 기여 — 객관지표 + 휴먼평가로 검증.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040880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+0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7040880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추가 지연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157716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causal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9157716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미래 미참조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OpenReview id=ofJYlbzoqn · arXiv:2510.05150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갈래 C (latent reasoning)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FLAIR / The Silent Thought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2EAE94">
              <a:alpha val="20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latent ₜ₋₁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889504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80360" y="27432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2EAE94">
              <a:alpha val="20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latent ₜ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889504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92040" y="27432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2EAE94">
              <a:alpha val="20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9204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latent ₜ₊₁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1577340" y="2724912"/>
            <a:ext cx="0" cy="-274320"/>
          </a:xfrm>
          <a:prstGeom prst="line">
            <a:avLst/>
          </a:prstGeom>
          <a:noFill/>
          <a:ln w="15240">
            <a:solidFill>
              <a:srgbClr val="2EAE9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577340" y="2450592"/>
            <a:ext cx="2011680" cy="0"/>
          </a:xfrm>
          <a:prstGeom prst="line">
            <a:avLst/>
          </a:prstGeom>
          <a:noFill/>
          <a:ln w="15240">
            <a:solidFill>
              <a:srgbClr val="2EAE9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89020" y="2450592"/>
            <a:ext cx="0" cy="274320"/>
          </a:xfrm>
          <a:prstGeom prst="line">
            <a:avLst/>
          </a:prstGeom>
          <a:noFill/>
          <a:ln w="15240">
            <a:solidFill>
              <a:srgbClr val="2EAE9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recursive — 직전 latent를 재귀 입력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68680" y="3474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텍스트 토큰 없이 연속 추론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생각은 꼭 텍스트일 필요가 없다.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868680" y="4956048"/>
            <a:ext cx="1744675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4956048"/>
            <a:ext cx="1744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latent reasoning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759659" y="4956048"/>
            <a:ext cx="61447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59659" y="4956048"/>
            <a:ext cx="614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ELBO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520440" y="4956048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20440" y="4956048"/>
            <a:ext cx="1367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no CoT label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직전 step latent embedding을 다음 step으로 재귀 입력 → 인과성 유지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ELBO 목적함수 + teacher forcing, 명시적 추론 주석 불필요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텍스트 CoT 진영과 가장 대비 — 해석성 vs 확장성 토론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7040880" y="4059936"/>
            <a:ext cx="4233672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40880" y="416966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공저자 Yoshua Bengio · 추가 지연 없는 비언어 사고.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7040880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latent</a:t>
            </a:r>
            <a:endParaRPr lang="en-US" sz="1900" dirty="0"/>
          </a:p>
        </p:txBody>
      </p:sp>
      <p:sp>
        <p:nvSpPr>
          <p:cNvPr id="34" name="Text 30"/>
          <p:cNvSpPr/>
          <p:nvPr/>
        </p:nvSpPr>
        <p:spPr>
          <a:xfrm>
            <a:off x="7040880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사고 표현형식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9157716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ICML'26</a:t>
            </a:r>
            <a:endParaRPr lang="en-US" sz="1900" dirty="0"/>
          </a:p>
        </p:txBody>
      </p:sp>
      <p:sp>
        <p:nvSpPr>
          <p:cNvPr id="36" name="Text 32"/>
          <p:cNvSpPr/>
          <p:nvPr/>
        </p:nvSpPr>
        <p:spPr>
          <a:xfrm>
            <a:off x="9157716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accepted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arXiv:2603.17837 (v4, ICML 2026 accepted)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갈래 D (구조화 행동 추론)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GoT-duplex — Graph-of-Thoughts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633472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5E5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3347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perception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87121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35224" y="2779776"/>
            <a:ext cx="566928" cy="329184"/>
          </a:xfrm>
          <a:prstGeom prst="line">
            <a:avLst/>
          </a:prstGeom>
          <a:noFill/>
          <a:ln w="12700">
            <a:solidFill>
              <a:srgbClr val="2EAE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3108960"/>
            <a:ext cx="301752" cy="54864"/>
          </a:xfrm>
          <a:prstGeom prst="line">
            <a:avLst/>
          </a:prstGeom>
          <a:noFill/>
          <a:ln w="12700">
            <a:solidFill>
              <a:srgbClr val="2EAE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35224" y="2779776"/>
            <a:ext cx="1645920" cy="45720"/>
          </a:xfrm>
          <a:prstGeom prst="line">
            <a:avLst/>
          </a:prstGeom>
          <a:noFill/>
          <a:ln w="12700">
            <a:solidFill>
              <a:srgbClr val="2EAE9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1144" y="2825496"/>
            <a:ext cx="-777240" cy="338328"/>
          </a:xfrm>
          <a:prstGeom prst="line">
            <a:avLst/>
          </a:prstGeom>
          <a:noFill/>
          <a:ln w="12700">
            <a:solidFill>
              <a:srgbClr val="2EAE9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2633472"/>
            <a:ext cx="292608" cy="292608"/>
          </a:xfrm>
          <a:prstGeom prst="ellipse">
            <a:avLst/>
          </a:prstGeom>
          <a:solidFill>
            <a:srgbClr val="2EAE94">
              <a:alpha val="70000"/>
            </a:srgbClr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0" y="3017520"/>
            <a:ext cx="292608" cy="292608"/>
          </a:xfrm>
          <a:prstGeom prst="ellipse">
            <a:avLst/>
          </a:prstGeom>
          <a:solidFill>
            <a:srgbClr val="2EAE94">
              <a:alpha val="70000"/>
            </a:srgbClr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2679192"/>
            <a:ext cx="292608" cy="292608"/>
          </a:xfrm>
          <a:prstGeom prst="ellipse">
            <a:avLst/>
          </a:prstGeom>
          <a:solidFill>
            <a:srgbClr val="2EAE94">
              <a:alpha val="70000"/>
            </a:srgbClr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5848" y="2962656"/>
            <a:ext cx="292608" cy="292608"/>
          </a:xfrm>
          <a:prstGeom prst="ellipse">
            <a:avLst/>
          </a:prstGeom>
          <a:solidFill>
            <a:srgbClr val="2EAE94">
              <a:alpha val="70000"/>
            </a:srgbClr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9748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thought graph</a:t>
            </a:r>
            <a:endParaRPr lang="en-US" sz="8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871216"/>
            <a:ext cx="237744" cy="2377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74920" y="2633472"/>
            <a:ext cx="1234440" cy="731520"/>
          </a:xfrm>
          <a:prstGeom prst="roundRect">
            <a:avLst>
              <a:gd name="adj" fmla="val 8750"/>
            </a:avLst>
          </a:prstGeom>
          <a:solidFill>
            <a:srgbClr val="2EAE94">
              <a:alpha val="22000"/>
            </a:srgbClr>
          </a:solidFill>
          <a:ln w="15240">
            <a:solidFill>
              <a:srgbClr val="2EAE9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74920" y="26334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action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68680" y="367588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끼어들지·침묵할지·기다릴지를 추론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추론 대상이 답변이 아니라 대화 행동일 수도 있다.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868680" y="4956048"/>
            <a:ext cx="183885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68680" y="4956048"/>
            <a:ext cx="1838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Graph-of-Thoughts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853842" y="4956048"/>
            <a:ext cx="99121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853842" y="4956048"/>
            <a:ext cx="99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behavior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991356" y="4956048"/>
            <a:ext cx="146212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AE9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991356" y="4956048"/>
            <a:ext cx="146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perception → thought graph → action 루프를 인과 그래프로 모델링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QA 정확도가 아니라 대화 행동(끼어들기·침묵·대기) 추론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해석 가능한 rationale(reasoning chain) 함께 생성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7040880" y="4059936"/>
            <a:ext cx="4233672" cy="0"/>
          </a:xfrm>
          <a:prstGeom prst="line">
            <a:avLst/>
          </a:prstGeom>
          <a:noFill/>
          <a:ln w="12700">
            <a:solidFill>
              <a:srgbClr val="D6D6D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040880" y="4169664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QA reasoning → conversational behavior reasoning으로 확장.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7040880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행동</a:t>
            </a:r>
            <a:endParaRPr lang="en-US" sz="1900" dirty="0"/>
          </a:p>
        </p:txBody>
      </p:sp>
      <p:sp>
        <p:nvSpPr>
          <p:cNvPr id="37" name="Text 33"/>
          <p:cNvSpPr/>
          <p:nvPr/>
        </p:nvSpPr>
        <p:spPr>
          <a:xfrm>
            <a:off x="7040880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추론 대상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9157716" y="4645152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graph</a:t>
            </a:r>
            <a:endParaRPr lang="en-US" sz="1900" dirty="0"/>
          </a:p>
        </p:txBody>
      </p:sp>
      <p:sp>
        <p:nvSpPr>
          <p:cNvPr id="39" name="Text 35"/>
          <p:cNvSpPr/>
          <p:nvPr/>
        </p:nvSpPr>
        <p:spPr>
          <a:xfrm>
            <a:off x="9157716" y="5029200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해석성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arXiv:2512.21706 · got-duplex.github.io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클라이맥스 · 회수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종합 비교표 — latency를 깨지 않고 reasoning 앞당기기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148840"/>
                <a:gridCol w="2331720"/>
                <a:gridCol w="2240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논문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사고 표현형식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타이밍 트리거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학습 objective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AE9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추가 지연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2655F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Can Speech LLMs…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텍스트 CoT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question completeness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CoT FT + DPO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거의 없음 / −70%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2655F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SHANKS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텍스트 CoT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chunk·턴 종료 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CoT 기반 학습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절감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AE9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Chronological Thinking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텍스트 사고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listening window 분산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chronological 학습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없음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AE9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FLAIR / Silent Thought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latent(비언어)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발화 중 연속 재귀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ELBO + teacher forcing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없음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AE9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GoT-duplex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그래프(GoT)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perception 단위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E6B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인과 그래프 행동 추론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024"/>
                          </a:solidFill>
                          <a:latin typeface="Noto Sans" pitchFamily="34" charset="0"/>
                          <a:ea typeface="Noto Sans KR" pitchFamily="34" charset="-122"/>
                          <a:cs typeface="Noto Sans" pitchFamily="34" charset="-120"/>
                        </a:rPr>
                        <a:t>행동 판단 중심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“추가 지연” 열 </a:t>
            </a:r>
            <a:pPr indent="0" marL="0">
              <a:buNone/>
            </a:pPr>
            <a:r>
              <a:rPr lang="en-US" sz="1300" i="1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→ 슬라이드 5의 Pareto와 다시 연결: 빠름을 안 깨고 smart를 회복하려는 시도.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출처: 위 다섯 논문 각각 (슬라이드 9–13 참조)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종합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공통 인사이트 — 하나의 연구 지형도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377440" y="1920240"/>
            <a:ext cx="6858000" cy="3520440"/>
          </a:xfrm>
          <a:prstGeom prst="roundRect">
            <a:avLst>
              <a:gd name="adj" fmla="val 2338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34640" y="2194560"/>
            <a:ext cx="0" cy="2651760"/>
          </a:xfrm>
          <a:prstGeom prst="line">
            <a:avLst/>
          </a:prstGeom>
          <a:noFill/>
          <a:ln w="19050">
            <a:solidFill>
              <a:srgbClr val="D6D6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4846320"/>
            <a:ext cx="6035040" cy="0"/>
          </a:xfrm>
          <a:prstGeom prst="line">
            <a:avLst/>
          </a:prstGeom>
          <a:noFill/>
          <a:ln w="19050">
            <a:solidFill>
              <a:srgbClr val="D6D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49560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timing control  약함 → 강함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31546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thought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text→latent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42432" y="4471416"/>
            <a:ext cx="219456" cy="219456"/>
          </a:xfrm>
          <a:prstGeom prst="ellipse">
            <a:avLst/>
          </a:prstGeom>
          <a:solidFill>
            <a:srgbClr val="E2655F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16752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Can Speech…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08038" y="4153205"/>
            <a:ext cx="219456" cy="219456"/>
          </a:xfrm>
          <a:prstGeom prst="ellipse">
            <a:avLst/>
          </a:prstGeom>
          <a:solidFill>
            <a:srgbClr val="E2655F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82358" y="4116629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SHANKS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35747" y="3834994"/>
            <a:ext cx="219456" cy="219456"/>
          </a:xfrm>
          <a:prstGeom prst="ellipse">
            <a:avLst/>
          </a:prstGeom>
          <a:solidFill>
            <a:srgbClr val="2EAE94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4691" y="379841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Chronological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28739" y="2482596"/>
            <a:ext cx="219456" cy="219456"/>
          </a:xfrm>
          <a:prstGeom prst="ellipse">
            <a:avLst/>
          </a:prstGeom>
          <a:solidFill>
            <a:srgbClr val="2EAE94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03059" y="24460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FLAIR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18227" y="2350008"/>
            <a:ext cx="219456" cy="219456"/>
          </a:xfrm>
          <a:prstGeom prst="ellipse">
            <a:avLst/>
          </a:prstGeom>
          <a:solidFill>
            <a:srgbClr val="2EAE94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92547" y="2313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GoT-duplex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1832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전제는 수렴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“들으며 사고”는 공통.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해법은 분기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표현형식 × 타이밍.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8320" y="3977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 xml:space="preserve">공통점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post-hoc 사고(턴 종료 후 사고) 거부.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종합: 슬라이드 9–14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3부 · 미해결 과제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아직 표준 답은 없다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257800" cy="91440"/>
          </a:xfrm>
          <a:prstGeom prst="rect">
            <a:avLst/>
          </a:prstGeom>
          <a:solidFill>
            <a:srgbClr val="E2655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6654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Text CoT vs latent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5237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어느 쪽이 확장성·해석성에서 이기나 — 아직 미정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A·B·D 진영(텍스트/그래프) vs C 진영(latent)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55664" y="18288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1828800"/>
            <a:ext cx="525780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1" name="Text 9"/>
          <p:cNvSpPr/>
          <p:nvPr/>
        </p:nvSpPr>
        <p:spPr>
          <a:xfrm>
            <a:off x="6775704" y="206654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Accuracy–latency benchmark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5704" y="25237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정확도와 지연을 함께 보는 표준 벤치 부재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75704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각 논문이 ARC·Full-Duplex-Bench 등 제각각 평가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7947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94760"/>
            <a:ext cx="525780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325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행동 vs QA 평가 통합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4897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대화 행동과 speech reasoning을 하나의 Pareto로?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GoT-duplex의 행동 추론 ↔ A계열 QA 추론 미연결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55664" y="37947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3794760"/>
            <a:ext cx="525780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21" name="Text 19"/>
          <p:cNvSpPr/>
          <p:nvPr/>
        </p:nvSpPr>
        <p:spPr>
          <a:xfrm>
            <a:off x="6775704" y="40325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Korean paralinguistic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5704" y="44897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한국어 대화 신호 벤치 공백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704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backchannel·침묵·끼어들기·망설임 → 본인 연구 연결점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종합: 슬라이드 9–15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4부 · 한 문장 결론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 xml:space="preserve">Full-duplex는 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E265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빠름의 대가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로 추론을 잃었고,
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2EAE9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들으면서 생각하기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가 그 절충안으로 떠올랐다.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60120" y="406908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4069080"/>
            <a:ext cx="2926080" cy="91440"/>
          </a:xfrm>
          <a:prstGeom prst="rect">
            <a:avLst/>
          </a:prstGeom>
          <a:solidFill>
            <a:srgbClr val="E2655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069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single model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convergence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407408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406908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4069080"/>
            <a:ext cx="2926080" cy="91440"/>
          </a:xfrm>
          <a:prstGeom prst="rect">
            <a:avLst/>
          </a:prstGeom>
          <a:solidFill>
            <a:srgbClr val="E2655F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4069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reasoning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collapse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407408"/>
            <a:ext cx="384048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66760" y="406908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4069080"/>
            <a:ext cx="292608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5" name="Text 11"/>
          <p:cNvSpPr/>
          <p:nvPr/>
        </p:nvSpPr>
        <p:spPr>
          <a:xfrm>
            <a:off x="8366760" y="4069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think-while-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listening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6012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단, Nemotron 3 VoiceChat처럼 Pareto 양 축을 동시에 끌어올리려는 균형형 시도도 등장했다.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4부 · 토론 유도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열린 질문 — 무엇을 생각하나 &amp; 언제 말하나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84832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265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사고는 텍스트여야 하나, latent여도 되나?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3044952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265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8803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“언제 생각을 멈추고 말할까”를 학습으로 풀 수 있나?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84048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43000" y="4005072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265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84048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멀티모달(영상)까지 가면 think-while-listening은 어떻게 확장되나?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68680" y="480060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800600"/>
            <a:ext cx="10469880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4965192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EAE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48006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한국어의 backchannel·침묵·끼어들기·망설임은 어떻게 벤치마크할까?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청중에게 선택지를 던지는 장 · Q&amp;A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참고문헌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024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근거 논문 — 세 그룹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93592" cy="3657600"/>
          </a:xfrm>
          <a:prstGeom prst="roundRect">
            <a:avLst>
              <a:gd name="adj" fmla="val 2290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93592" cy="91440"/>
          </a:xfrm>
          <a:prstGeom prst="rect">
            <a:avLst/>
          </a:prstGeom>
          <a:solidFill>
            <a:srgbClr val="E2655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2655F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오픈소스 단일 모델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Moshi · arXiv:2410.00037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PersonaPlex · arXiv:2602.06053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Nemotron 3 VoiceChat (NVIDIA card)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Step-Audio 2 · arXiv:2507.16632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StepAudio 2.5 · arXiv:2605.23463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Covo-Audio · arXiv:2602.09823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Artificial Analysis (Pareto 기사)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9704" y="1828800"/>
            <a:ext cx="3593592" cy="3657600"/>
          </a:xfrm>
          <a:prstGeom prst="roundRect">
            <a:avLst>
              <a:gd name="adj" fmla="val 2290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9704" y="1828800"/>
            <a:ext cx="3593592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208483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interaction + background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45736" y="269748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Thinking Machines — Interaction Models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Sean Goedecke — interaction-models 분석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39328" y="1828800"/>
            <a:ext cx="3593592" cy="3657600"/>
          </a:xfrm>
          <a:prstGeom prst="roundRect">
            <a:avLst>
              <a:gd name="adj" fmla="val 2290"/>
            </a:avLst>
          </a:prstGeom>
          <a:solidFill>
            <a:srgbClr val="F5F5F7"/>
          </a:solidFill>
          <a:ln w="12700">
            <a:solidFill>
              <a:srgbClr val="D6D6DD"/>
            </a:solidFill>
            <a:prstDash val="solid"/>
          </a:ln>
          <a:effectLst>
            <a:outerShdw sx="100000" sy="100000" kx="0" ky="0" algn="bl" rotWithShape="0" blurRad="114300" dist="38100" dir="5400000">
              <a:srgbClr val="1F202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9328" y="1828800"/>
            <a:ext cx="3593592" cy="91440"/>
          </a:xfrm>
          <a:prstGeom prst="rect">
            <a:avLst/>
          </a:prstGeom>
          <a:solidFill>
            <a:srgbClr val="2EAE94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208483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EAE9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think-while-listening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Can Speech LLMs… · arXiv:2510.07497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SHANKS · arXiv:2510.06917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Chronological Thinking · arXiv:2510.05150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The Silent Thought / FLAIR · 2603.17837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024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GoT-duplex · arXiv:2512.21706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논문·벤치마크 수치는 2026-06-02 기준 · 세부 URL은 공유 문서/QR 참조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B"/>
                </a:solidFill>
                <a:latin typeface="Noto Sans" pitchFamily="34" charset="0"/>
                <a:ea typeface="Noto Sans KR" pitchFamily="34" charset="-122"/>
                <a:cs typeface="Noto Sans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Myeongjo"/>
        <a:ea typeface="NanumMyeongjo"/>
        <a:cs typeface="NanumMyeongjo"/>
        <a:font script="Jpan" typeface="游ゴシック Light"/>
        <a:font script="Hang" typeface="NanumMyeongjo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Noto Sans KR"/>
        <a:cs typeface="Noto Sans"/>
        <a:font script="Jpan" typeface="游ゴシック"/>
        <a:font script="Hang" typeface="Noto Sans K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Full-Duplex 음성 AI, 두 번째 이야기</dc:title>
  <dc:subject>PptxGenJS Presentation</dc:subject>
  <dc:creator>Minjeong</dc:creator>
  <cp:lastModifiedBy>Minjeong</cp:lastModifiedBy>
  <cp:revision>1</cp:revision>
  <dcterms:created xsi:type="dcterms:W3CDTF">2026-06-02T08:14:18Z</dcterms:created>
  <dcterms:modified xsi:type="dcterms:W3CDTF">2026-06-02T08:14:18Z</dcterms:modified>
</cp:coreProperties>
</file>