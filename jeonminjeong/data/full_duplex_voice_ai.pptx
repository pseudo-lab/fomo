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5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"/>
            <a:ext cx="2011680" cy="5088636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4864"/>
            <a:ext cx="54864" cy="5088636"/>
          </a:xfrm>
          <a:prstGeom prst="rect">
            <a:avLst/>
          </a:prstGeom>
          <a:solidFill>
            <a:srgbClr val="B5EBE0"/>
          </a:solidFill>
          <a:ln w="12700">
            <a:solidFill>
              <a:srgbClr val="B5E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가짜연구소 12기 스터디 · 민정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Full-duplex 음성 AI,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CEFA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해보니까 이렇더라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417320" cy="27432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Realtime voice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75688" y="3291840"/>
            <a:ext cx="1417320" cy="27432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02736" y="3291840"/>
            <a:ext cx="1417320" cy="27432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barge-in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9784" y="3291840"/>
            <a:ext cx="1417320" cy="27432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56832" y="3291840"/>
            <a:ext cx="1417320" cy="27432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speech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960120"/>
            <a:ext cx="1005840" cy="1005840"/>
          </a:xfrm>
          <a:prstGeom prst="ellipse">
            <a:avLst/>
          </a:prstGeom>
          <a:solidFill>
            <a:srgbClr val="7B86DC">
              <a:alpha val="70000"/>
            </a:srgbClr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240280"/>
            <a:ext cx="640080" cy="640080"/>
          </a:xfrm>
          <a:prstGeom prst="ellipse">
            <a:avLst/>
          </a:prstGeom>
          <a:solidFill>
            <a:srgbClr val="5A65C8">
              <a:alpha val="70000"/>
            </a:srgbClr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2340" y="2994660"/>
            <a:ext cx="411480" cy="411480"/>
          </a:xfrm>
          <a:prstGeom prst="ellipse">
            <a:avLst/>
          </a:prstGeom>
          <a:solidFill>
            <a:srgbClr val="BDEFE8">
              <a:alpha val="70000"/>
            </a:srgbClr>
          </a:solidFill>
          <a:ln w="12700">
            <a:solidFill>
              <a:srgbClr val="BDE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10312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“Full-duplex 음성 AI는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모델만의 문제가 아니라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시스템 전체의 문제다.”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5603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108960"/>
            <a:ext cx="256032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흡수하는 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49300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turn-taking, interruption, 감정 이해,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 중 presence 유지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3108960"/>
            <a:ext cx="25603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3108960"/>
            <a:ext cx="2560320" cy="347472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 남는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349300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마이크 · 스피커 · 배터리 · 비용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latency · privacy · gate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108960"/>
            <a:ext cx="256032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108960"/>
            <a:ext cx="2560320" cy="347472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결론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349300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realtime 모델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하드웨어 가까운 작은 gate 모델들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왜 지금 Full-duplex인가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"빨라진 음성 챗봇"이 아니라, 대화 방식 자체가 바뀌고 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F0F1FB"/>
          </a:solidFill>
          <a:ln w="12700">
            <a:solidFill>
              <a:srgbClr val="F0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음성 챗봇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사용자가 말을 마친다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66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STT로 텍스트 변환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968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LLM이 답변 생성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62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TTS가 읽어준다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사용자 다시 말한다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9664" y="2286000"/>
            <a:ext cx="640080" cy="640080"/>
          </a:xfrm>
          <a:prstGeom prst="ellipse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536192"/>
            <a:ext cx="3566160" cy="475488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536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👂  말하는 중에도 계속 듣기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112264"/>
            <a:ext cx="3566160" cy="475488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1122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 짧게 backchannel로 반응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688336"/>
            <a:ext cx="3566160" cy="475488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88336"/>
            <a:ext cx="3566160" cy="47548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✋  끼어들지 말지 실시간 판단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264408"/>
            <a:ext cx="3566160" cy="475488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644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상대 상태를 200ms마다 추적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840480"/>
            <a:ext cx="3566160" cy="475488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8404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turn-taking, interruption 내재화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Cascaded Pipeline의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→ LLM → TTS는 명확하지만, 대화의 미묘한 신호가 중간에서 사라진다.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005840" cy="914400"/>
          </a:xfrm>
          <a:prstGeom prst="rect">
            <a:avLst/>
          </a:prstGeom>
          <a:solidFill>
            <a:srgbClr val="F0F1FB"/>
          </a:solidFill>
          <a:ln w="12700">
            <a:solidFill>
              <a:srgbClr val="F0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마이크 입력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69720" y="1371600"/>
            <a:ext cx="1005840" cy="9144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6972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6972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→ 텍스트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7556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9400" y="1371600"/>
            <a:ext cx="1005840" cy="914400"/>
          </a:xfrm>
          <a:prstGeom prst="rect">
            <a:avLst/>
          </a:prstGeom>
          <a:solidFill>
            <a:srgbClr val="C8CEFA"/>
          </a:solidFill>
          <a:ln w="12700">
            <a:solidFill>
              <a:srgbClr val="C8CE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1940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1940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표현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2524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69080" y="1371600"/>
            <a:ext cx="1005840" cy="9144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6908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생성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8760" y="1371600"/>
            <a:ext cx="1005840" cy="914400"/>
          </a:xfrm>
          <a:prstGeom prst="rect">
            <a:avLst/>
          </a:prstGeom>
          <a:solidFill>
            <a:srgbClr val="C8CEFA"/>
          </a:solidFill>
          <a:ln w="12700">
            <a:solidFill>
              <a:srgbClr val="C8CE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1876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1876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텍스트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460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68440" y="1371600"/>
            <a:ext cx="1005840" cy="9144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6844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6844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→ 음성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4280" y="1627632"/>
            <a:ext cx="24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18120" y="1371600"/>
            <a:ext cx="1005840" cy="914400"/>
          </a:xfrm>
          <a:prstGeom prst="rect">
            <a:avLst/>
          </a:prstGeom>
          <a:solidFill>
            <a:srgbClr val="F0F1FB"/>
          </a:solidFill>
          <a:ln w="12700">
            <a:solidFill>
              <a:srgbClr val="F0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1426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Speaker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1812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스피커 출력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2606040"/>
            <a:ext cx="1965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606040"/>
            <a:ext cx="196596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⏱ Latency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299008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단계마다 지연 누적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42032" y="2606040"/>
            <a:ext cx="1965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42032" y="2606040"/>
            <a:ext cx="196596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🎵 Prosody loss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33472" y="299008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억양·감정 강도 압축·손실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18304" y="2606040"/>
            <a:ext cx="1965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2606040"/>
            <a:ext cx="196596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😶 Paralinguistic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9744" y="299008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망설임·웃음·숨 등 사라짐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94576" y="2606040"/>
            <a:ext cx="1965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94576" y="2606040"/>
            <a:ext cx="196596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✋ Interruption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86016" y="299008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 상태 관리 어려움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음성 AI 지형도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접근은 하나의 정답이 아니라 스펙트럼으로 봐야 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457200"/>
          </a:xfrm>
          <a:prstGeom prst="rect">
            <a:avLst/>
          </a:prstGeom>
          <a:solidFill>
            <a:srgbClr val="A0AAE8"/>
          </a:solidFill>
          <a:ln w="12700">
            <a:solidFill>
              <a:srgbClr val="A0A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Cascaded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STT+LLM+TTS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65960" cy="4572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Micro-turn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Cascade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65960" cy="457200"/>
          </a:xfrm>
          <a:prstGeom prst="rect">
            <a:avLst/>
          </a:prstGeom>
          <a:solidFill>
            <a:srgbClr val="5560C0"/>
          </a:solidFill>
          <a:ln w="12700">
            <a:solidFill>
              <a:srgbClr val="556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S2S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097280"/>
            <a:ext cx="1965960" cy="4572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★ TML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 큼  →  →  →  모델이 더 많이 흡수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1965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A0AA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011680"/>
            <a:ext cx="17465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명확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 주력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 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920240"/>
            <a:ext cx="1965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78608" y="2011680"/>
            <a:ext cx="17465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절충형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단위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VAD-free 시도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1965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56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81728" y="2011680"/>
            <a:ext cx="17465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흡수 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Moshi·Qwen3-Omni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920240"/>
            <a:ext cx="1965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84848" y="2011680"/>
            <a:ext cx="17465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 최소화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 학습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200ms chunk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46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GPT-Realtime-2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30168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301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Live 3.1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246120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246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DuplexCascade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46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30168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6301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Qwen3-Omni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014216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0142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Qwen3.5-Omni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3246120"/>
            <a:ext cx="1783080" cy="329184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2461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TML-Interaction-Small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모델 Survey: 세 갈래로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API, 오픈 모델, 연구 접근이 동시에 빠르게 진화 중이다.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38404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GPT-Realtime-2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928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semantic_vad · tool call · long context reasoning · production voice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33375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37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Live 3.1 Flash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7216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latency · tonal understanding · noisy 환경 강조 · function calling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05840"/>
            <a:ext cx="2651760" cy="38404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모델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0128" y="15087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508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 (Kyutai)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8928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E2E · 12.5Hz codec · ~200ms practical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33375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337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Qwen3/3.5-Omni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7216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2.0 · Thinker-Talker MoE · 256k context · ARIA streaming · 10개 언어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접근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44768" y="15087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5087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DuplexCascade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18928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VAD-free cascade · micro-turn · LLM control token으로 timing 제어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3337560"/>
            <a:ext cx="2432304" cy="34747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3375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TML-Interaction-Small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721608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encoder-free early fusion · 200ms chunk · 276B MoE · dual-model 구조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55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TML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TML의 핵심 주장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solidFill>
            <a:srgbClr val="5A65C8"/>
          </a:solidFill>
          <a:ln w="12700">
            <a:solidFill>
              <a:srgbClr val="5A6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"Interactivity should scale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with intelligence,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not be bolted on."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인터랙티비티는 외부 컴포넌트로 덧붙이는 게 아니라, 모델이 학습해야 한다.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 VAD, endpointing, barge-in policy → 모델 바깥 harness에서 모델 내부로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 오디오를 텍스트로 바꾼 뒤 이해하는 방식 탈피 → 음성 자체를 직접 처리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 200ms 청크마다 상태 판단 → 말하는 중에도 계속 업데이트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TML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TML Architecture 한 장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음성·영상·텍스트를 처음부터 같이 보고, 200ms 단위로 계속 반응한다.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286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920240" cy="8686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🎤 Audio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dMel + 경량 임베딩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920240" cy="8686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📹 Video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98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40×40 패치 → hMLP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920240" cy="8686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토큰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→→→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276B MoE · 12B active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Encoder-free early fusion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Joint 학습 (audio+video+text)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3099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200ms chunk 단위 처리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6210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Turn/VAD harness 없음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flow matching head 출력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→→→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92240" y="1005840"/>
            <a:ext cx="2286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1920240" cy="8686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🔊 Audio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flow matching head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(discrete codec 아님)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2532888"/>
            <a:ext cx="1920240" cy="8686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560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Text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2898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응답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생성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3602736"/>
            <a:ext cx="1920240" cy="8686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6301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Action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968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 모델 연동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TML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200ms Chunk의 의미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"말이 끝난 뒤 반응"이 아니라, 말하는 중에도 매 200ms마다 상태를 업데이트한다.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9728"/>
          </a:xfrm>
          <a:prstGeom prst="rect">
            <a:avLst/>
          </a:prstGeom>
          <a:solidFill>
            <a:srgbClr val="C4C8E8"/>
          </a:solidFill>
          <a:ln w="12700">
            <a:solidFill>
              <a:srgbClr val="C4C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161288"/>
            <a:ext cx="164592" cy="164592"/>
          </a:xfrm>
          <a:prstGeom prst="ellipse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325880"/>
            <a:ext cx="0" cy="365760"/>
          </a:xfrm>
          <a:prstGeom prst="line">
            <a:avLst/>
          </a:prstGeom>
          <a:noFill/>
          <a:ln w="19050">
            <a:solidFill>
              <a:srgbClr val="7B8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91640"/>
            <a:ext cx="1645920" cy="96012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788920"/>
            <a:ext cx="1645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듣기 시작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383280"/>
            <a:ext cx="1645920" cy="50292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계속 수신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60904" y="1161288"/>
            <a:ext cx="164592" cy="164592"/>
          </a:xfrm>
          <a:prstGeom prst="ellipse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325880"/>
            <a:ext cx="0" cy="365760"/>
          </a:xfrm>
          <a:prstGeom prst="line">
            <a:avLst/>
          </a:prstGeom>
          <a:noFill/>
          <a:ln w="19050">
            <a:solidFill>
              <a:srgbClr val="7B8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6544" y="1691640"/>
            <a:ext cx="1645920" cy="96012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66544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66544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그러니까...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66544" y="2788920"/>
            <a:ext cx="1645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66544" y="3383280"/>
            <a:ext cx="1645920" cy="50292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기다리기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1161288"/>
            <a:ext cx="164592" cy="164592"/>
          </a:xfrm>
          <a:prstGeom prst="ellipse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1325880"/>
            <a:ext cx="0" cy="365760"/>
          </a:xfrm>
          <a:prstGeom prst="line">
            <a:avLst/>
          </a:prstGeom>
          <a:noFill/>
          <a:ln w="19050">
            <a:solidFill>
              <a:srgbClr val="FDE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691640"/>
            <a:ext cx="1645920" cy="96012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「침묵」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2788920"/>
            <a:ext cx="1645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DE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E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 중?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3383280"/>
            <a:ext cx="1645920" cy="50292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끼어들지 않기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25896" y="1161288"/>
            <a:ext cx="164592" cy="164592"/>
          </a:xfrm>
          <a:prstGeom prst="ellipse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08192" y="1325880"/>
            <a:ext cx="0" cy="365760"/>
          </a:xfrm>
          <a:prstGeom prst="line">
            <a:avLst/>
          </a:prstGeom>
          <a:noFill/>
          <a:ln w="19050">
            <a:solidFill>
              <a:srgbClr val="3DB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1536" y="1691640"/>
            <a:ext cx="1645920" cy="96012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31536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31536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 손주가...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31536" y="2788920"/>
            <a:ext cx="1645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B8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 이어짐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31536" y="3383280"/>
            <a:ext cx="1645920" cy="50292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backchannel 가능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08392" y="1161288"/>
            <a:ext cx="164592" cy="164592"/>
          </a:xfrm>
          <a:prstGeom prst="ellipse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90688" y="1325880"/>
            <a:ext cx="0" cy="365760"/>
          </a:xfrm>
          <a:prstGeom prst="line">
            <a:avLst/>
          </a:prstGeom>
          <a:noFill/>
          <a:ln w="19050">
            <a:solidFill>
              <a:srgbClr val="4551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4032" y="1691640"/>
            <a:ext cx="1645920" cy="96012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114032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800ms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14032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(발화 종료)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14032" y="2788920"/>
            <a:ext cx="1645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14032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턴 끝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14032" y="3383280"/>
            <a:ext cx="1645920" cy="50292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생성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매 200ms마다 안정적으로 추론해야 해서, serving 비용과 엔지니어링 난도가 함께 올라간다.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TML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TML 성능 수치와 주의점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인상적이지만, closed preview라 외부 검증이 제한된다.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93392" cy="210312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276B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MoE 파라미터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12B active params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 추론 시)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005840"/>
            <a:ext cx="1993392" cy="210312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09728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77.8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42032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FD-bench v1.5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3472" y="2286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GPT-R2: 46.8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Gemini Live: 54.3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304" y="1005840"/>
            <a:ext cx="1993392" cy="210312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09728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0.40s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18304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Turn 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286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 설정 기준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(non-thinking)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94576" y="1005840"/>
            <a:ext cx="1993392" cy="210312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09728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43.4%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94576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MultiChallenge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22860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 이해 · 지식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추론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FD-bench v1.5 비교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2703332" cy="29260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4812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TML-Interaction-Small  77.8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87368"/>
            <a:ext cx="1886773" cy="29260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98253" y="4087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Live 3.1  54.3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71416"/>
            <a:ext cx="1626169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7649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GPT-Realtime-2 (minimal)  46.8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246120"/>
            <a:ext cx="4206240" cy="1691640"/>
          </a:xfrm>
          <a:prstGeom prst="rect">
            <a:avLst/>
          </a:prstGeom>
          <a:solidFill>
            <a:srgbClr val="C8CEFA"/>
          </a:solidFill>
          <a:ln w="1905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3246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주의사항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Closed preview → 외부 재현 불가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968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Instant/non-thinking 설정 기준 (reasoning 켜면 지능↑, latency↑)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4279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Long session context 관리 미해결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590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서빙 비용·scaling이 제품 병목 가능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24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55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모델이 똑똑해지면,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정말 주변 시스템은 사라질까?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4부. 실제로 만들면?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77840" y="777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wake 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battery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0" y="1645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실제 제품의 입력단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"무엇을 들을지"부터 결정해야 한다. 모든 오디오를 frontier model로 보내면 비용과 privacy가 무너진다.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0972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목소리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주변음 혼합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90472" y="1051560"/>
            <a:ext cx="1097280" cy="914400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90472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🔇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90472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90472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56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스피커 echo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52344" y="1051560"/>
            <a:ext cx="1097280" cy="914400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52344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52344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9624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52344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56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필터링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(paralinguistic 보존 trade-off)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14216" y="1051560"/>
            <a:ext cx="1097280" cy="9144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14216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14216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11496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14216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 발화?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비용/배터리 gate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76088" y="1051560"/>
            <a:ext cx="1097280" cy="9144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76088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76088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73368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76088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호출 의도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(옵션)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1051560"/>
            <a:ext cx="1097280" cy="9144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🔀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37960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35240" y="128016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37960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모델로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보낼지 결정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99832" y="1051560"/>
            <a:ext cx="1097280" cy="9144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99832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799832" y="1399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99832" y="2103120"/>
            <a:ext cx="10972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45552" y="2121408"/>
            <a:ext cx="10058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 model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3474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작은 gate 모델들의 품질이 UX와 비용을 동시에 결정한다. 큰 모델 이전에 이 단계가 먼저 잘 돼야 한다.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마이크에 들어오는 것: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51760" y="4023360"/>
            <a:ext cx="1188720" cy="29260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목소리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50208" y="4023360"/>
            <a:ext cx="1188720" cy="29260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0208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TV 소리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48656" y="4023360"/>
            <a:ext cx="1188720" cy="29260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48656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대화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47104" y="4023360"/>
            <a:ext cx="1188720" cy="29260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45552" y="4023360"/>
            <a:ext cx="1188720" cy="29260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45552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소음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24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Wake Word는 사라질까?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UX만 보면 없애고 싶지만, 제품에서는 비용·배터리·privacy가 붙는다.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Always-on Frontier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wake word 불필요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자연스러운 대화 시작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더 자연스러운 UX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비용 폭발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배터리 소모 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privacy 부담 (항상 전송)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false positive 비용 높음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4114800" cy="438912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Small Gate + Frontier on Demand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배터리 효율적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비용 제어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privacy 보호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온디바이스 처리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gate 오판 시 UX 깨짐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wake word/trigger 설계 필요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latency 추가 가능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C8CEFA"/>
          </a:solidFill>
          <a:ln w="12700">
            <a:solidFill>
              <a:srgbClr val="C8CE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Wake word는 "사라진다"기보다 더 넓은 gate 모델로 재해석될 가능성이 크다.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24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AEC: Full-duplex의 물리 문제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말하는 동시에 사용자를 들어야 한다 → 스피커 소리가 마이크로 돌아온다.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463040" cy="123444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🔊  Speaker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 목소리)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74520" y="19248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음파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148840" cy="1691640"/>
          </a:xfrm>
          <a:prstGeom prst="rect">
            <a:avLst/>
          </a:prstGeom>
          <a:solidFill>
            <a:srgbClr val="C8CEFA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Room / Environment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152704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잔향 · 비선형 왜곡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발화 · 룸 어쿠스틱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9248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혼합음 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1417320"/>
            <a:ext cx="1463040" cy="123444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57800" y="14173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🎤  Mic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(사용자+echo)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19248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1325880"/>
            <a:ext cx="1508760" cy="141732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132588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(Acoustic Echo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Cancellation)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19050">
            <a:solidFill>
              <a:srgbClr val="7B86D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65760" y="29169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 signal (동기화 — Speaker → AEC)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6002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 챌린지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7124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Reference signal 동기화 (clock drift)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적용 위치: 디바이스 / OS / 앱 / 모델?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599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비선형 왜곡 처리 (스피커 왜곡)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4059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WebRTC AEC3가 사실상 표준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407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잔향 / 룸 어쿠스틱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407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AEC 이후: VAD · 발화 종료 판단이 더 큰 과제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VAD의 역설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Turn 종료 판단기로서 VAD는 위험하다. 하지만 비용 gate로서 VAD는 여전히 필요하다.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2697480"/>
          </a:xfrm>
          <a:prstGeom prst="rect">
            <a:avLst/>
          </a:prstGeom>
          <a:solidFill>
            <a:srgbClr val="E2E5FA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60520" cy="384048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나쁜 사용: Turn 종료 판단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침묵 threshold로 발화 끝 판단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"아... [침묵] ...그러니까" 같은 경우 오판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597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시니어/비원어민의 긴 호흡 패턴에 맞지 않음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생각 중인 침묵 ≠ 발화 종료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4160520" cy="2697480"/>
          </a:xfrm>
          <a:prstGeom prst="rect">
            <a:avLst/>
          </a:prstGeom>
          <a:solidFill>
            <a:srgbClr val="E5F7F3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05840"/>
            <a:ext cx="4160520" cy="38404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좋은 사용: Cost/Battery 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508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음성 활성화 감지 → 업로드 시작 여부 결정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984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배터리 소모 최소화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4597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네트워크 비용 절감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9352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privacy 보호 (침묵 구간 전송 차단)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4864" cy="1005840"/>
          </a:xfrm>
          <a:prstGeom prst="rect">
            <a:avLst/>
          </a:prstGeom>
          <a:solidFill>
            <a:srgbClr val="C8CEFA"/>
          </a:solidFill>
          <a:ln w="12700">
            <a:solidFill>
              <a:srgbClr val="C8CE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E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semantic_vad (OpenAI Realtime API)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침묵 기반 오판을 줄이기 위해 발화 내용을 의미적으로 분석 → end-of-turn 추정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eagerness 파라미터로 더 빨리 / 더 오래 기다릴지 조절 가능. 단, 어떤 소리를 보낼지 정하는 gate 문제는 여전히 남는다.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실패 사례: 침묵은 끝이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8288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시나리오: 시니어 케어 companion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👵  "아... 그러니까... [3초 침묵] ...어제 손주가..."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206240" cy="658368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 단순 VAD (silence threshold)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침묵 3초 → 턴 종료 판단 → AI가 끼어든다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627632"/>
            <a:ext cx="4206240" cy="65836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semantic VAD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"그러니까" + 침묵 → 말이 이어질 가능성 높음 → 기다린다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VAD로 완화해도 여전히 남는 문제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5643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493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TV 소리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사용자와 TV 음성이 겹치면 VAD가 활성화됨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345643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42032" y="3493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👨‍👩‍👧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42032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대화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33472" y="413308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옆에 다른 사람이 말할 때 모델로 전송할 것인지?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345643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18304" y="3493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💭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18304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413308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하는 말인지, 독백인지 구분 어려움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94576" y="345643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94576" y="3493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94576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말버릇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413308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시니어의 "그... 저... 음..." 필러 처리 정책 필요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Barge-in과 Backchannel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"응", "어", "그래"는 끼어듦이 아니다. 소리를 들었다는 사실보다 그 의도를 해석하는 게 어렵다.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Backchannel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468880" cy="45720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"응... 맞아... 그리고..."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유지 신호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(듣고 있음, 계속해도 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2468880" cy="6400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AI: 계속 말하기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5176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✋ Interruption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1536192"/>
            <a:ext cx="2468880" cy="45720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"잠깐만요, 그게 아니라..."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교체 요청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(상대 말 끊고 싶음)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468880" cy="6400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AI: 즉시 멈추기 + 상태 롤백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05840"/>
            <a:ext cx="2651760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↩️ Correction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1536192"/>
            <a:ext cx="2468880" cy="45720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"아니, 제가 말하려는 건..."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발화 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(잘못 이해됨을 고침)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468880" cy="6400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54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AI: 멈추고 재해석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901184"/>
            <a:ext cx="8412480" cy="10972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83480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Full-duplex의 어려움: 소리를 들었다는 사실보다, 그 소리의 의도를 판단하는 데 있다.</a:t>
            </a:r>
            <a:endParaRPr lang="en-US" sz="10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24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출력단도 어렵다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Streaming TTS는 빨라야 하지만, 너무 앞만 보고 말하면 운율이 깨진다.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463040" cy="84124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29844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84832" y="1051560"/>
            <a:ext cx="1463040" cy="84124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10515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Audio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Byte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47872" y="129844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03904" y="1051560"/>
            <a:ext cx="1463040" cy="841248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03904" y="10515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66944" y="129844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22976" y="1051560"/>
            <a:ext cx="1463040" cy="841248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22976" y="10515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Interruption?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6016" y="129844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42048" y="1051560"/>
            <a:ext cx="1463040" cy="841248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105156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03120"/>
            <a:ext cx="54864" cy="13716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First byte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5603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토큰 → 첫 오디오까지 얼마나?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 충분히 쌓인 뒤 시작 vs 즉시 시작 trade-off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10312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103120"/>
            <a:ext cx="54864" cy="137160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🎵 Prosody consistency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5603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 문맥만 보고 운율 결정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뒷 내용 알게 되면 이미 늦음 → 어색한 억양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611880"/>
            <a:ext cx="54864" cy="13716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↩️ Interruption recovery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끊은 시점 이후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말했지만 사용자는 못 들은" 부분 처리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61188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11880"/>
            <a:ext cx="54864" cy="137160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Context handling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0690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끊긴 발화를 컨텍스트에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"말한 것"으로 남길지 말지 결정 필요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24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Cost &amp; Routing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오디오를 frontier realtime model로 보내면 제품 원가가 무너진다.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0" y="1005840"/>
            <a:ext cx="1828800" cy="105156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Small Gate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wake word · VAD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최소화 · privacy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80360" y="1051560"/>
            <a:ext cx="34747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0515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2926080" cy="1051560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2860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/ 저가 서버 모델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routing · intent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· safety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2286000"/>
            <a:ext cx="34747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2860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$$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023360" cy="105156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520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Frontier Realtime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고품질 interaction · tool 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컨텍스트 추론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77640" y="3520440"/>
            <a:ext cx="34747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5204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$$$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005840"/>
            <a:ext cx="3840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 결정 기준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508760"/>
            <a:ext cx="3566160" cy="53035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대화인가?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1536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Frontier model로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130552"/>
            <a:ext cx="3566160" cy="53035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157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TV 소리 / 혼잣말?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1579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무시 (gate 차단)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752344"/>
            <a:ext cx="3566160" cy="53035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7797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intent?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7797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저가 모델 처리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3374136"/>
            <a:ext cx="3566160" cy="53035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위험?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3401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C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safety gate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995928"/>
            <a:ext cx="3566160" cy="530352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Fallback 필요?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작은 모델로 최소 UX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solidFill>
            <a:srgbClr val="B5EBE0"/>
          </a:solidFill>
          <a:ln w="12700">
            <a:solidFill>
              <a:srgbClr val="B5EB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작은 gate 모델의 품질이 UX와 원가를 동시에 결정한다.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감정 표현은 왜 어려운가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감정을 읽는 것보다 어떤 톤으로 반응할지 정하는 것이 훨씬 어렵다.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4572000" cy="10972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005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"괜찮으세요?"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문장, 다른 톤 → 완전히 다른 상호작용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160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68880"/>
            <a:ext cx="4160520" cy="347472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따뜻한 위로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부드러운 하강 억양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속도, 살짝 끌어내림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944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자연스러움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468880"/>
            <a:ext cx="4160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468880"/>
            <a:ext cx="4160520" cy="34747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68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형식적 확인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52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평탄한 억양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속도, 기계적 리듬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52360" y="2944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어색한 느낌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4160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94760"/>
            <a:ext cx="4160520" cy="347472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추궁하는 듯한 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7880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 억양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속도, 강세 강함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42702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불쾌감 유발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794760"/>
            <a:ext cx="4160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56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794760"/>
            <a:ext cx="4160520" cy="347472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7947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과도하게 다정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17880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과장된 억양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천천히, 반복 강조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52360" y="42702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과잉 다정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24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Korean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한국어 Full-duplex, 무엇이 부족한가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ASR·TTS 데이터와 벤치마크는 늘고 있다. Full-duplex interaction 데이터와 평가가 비어있다.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B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ASR / TTS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8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데이터 있음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CoreaSpeech (700h · 21,449명)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KsponSpeech (자연 발화 ASR)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숫자·영어 차용어 전처리 이슈 대응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TTS 벤치마크 다수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SpeechLM 평가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508760"/>
            <a:ext cx="2468880" cy="32004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등장 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KVoiceBench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KOpenAudioBench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KMMAU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33649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Spoken QA · audio understanding 중심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005840"/>
            <a:ext cx="26517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Interaction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거의 없음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Overlap · backchannel 데이터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24140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Turn-taking 평가 표준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2889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시니어 발화 스타일 데이터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336499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D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도메인별 필러·말버릇 데이터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102352"/>
            <a:ext cx="8412480" cy="0"/>
          </a:xfrm>
          <a:prstGeom prst="rect">
            <a:avLst/>
          </a:prstGeom>
          <a:solidFill>
            <a:srgbClr val="EEF0FC"/>
          </a:solidFill>
          <a:ln w="12700">
            <a:solidFill>
              <a:srgbClr val="EEF0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10912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J-Moshi (일본어) — 대규모 spoken dialogue pretraining + stereo dialogue fine-tuning + synthetic dialogue 경로로 한국어도 접근 가능</a:t>
            </a:r>
            <a:endParaRPr lang="en-US" sz="100" dirty="0"/>
          </a:p>
        </p:txBody>
      </p:sp>
      <p:sp>
        <p:nvSpPr>
          <p:cNvPr id="34" name="Text 32"/>
          <p:cNvSpPr/>
          <p:nvPr/>
        </p:nvSpPr>
        <p:spPr>
          <a:xfrm>
            <a:off x="365760" y="4919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J-Moshi (일본어) — spoken dialogue pretraining + stereo fine-tuning + synthetic dialogue 경로로 한국어도 접근 가능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future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1A8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미래 구조: 계층형 아키텍처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"하나의 거대한 모델"이 아니라, 큰 realtime 모델 + 하드웨어 가까운 작은 gate 모델들.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926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C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계층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65176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🎤 마이크 / 스피커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651760" cy="438912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Wake word gate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2651760" cy="438912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2374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🔇 AEC · Noise suppress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2651760" cy="43891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540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 VAD (cost gate)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2651760" cy="438912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84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 Safety gate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2651760" cy="438912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🔀 Router / Fallback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749040" y="1005840"/>
            <a:ext cx="3200400" cy="3840480"/>
          </a:xfrm>
          <a:prstGeom prst="rect">
            <a:avLst/>
          </a:prstGeom>
          <a:solidFill>
            <a:srgbClr val="4551A8"/>
          </a:solidFill>
          <a:ln w="12700">
            <a:solidFill>
              <a:srgbClr val="455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005840"/>
            <a:ext cx="3200400" cy="41148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Realtime Interaction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Turn-taking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Interruption / Backchannel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Emotion understanding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3099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Presence 유지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3621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Tool call 중 대화 흐름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4142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200ms 단위 상태 업데이트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B8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406640" y="1005840"/>
            <a:ext cx="13716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6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1005840"/>
            <a:ext cx="1371600" cy="36576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79792" y="1481328"/>
            <a:ext cx="1207008" cy="658368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1481328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2276856"/>
            <a:ext cx="1207008" cy="658368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79792" y="2276856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79792" y="3072384"/>
            <a:ext cx="1207008" cy="658368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07238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79792" y="3867912"/>
            <a:ext cx="1207008" cy="658368"/>
          </a:xfrm>
          <a:prstGeom prst="rect">
            <a:avLst/>
          </a:prstGeom>
          <a:solidFill>
            <a:srgbClr val="E2E5FA"/>
          </a:solidFill>
          <a:ln w="12700">
            <a:solidFill>
              <a:srgbClr val="E2E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386791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55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24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55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1188720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96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86D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914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Interactivity는 모델 안으로 들어간다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Turn-taking, interruption, backchannel, 감정 이해는 점점 큰 interaction model이 직접 처리. harness는 줄어든다.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5568CC"/>
          </a:solidFill>
          <a:ln w="12700">
            <a:solidFill>
              <a:srgbClr val="556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8CC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Gate는 하드웨어 가까이에 남는다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AEC, VAD, wake word, routing, safety, fallback은 모델만으로 사라지지 않는다. 작은 gate 모델들이 비용·배터리·privacy를 담당.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54864" cy="1188720"/>
          </a:xfrm>
          <a:prstGeom prst="rect">
            <a:avLst/>
          </a:prstGeom>
          <a:solidFill>
            <a:srgbClr val="3DB8A0"/>
          </a:solidFill>
          <a:ln w="12700">
            <a:solidFill>
              <a:srgbClr val="3DB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B8A0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full-duplex는 데이터와 평가가 먼저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95020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나오기를 기다리는 것만이 아니라, overlap·backchannel·시니어 발화 데이터와 평가셋을 같이 만들어야 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solidFill>
            <a:srgbClr val="7B86DC"/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음성 AI는 모델만의 문제가 아니라 시스템 전체의 문제다.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551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7B86DC">
              <a:alpha val="30000"/>
            </a:srgbClr>
          </a:solidFill>
          <a:ln w="12700">
            <a:solidFill>
              <a:srgbClr val="7B8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나눔명조" pitchFamily="34" charset="0"/>
                <a:ea typeface="나눔명조" pitchFamily="34" charset="-122"/>
                <a:cs typeface="나눔명조" pitchFamily="34" charset="-120"/>
              </a:rPr>
              <a:t>Q&amp;A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음성 AI,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어디까지 모델이 먹고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어디부터 시스템이 남을까?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251960"/>
            <a:ext cx="1965960" cy="59436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semantic_vad로 VAD 문제는 해결?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4251960"/>
            <a:ext cx="1965960" cy="59436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Cascaded는 정말 죽었나?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4251960"/>
            <a:ext cx="1965960" cy="59436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full-duplex 뭐부터?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94576" y="4251960"/>
            <a:ext cx="1965960" cy="594360"/>
          </a:xfrm>
          <a:prstGeom prst="rect">
            <a:avLst/>
          </a:prstGeom>
          <a:solidFill>
            <a:srgbClr val="3D47A8"/>
          </a:solidFill>
          <a:ln w="12700">
            <a:solidFill>
              <a:srgbClr val="3D4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4576" y="42519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E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gate 모델은 꼭 필요한가?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가짜연구소 12기 스터디 · 민정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C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Full-duplex 음성 AI, 해보니까 이렇더라</dc:title>
  <dc:subject>PptxGenJS Presentation</dc:subject>
  <dc:creator>PptxGenJS</dc:creator>
  <cp:lastModifiedBy>PptxGenJS</cp:lastModifiedBy>
  <cp:revision>1</cp:revision>
  <dcterms:created xsi:type="dcterms:W3CDTF">2026-05-29T12:22:28Z</dcterms:created>
  <dcterms:modified xsi:type="dcterms:W3CDTF">2026-05-29T12:22:28Z</dcterms:modified>
</cp:coreProperties>
</file>