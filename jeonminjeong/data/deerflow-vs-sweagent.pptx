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전민정입니다.
요즘 AI가 코드를 정말 잘 짭니다. Cursor, Copilot, Claude Code 같은 도구를 보면, 코딩 자체는 AI가 점점 더 잘하게 되고 있죠. 그러면 우리의 역할은 뭘까요? 코드를 한 줄 한 줄 치는 게 아니라, 어떻게 설계하고, 어떤 방향으로 조율(steering)할 것인가가 핵심이 됩니다.
오늘은 바로 그 "설계" 측면에서 흥미로운 비교를 해보겠습니다. DeerFlow와 SWE-Agent라는 두 오픈소스 프로젝트인데요, AI 에이전트 — 사람 대신 스스로 판단하고 행동하는 AI 시스템 — 를 어떻게 설계할 것인가에 대해 완전히 다른 답을 내놓았습니다.
비유하자면, 같은 집을 짓는데 한쪽은 건설회사를 세우고, 다른 한쪽은 최고의 목수 한 명을 키우는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파트로 구성됩니다.
첫 번째로 DeerFlow의 8가지 핵심 구조를 살펴보고, 두 번째로 SWE-Agent의 ACI — AI 전용 인터페이스라는 개념을 분석합니다. 세 번째에서 두 시스템을 직접 비교하고, 마지막으로 핵심 인사이트 세 가지를 정리합니다.
전체 25분 정도 소요될 예정이고, 중간중간 질문도 환영합니다.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이 비교가 흥미로운지부터 짚고 갑시다.
두 시스템 모두 같은 질문에서 출발합니다. "AI 에이전트가 복잡한 실제 작업을 어떻게 안정적으로 수행하게 만들 것인가?" 그런데 답이 완전히 다릅니다.
DeerFlow는 "환경을 통제한다"는 철학입니다. 건설 현장에 현장소장을 두고, 설계사·전기기사·배관공이 분업하는 겁니다.
SWE-Agent는 "도구를 정밀 설계한다"는 철학입니다. 숙련된 목수 한 명에게, 그 사람 손에 딱 맞는 연장을 쥐어주는 거죠.
중요한 건, 두 접근 모두 옳다는 겁니다. 무엇을, 언제, 왜 선택할지 이해하는 것이 오늘의 목적입니다.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DeerFlow입니다. "건설 현장의 현장소장" 모델이라고 기억해 주세요.
DeerFlow는 ByteDance가 오픈소스로 공개한 에이전트 프레임워크입니다. 8개 구조가 건설 현장의 다른 팀들처럼 각자의 역할을 수행합니다.
오른쪽 다이어그램을 보시면, 맨 위의 Nginx가 공사장 정문 같은 단일 진입점, 왼쪽의 LangGraph Server가 실제 공사를 하는 현장 팀, 오른쪽의 Gateway API가 자재 관리·허가·서류를 처리하는 관리 팀입니다.
현장 팀이 공사에 집중할 수 있도록 관리 업무를 분리한 거죠. 이게 DeerFlow 설계의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구조, Nginx입니다. 쉽게 말해 "건물 정문 안내 데스크" 같은 역할입니다.
내부에 여러 팀이 있는데, 방문객이 매번 "전기팀은 3층, 배관팀은 지하..."를 외울 필요 없이 정문에서 안내받으면 되겠죠? Nginx가 바로 그 역할입니다. 포트 2026번 하나로 접속하면, 내부적으로 AI 팀(LangGraph)이나 관리 팀(Gateway)으로 알아서 연결해줍니다.
단순하지만 사용자 경험 측면에서 매우 중요한 결정입니다.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LangGraph Server입니다.
AI 대화는 "stateful", 즉 상태를 기억해야 합니다. 은행 창구를 생각해보세요. "아까 말씀하신 계좌에서..."라고 하면 상담원이 앞의 맥락을 기억하고 있어야 하죠. 단순히 질문-답변을 반복하는 게 아니라, 대화의 흐름과 진행 중인 작업을 계속 추적해야 합니다.
LangGraph는 이 대화 흐름을 상태 머신 — 쉽게 말해 "단계별 작업 흐름도" — 으로 관리합니다. 매 단계의 상태를 자동으로 저장하고, 필요하면 이전 상태로 되돌릴 수도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Gateway API입니다.
"왜 LangGraph에 다 넣지 않느냐?" 좋은 질문인데요, 이건 "공사팀에게 서류 업무까지 시키면 안 되는" 이유와 같습니다. 관리 기능(설정 변경, 파일 업로드, 메모리 조회)을 별도로 분리하면, 관리 시스템에 문제가 생겨도 AI 대화는 계속됩니다.
Gateway는 "stateless", 즉 자체적으로 기억할 게 없는 구조라서, 필요하면 여러 대를 동시에 띄울 수도 있습니다. 창구를 하나 더 열면 되는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미들웨어 체인입니다. 개인적으로 DeerFlow에서 가장 인상적인 설계입니다.
미들웨어는 "비서"라고 생각하시면 됩니다. 사장님(Lead Agent)이 일하기 전에 자료를 준비해주는 비서들, 그리고 일이 끝난 후 정리해주는 비서들이 11명 있는 겁니다.
예를 들어, 대화가 들어오면 Before 비서들이 "작업 폴더 만들어뒀어요", "새 파일 도착했어요", "실행 환경 준비됐어요" 하고 미리 세팅합니다. 사장님이 일을 끝내면 After 비서들이 "대화 제목 만들어둘게요", "중요한 정보 기억해둘게요", "팀원이 3명 넘으면 잘라야 해요" 같은 후처리를 합니다.
핵심은 각 비서가 한 가지 일만 한다는 것입니다. 새로운 업무가 생기면 비서를 한 명 더 고용하면 되고, 불필요한 업무는 빼면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Subagent 시스템입니다.
현장소장(Lead Agent)이 큰 프로젝트를 받았을 때, 혼자 다 하는 게 아니라 전문 팀원을 최대 3명까지 불러서 동시에 일을 시킵니다.
"AI 트렌드 리포트 만들어줘"라는 요청이 오면, 한 명은 웹 리서치, 한 명은 논문 분석, 한 명은 경쟁사 조사를 동시에 합니다. 순서대로 하면 19분 걸릴 일이, 동시에 하면 가장 긴 작업인 7분만 기다리면 됩니다.
각 팀원은 독립된 작업 공간을 가져서 서로 방해하지 않고, 한 명이 실패해도 나머지는 계속 진행됩니다. 최대 3명, 15분 타임아웃이라는 제한이 있는데, 이 "제한"이 왜 중요한지는 Part 4에서 다시 다루겠습니다.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Sandbox입니다. "AI 전용 작업실"이라고 보시면 됩니다.
AI에게 우리 컴퓨터의 실제 폴더 위치를 알려주면 위험합니다. 잘못하면 중요한 파일을 지울 수도 있으니까요. 그래서 Sandbox가 가짜 주소를 보여줍니다. AI는 /mnt/user-data/workspace라는 주소만 알지만, 실제로는 안전하게 격리된 별도 공간에서 작업합니다.
보안과 작업 간 격리를 동시에 해결하는 깔끔한 설계입니다.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 Memory 시스템입니다. AI에게 "장기 기억"을 주는 겁니다.
대부분의 AI는 대화가 끝나면 전부 잊어버립니다. "저번에 얘기한 TTS 프로젝트 이어서..."라고 하면 "무슨 프로젝트요?"라고 묻는 거죠.
DeerFlow의 Memory는 대화가 끝나면 30초 정도 기다렸다가 — 이걸 debounce, 그러니까 "여유를 두고 모은다"는 뜻입니다 — AI가 대화에서 중요한 사실들을 뽑아서 파일에 저장합니다. "전민정님은 TTS 엔지니어", "aivox 프로젝트 진행 중" 이런 식으로요.
왜 30초를 기다리느냐면, 메시지 올 때마다 매번 분석하면 비용이 폭발하니까, 대화가 좀 잠잠해질 때 한꺼번에 처리하는 겁니다. 택배를 한 건씩 보내는 게 아니라 모아서 한 번에 보내는 것과 같죠.
다음 대화가 시작되면, 저장해둔 기억 중 가장 관련 있는 15개를 AI에게 미리 알려줍니다.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번째이자 마지막, Skill 시스템입니다.
AI의 모든 능력을 코드에 직접 심어 넣으면, 새 능력을 추가할 때마다 프로그램을 고치고 다시 배포해야 합니다. Skill은 이 문제를 매뉴얼 문서처럼 해결합니다. "슬라이드 만들 때는 이렇게 해라", "리서치할 때는 이 순서로 해라" 같은 작업 지침서를 텍스트 파일로 만들어두는 거죠.
"슬라이드 만들어줘"라고 하면 해당 매뉴얼만 꺼내서 읽습니다. 이걸 progressive loading — "필요한 것만 그때그때 불러오기" — 이라고 합니다. 모든 매뉴얼을 미리 읽어두면 AI의 머릿속(컨텍스트 윈도우)이 꽉 차버리니까요.
사용자가 직접 자기만의 매뉴얼을 추가할 수도 있다는 게 확장성의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DeerFlow 요약입니다.
8가지 구조가 한눈에 정리되어 있습니다. 한 줄 요약: DeerFlow는 "건설 현장"을 세운 겁니다. 현장소장, 전문 팀원, 비서, 작업실, 장기 기억, 매뉴얼까지 — 환경 자체를 완비해서 복잡한 작업을 처리할 수 있는 인프라를 구축했습니다.
이제 완전히 다른 접근을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SWE-Agent입니다. "숙련된 목수 장인"이라고 기억해 주세요.
시작하기 전에 키오스크 비유를 들겠습니다. 같은 "주문하기" 기능이지만, 누가 쓰느냐에 따라 인터페이스가 완전히 달라집니다. 일반 키오스크는 눈높이 터치스크린, 배리어프리 키오스크는 낮은 화면에 점자·음성 안내, 음성 AI는 대화형으로 한 가지씩 안내합니다.
핵심은 이겁니다. 기능은 같지만, 사용자가 다르면 인터페이스가 달라져야 합니다.
그러면 AI라는 새로운 사용자에게는? AI 전용 키오스크가 필요합니다. 그게 바로 ACI, Agent-Computer Interface입니다. AI가 컴퓨터를 다룰 때 쓰는 전용 인터페이스죠.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ACI의 핵심 통찰을 좀 더 구체적으로 봅시다.
왼쪽은 인간 개발자입니다. 우리는 만 줄짜리 파일도 스크롤하면서 읽을 수 있고, 화면의 색깔이나 모양으로 직관적으로 판단합니다. 풍부한 화면이 좋죠.
반면 오른쪽 AI 에이전트는 컨텍스트 윈도우 — 쉽게 말해 "한 번에 읽을 수 있는 분량" — 에 제한이 있습니다. 검색 결과가 수천 개 쏟아지면 어디서 시작해야 할지 혼란스러워하고, 대신 정리된 양식으로 주면 매우 잘 처리합니다.
SWE-Agent의 통찰은 이겁니다: "인간용 도구를 그대로 쥐어주지 말고, AI 손에 맞는 연장을 깎아주자." 이 관점 전환이 SWE-Agent의 가장 큰 기여입니다.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맞춤 연장, File Viewer입니다. "파일 돋보기"라고 보시면 됩니다.
보통 파일 내용을 보려면 전체를 한꺼번에 출력하는데, 만 줄짜리 파일이면 AI의 작업 기억 용량이 한 번에 꽉 찹니다. 뷔페에서 모든 음식을 한 접시에 담으려 하면 아무것도 제대로 못 먹는 것과 같죠.
File Viewer는 100줄씩만 보여줍니다. 연구팀이 다양한 수치를 실험해본 결과 — 이걸 하이퍼파라미터 스윕이라고 합니다 — 50줄은 맥락이 부족하고 200줄부터는 낭비가 시작되어, 100줄이 가장 좋은 지점이었습니다.
모든 줄에 번호가 붙어 있어서, "404번째 줄을 고쳐라"처럼 정확한 지시가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맞춤 연장, Search입니다.
"error"라고 검색하면 수천 개 결과가 나옵니다. 도서관에서 "소설"로 검색하면 수만 권이 나오는 것과 같습니다. AI는 이 안에서 길을 잃어버립니다.
SWE-Agent는 결과를 50개로 잘라버립니다. 50개가 넘으면 "검색어를 더 구체적으로 바꿔보세요"라고 안내합니다. 그러면 AI는 자연히 "error" 대신 "ValueError in models"처럼 정교하게 검색합니다.
직관에 반하지만, 정보를 줄이는 것이 오히려 정확도를 높입니다. 이건 우리 일상에서도 마찬가지죠 — 선택지가 50개보다 3개일 때 더 좋은 결정을 내립니다.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맞춤 연장, Edit 명령입니다.
보통 코드를 수정하려면 파일 전체 읽기 → 고칠 곳 찾기 → 전체 다시 쓰기 → 잘 됐는지 확인, 이렇게 네 단계가 필요합니다. SWE-Agent의 edit은 "404번째~407번째 줄을 이렇게 바꿔라" 한 번이면 끝입니다.
수정 직후 바뀐 부분이 자동으로 화면에 표시되니까, 내가 뭘 바꿨는지 바로 확인할 수 있습니다. 피드백 루프 — 즉 "행동하고 결과를 확인하는 주기" — 가 매우 짧아집니다.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맞춤 연장, Linter Guard입니다. 오늘 발표에서 가장 중요한 슬라이드 중 하나입니다.
Linter는 코드의 문법 오류를 자동으로 잡아주는 검사 도구인데요, SWE-Agent는 AI가 코드를 수정할 때 이 검사를 먼저 돌려서, 오류가 있으면 아예 저장 자체를 거부합니다.
오른쪽 차트를 봐주세요. 이건 Ablation이라고 하는 실험인데, 쉽게 말해 "기능을 하나씩 추가하면서 성능이 얼마나 오르는지 보는 것"입니다.
기본 상태에서 7.3%, File Viewer를 추가하면 +2.7, Search +2.7, Edit +2.0... 그리고 Linter Guard가 +3.3 퍼센트 포인트로 가장 큰 폭의 향상을 보여줍니다.
잘못된 코드가 저장되는 걸 막는 것 하나가, 새로운 도구를 주는 것보다 더 효과적이었다는 뜻입니다. 이 발견은 Part 4에서 다시 강조하겠습니다.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Context Management입니다. "AI의 작업 기억 관리"입니다.
AI가 오래 작업하면 과거의 실패 기록, 에러 메시지 같은 것들이 머릿속(컨텍스트)에 계속 쌓입니다. 정작 지금 필요한 정보가 밀려나는 거죠.
SWE-Agent는 성공한 것만 남기고, 과거 실패는 첫 번째 것만 기록으로 남기고 나머지는 지웁니다. 출력이 아무것도 없으면 "잘 실행됐습니다"라고만 적습니다. 업무 일지에 중요한 것만 남기고 나머지는 정리하는 것과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ReAct Loop입니다.
AI가 무작정 명령만 내리면 왜 그렇게 했는지 알 수 없습니다. SWE-Agent는 매번 "생각(Thought)"을 먼저 적고 나서 "행동(Command)"을 하도록 강제합니다.
"이 파일에서 버그를 찾아야 하니까 먼저 검색하자" → 검색 → "142번 줄에 있네, 열어보자" → 파일 열기. 이런 식으로 한 번에 하나씩, 생각과 행동을 번갈아 합니다. 결과를 보고 나서 다음을 결정하니까, 잘못되더라도 바로 방향을 고칠 수 있습니다.
이제 Part 2가 끝났고, 본격적인 비교에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DeerFlow vs SWE-Agent 직접 비교입니다.
"건설 현장의 현장소장" 대 "숙련된 목수 장인". 두 설계 철학을 4개 슬라이드에 걸쳐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철학 대비입니다.
왼쪽 DeerFlow는 건설 현장처럼, 8개 조직이 각자의 역할을 맡습니다. 팀원(Subagent)에게 일을 나눠주고, 비서(Middleware)가 앞뒤를 챙기고, 장기 기억(Memory)으로 프로젝트 히스토리를 관리합니다.
오른쪽 SWE-Agent는 목수 장인처럼, 혼자입니다. 대신 자(File Viewer), 톱(Edit), 먹줄(Search), 검수 눈(Linter Guard) 같은 연장 하나하나가 AI 손에 딱 맞게 깎여 있습니다.
한쪽은 팀을 세우고, 한쪽은 개인의 도구를 극한까지 다듬은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매핑 표입니다. 어떤 기능이 어느 쪽에만 있는지 한눈에 보여줍니다.
DeerFlow에만 있는 것: Nginx(정문), Gateway(관리팀), Subagent(팀원), Memory(기억), Skill(매뉴얼). 전부 "조직 운영"에 관한 것입니다.
SWE-Agent에만 있는 것: File Viewer, Search, Edit. 전부 "개인의 도구"에 관한 것입니다.
이 차이가 두 철학의 본질을 보여줍니다. DeerFlow는 인프라를, SWE-Agent는 도구를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차이점 6가지입니다.
특히 눈여겨볼 건 에이전트 수와 메모리입니다. DeerFlow는 현장소장 + 팀원 최대 3명인 반면, SWE-Agent는 장인 혼자입니다. 장기 기억도 DeerFlow만 지원합니다.
적합한 작업도 다릅니다. DeerFlow는 여러 사람이 머리를 맞대야 하는 장기 프로젝트에, SWE-Agent는 숙련공 한 명이면 되는 정확한 단일 작업에 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실무적으로 가장 중요한 슬라이드입니다. 언제, 무엇을 선택할 것인가.
DeerFlow를 고르는 상황: 건물 한 채를 지어야 할 때. 복잡한 워크플로우, 여러 분야의 병렬 처리, 이전 대화를 기억해야 하는 장기 프로젝트.
SWE-Agent를 고르는 상황: 문이 하나 고장 났을 때. 명확한 단일 이슈, 빠른 진단과 수리, 예측 가능하고 디버깅하기 쉬운 작업.
핵심 질문은 이겁니다. 여러분의 에이전트는 현장을 주도해야 하는가, 아니면 연장을 완벽하게 사용해야 하는가?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핵심 인사이트입니다. 첫 번째: 인터페이스가 모델보다 중요할 수 있습니다.
이 슬라이드에서 가장 강조하고 싶은 숫자는 +10.7 퍼센트 포인트입니다. SWE-bench라는 표준 벤치마크 — 소프트웨어 버그 300개를 주고 AI가 얼마나 고치는지 보는 시험 — 에서, 같은 GPT-4 Turbo 모델을 썼는데, 인터페이스만 바꿨더니 7.3%에서 18.0%로 올랐습니다. 상대적으로 147% 향상입니다.
AI 모델을 더 비싼 걸로 바꾸기 전에, 그 AI에게 주는 도구를 먼저 점검하라는 메시지입니다. 목수의 실력을 키우기 전에, 무딘 칼부터 갈아주라는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제한이 성능을 높입니다. 직관에 반하는 발견입니다.
네 가지 예를 봅시다. 검색 결과를 50개로 자르면 → AI가 알아서 더 정확한 검색어를 씁니다. 파일을 100줄만 보여주면 → 핵심에 집중합니다. 문법 오류가 있으면 저장을 거부하면 → 잘못된 상태 자체가 생기지 않습니다. 팀원을 3명까지만 허용하면 → 자원이 안정적으로 관리됩니다.
원리는 간단합니다. "더 많이" 주는 게 아니라, "더 적절하게" 주는 것이 핵심입니다. 뷔페보다 코스 요리가 만족도가 높은 이유와 같습니다. 선택지를 좁혀주면 오히려 더 좋은 결정을 내립니다.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가드레일의 ROI — 투자 대비 효과 — 가 가장 높습니다.
가드레일은 "안전 난간" 같은 겁니다. 절벽 옆에 난간을 세우면 떨어질 일이 없듯이, AI가 실수할 수 있는 길목을 미리 막는 거죠.
SWE-Agent에서 Linter Guard가 +3.3 포인트로, 새로운 도구를 추가한 것(File Viewer +2.7, Search +2.7, Edit +2.0)보다 더 큰 효과를 냈습니다.
DeerFlow에서도 마찬가지입니다. 팀원 수 제한(SubagentLimit), 미완성 작업 정리(DanglingToolCall) 같은 가드레일이 시스템 안정성의 핵심입니다.
교훈: 더 좋은 도구를 주는 것보다, 실수를 못 하게 막는 것이 더 효과적입니다.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정리 슬라이드입니다. AI 에이전트를 설계하거나 도입할 때 물어볼 세 가지.
첫째, 도구부터 점검했는가? 더 비싼 AI 모델을 사기 전에, 지금 AI에게 주고 있는 도구가 제대로인지 봅시다. SWE-Agent는 모델을 바꾸지 않고 인터페이스만 개선해서 +10.7 포인트를 얻었습니다.
둘째, 안전 난간을 세웠는가? 무엇을 할 수 있게 할지만 생각하지 말고, 무엇을 못 하게 할지도 정합시다. 가장 큰 성능 향상은 "실수를 막은" 지점에서 나왔습니다.
셋째, 적절한 제한을 두었는가? 50개, 100줄, 3명 같은 제한들이 AI의 집중력을 만들어 줍니다. "더 많이"가 아니라 "더 적절하게"입니다.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오늘 다룬 세 가지 키워드를 다시 한 번 정리하면, "환경의 통제" — 건설 현장을 세워라, "인터페이스의 힘" — 연장을 벼려라, "제한의 역설" — 좁혀줄수록 잘한다.
질문이 있으시면 편하게 해주세요.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 자료 슬라이드입니다.
DeerFlow는 GitHub에서 45K+ stars를 받고 있는 ByteDance의 오픈소스 프로젝트이고, SWE-Agent는 Princeton 연구팀이 만든 NeurIPS 2024 — AI 분야 최상위 학회 — 논문 기반 프로젝트입니다.
원본 분석 노트도 함께 공유되어 있으니, 더 깊이 보고 싶으신 분은 참고해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1.png"/><Relationship Id="rId4" Type="http://schemas.openxmlformats.org/officeDocument/2006/relationships/image" Target="../media/image-22-2.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1.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8F3"/>
        </a:solidFill>
      </p:bgPr>
    </p:bg>
    <p:spTree>
      <p:nvGrpSpPr>
        <p:cNvPr id="1" name=""/>
        <p:cNvGrpSpPr/>
        <p:nvPr/>
      </p:nvGrpSpPr>
      <p:grpSpPr>
        <a:xfrm>
          <a:off x="0" y="0"/>
          <a:ext cx="0" cy="0"/>
          <a:chOff x="0" y="0"/>
          <a:chExt cx="0" cy="0"/>
        </a:xfrm>
      </p:grpSpPr>
      <p:pic>
        <p:nvPicPr>
          <p:cNvPr id="2" name="Image 0" descr="/sessions/optimistic-amazing-goldberg/presentation/assets/blossom-pinkLight.png">    </p:cNvPr>
          <p:cNvPicPr>
            <a:picLocks noChangeAspect="1"/>
          </p:cNvPicPr>
          <p:nvPr/>
        </p:nvPicPr>
        <p:blipFill>
          <a:blip r:embed="rId1">
            <a:alphaModFix amt="30000"/>
          </a:blip>
          <a:stretch>
            <a:fillRect/>
          </a:stretch>
        </p:blipFill>
        <p:spPr>
          <a:xfrm>
            <a:off x="-1097280" y="-1097280"/>
            <a:ext cx="4114800" cy="4114800"/>
          </a:xfrm>
          <a:prstGeom prst="rect">
            <a:avLst/>
          </a:prstGeom>
        </p:spPr>
      </p:pic>
      <p:pic>
        <p:nvPicPr>
          <p:cNvPr id="3" name="Image 1" descr="/sessions/optimistic-amazing-goldberg/presentation/assets/blossom-orangeLight.png">    </p:cNvPr>
          <p:cNvPicPr>
            <a:picLocks noChangeAspect="1"/>
          </p:cNvPicPr>
          <p:nvPr/>
        </p:nvPicPr>
        <p:blipFill>
          <a:blip r:embed="rId2">
            <a:alphaModFix amt="25000"/>
          </a:blip>
          <a:stretch>
            <a:fillRect/>
          </a:stretch>
        </p:blipFill>
        <p:spPr>
          <a:xfrm>
            <a:off x="9448495" y="4114800"/>
            <a:ext cx="3657600" cy="3657600"/>
          </a:xfrm>
          <a:prstGeom prst="rect">
            <a:avLst/>
          </a:prstGeom>
        </p:spPr>
      </p:pic>
      <p:pic>
        <p:nvPicPr>
          <p:cNvPr id="4" name="Image 2" descr="/sessions/optimistic-amazing-goldberg/presentation/assets/blossom-pinkLight.png">    </p:cNvPr>
          <p:cNvPicPr>
            <a:picLocks noChangeAspect="1"/>
          </p:cNvPicPr>
          <p:nvPr/>
        </p:nvPicPr>
        <p:blipFill>
          <a:blip r:embed="rId3">
            <a:alphaModFix amt="25000"/>
          </a:blip>
          <a:stretch>
            <a:fillRect/>
          </a:stretch>
        </p:blipFill>
        <p:spPr>
          <a:xfrm>
            <a:off x="10362895" y="457200"/>
            <a:ext cx="1097280" cy="1097280"/>
          </a:xfrm>
          <a:prstGeom prst="rect">
            <a:avLst/>
          </a:prstGeom>
        </p:spPr>
      </p:pic>
      <p:sp>
        <p:nvSpPr>
          <p:cNvPr id="5" name="Shape 0"/>
          <p:cNvSpPr/>
          <p:nvPr/>
        </p:nvSpPr>
        <p:spPr>
          <a:xfrm>
            <a:off x="548640" y="1463040"/>
            <a:ext cx="2011680" cy="347472"/>
          </a:xfrm>
          <a:prstGeom prst="roundRect">
            <a:avLst>
              <a:gd name="adj" fmla="val 50000"/>
            </a:avLst>
          </a:prstGeom>
          <a:solidFill>
            <a:srgbClr val="FBE9EF"/>
          </a:solidFill>
          <a:ln w="9525">
            <a:solidFill>
              <a:srgbClr val="F4A6B8"/>
            </a:solidFill>
            <a:prstDash val="solid"/>
          </a:ln>
        </p:spPr>
      </p:sp>
      <p:sp>
        <p:nvSpPr>
          <p:cNvPr id="6" name="Text 1"/>
          <p:cNvSpPr/>
          <p:nvPr/>
        </p:nvSpPr>
        <p:spPr>
          <a:xfrm>
            <a:off x="548640" y="1463040"/>
            <a:ext cx="2011680" cy="347472"/>
          </a:xfrm>
          <a:prstGeom prst="rect">
            <a:avLst/>
          </a:prstGeom>
          <a:noFill/>
          <a:ln/>
        </p:spPr>
        <p:txBody>
          <a:bodyPr wrap="square" lIns="0" tIns="0" rIns="0" bIns="0" rtlCol="0" anchor="ctr"/>
          <a:lstStyle/>
          <a:p>
            <a:pPr algn="ctr" indent="0" marL="0">
              <a:buNone/>
            </a:pPr>
            <a:r>
              <a:rPr lang="en-US" sz="1100" b="1" spc="100" kern="0" dirty="0">
                <a:solidFill>
                  <a:srgbClr val="F4A6B8"/>
                </a:solidFill>
                <a:latin typeface="Noto Sans KR" pitchFamily="34" charset="0"/>
                <a:ea typeface="Noto Sans KR" pitchFamily="34" charset="-122"/>
                <a:cs typeface="Noto Sans KR" pitchFamily="34" charset="-120"/>
              </a:rPr>
              <a:t>AI Agent Architecture</a:t>
            </a:r>
            <a:endParaRPr lang="en-US" sz="1100" dirty="0"/>
          </a:p>
        </p:txBody>
      </p:sp>
      <p:sp>
        <p:nvSpPr>
          <p:cNvPr id="7" name="Text 2"/>
          <p:cNvSpPr/>
          <p:nvPr/>
        </p:nvSpPr>
        <p:spPr>
          <a:xfrm>
            <a:off x="548640" y="2057400"/>
            <a:ext cx="11094415" cy="1005840"/>
          </a:xfrm>
          <a:prstGeom prst="rect">
            <a:avLst/>
          </a:prstGeom>
          <a:noFill/>
          <a:ln/>
        </p:spPr>
        <p:txBody>
          <a:bodyPr wrap="square" lIns="0" tIns="0" rIns="0" bIns="0" rtlCol="0" anchor="ctr"/>
          <a:lstStyle/>
          <a:p>
            <a:pPr algn="l" indent="0" marL="0">
              <a:buNone/>
            </a:pPr>
            <a:r>
              <a:rPr lang="en-US" sz="5600" b="1" dirty="0">
                <a:solidFill>
                  <a:srgbClr val="5C4033"/>
                </a:solidFill>
                <a:latin typeface="Nanum Myeongjo" pitchFamily="34" charset="0"/>
                <a:ea typeface="Nanum Myeongjo" pitchFamily="34" charset="-122"/>
                <a:cs typeface="Nanum Myeongjo" pitchFamily="34" charset="-120"/>
              </a:rPr>
              <a:t>DeerFlow vs SWE-Agent</a:t>
            </a:r>
            <a:endParaRPr lang="en-US" sz="5600" dirty="0"/>
          </a:p>
        </p:txBody>
      </p:sp>
      <p:sp>
        <p:nvSpPr>
          <p:cNvPr id="8" name="Text 3"/>
          <p:cNvSpPr/>
          <p:nvPr/>
        </p:nvSpPr>
        <p:spPr>
          <a:xfrm>
            <a:off x="548640" y="3200400"/>
            <a:ext cx="11094415" cy="457200"/>
          </a:xfrm>
          <a:prstGeom prst="rect">
            <a:avLst/>
          </a:prstGeom>
          <a:noFill/>
          <a:ln/>
        </p:spPr>
        <p:txBody>
          <a:bodyPr wrap="square" lIns="0" tIns="0" rIns="0" bIns="0" rtlCol="0" anchor="ctr"/>
          <a:lstStyle/>
          <a:p>
            <a:pPr algn="l" indent="0" marL="0">
              <a:buNone/>
            </a:pPr>
            <a:r>
              <a:rPr lang="en-US" sz="2400" dirty="0">
                <a:solidFill>
                  <a:srgbClr val="7E5D4E"/>
                </a:solidFill>
                <a:latin typeface="Noto Sans KR" pitchFamily="34" charset="0"/>
                <a:ea typeface="Noto Sans KR" pitchFamily="34" charset="-122"/>
                <a:cs typeface="Noto Sans KR" pitchFamily="34" charset="-120"/>
              </a:rPr>
              <a:t>두 가지 에이전트 설계 철학의 비교 분석</a:t>
            </a:r>
            <a:endParaRPr lang="en-US" sz="2400" dirty="0"/>
          </a:p>
        </p:txBody>
      </p:sp>
      <p:sp>
        <p:nvSpPr>
          <p:cNvPr id="9" name="Shape 4"/>
          <p:cNvSpPr/>
          <p:nvPr/>
        </p:nvSpPr>
        <p:spPr>
          <a:xfrm>
            <a:off x="548640" y="3931920"/>
            <a:ext cx="731520" cy="36576"/>
          </a:xfrm>
          <a:prstGeom prst="rect">
            <a:avLst/>
          </a:prstGeom>
          <a:solidFill>
            <a:srgbClr val="F4A6B8"/>
          </a:solidFill>
          <a:ln w="12700">
            <a:solidFill>
              <a:srgbClr val="F4A6B8"/>
            </a:solidFill>
            <a:prstDash val="solid"/>
          </a:ln>
        </p:spPr>
      </p:sp>
      <p:sp>
        <p:nvSpPr>
          <p:cNvPr id="10" name="Text 5"/>
          <p:cNvSpPr/>
          <p:nvPr/>
        </p:nvSpPr>
        <p:spPr>
          <a:xfrm>
            <a:off x="548640" y="4069080"/>
            <a:ext cx="11094415" cy="320040"/>
          </a:xfrm>
          <a:prstGeom prst="rect">
            <a:avLst/>
          </a:prstGeom>
          <a:noFill/>
          <a:ln/>
        </p:spPr>
        <p:txBody>
          <a:bodyPr wrap="square" lIns="0" tIns="0" rIns="0" bIns="0" rtlCol="0" anchor="ctr"/>
          <a:lstStyle/>
          <a:p>
            <a:pPr algn="l" indent="0" marL="0">
              <a:buNone/>
            </a:pPr>
            <a:r>
              <a:rPr lang="en-US" sz="1300" i="1" spc="100" kern="0" dirty="0">
                <a:solidFill>
                  <a:srgbClr val="A68474"/>
                </a:solidFill>
                <a:latin typeface="Noto Sans KR" pitchFamily="34" charset="0"/>
                <a:ea typeface="Noto Sans KR" pitchFamily="34" charset="-122"/>
                <a:cs typeface="Noto Sans KR" pitchFamily="34" charset="-120"/>
              </a:rPr>
              <a:t>Architecture Deep Dive · Design Philosophy · Key Insights</a:t>
            </a:r>
            <a:endParaRPr lang="en-US" sz="1300" dirty="0"/>
          </a:p>
        </p:txBody>
      </p:sp>
      <p:sp>
        <p:nvSpPr>
          <p:cNvPr id="11" name="Shape 6"/>
          <p:cNvSpPr/>
          <p:nvPr/>
        </p:nvSpPr>
        <p:spPr>
          <a:xfrm>
            <a:off x="548640" y="4709160"/>
            <a:ext cx="11094415" cy="502920"/>
          </a:xfrm>
          <a:prstGeom prst="roundRect">
            <a:avLst>
              <a:gd name="adj" fmla="val 14545"/>
            </a:avLst>
          </a:prstGeom>
          <a:solidFill>
            <a:srgbClr val="FBE9EF"/>
          </a:solidFill>
          <a:ln w="9525">
            <a:solidFill>
              <a:srgbClr val="FADCE3"/>
            </a:solidFill>
            <a:prstDash val="solid"/>
          </a:ln>
        </p:spPr>
      </p:sp>
      <p:sp>
        <p:nvSpPr>
          <p:cNvPr id="12" name="Text 7"/>
          <p:cNvSpPr/>
          <p:nvPr/>
        </p:nvSpPr>
        <p:spPr>
          <a:xfrm>
            <a:off x="822960" y="4709160"/>
            <a:ext cx="10545775" cy="50292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AI가 코드를 잘 짜는 시대 — </a:t>
            </a:r>
            <a:pPr algn="l" indent="0" marL="0">
              <a:buNone/>
            </a:pPr>
            <a:r>
              <a:rPr lang="en-US" sz="1250" b="1" dirty="0">
                <a:solidFill>
                  <a:srgbClr val="5C4033"/>
                </a:solidFill>
                <a:latin typeface="Noto Sans KR" pitchFamily="34" charset="0"/>
                <a:ea typeface="Noto Sans KR" pitchFamily="34" charset="-122"/>
                <a:cs typeface="Noto Sans KR" pitchFamily="34" charset="-120"/>
              </a:rPr>
              <a:t>이제 우리의 역할은 "어떻게 설계하고 조율할 것인가"입니다.</a:t>
            </a:r>
            <a:endParaRPr lang="en-US" sz="1250" dirty="0"/>
          </a:p>
        </p:txBody>
      </p:sp>
      <p:sp>
        <p:nvSpPr>
          <p:cNvPr id="13" name="Text 8"/>
          <p:cNvSpPr/>
          <p:nvPr/>
        </p:nvSpPr>
        <p:spPr>
          <a:xfrm>
            <a:off x="548640" y="5943600"/>
            <a:ext cx="4572000" cy="274320"/>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Presented by </a:t>
            </a:r>
            <a:pPr algn="l" indent="0" marL="0">
              <a:buNone/>
            </a:pPr>
            <a:r>
              <a:rPr lang="en-US" sz="1200" b="1" dirty="0">
                <a:solidFill>
                  <a:srgbClr val="5C4033"/>
                </a:solidFill>
                <a:latin typeface="Noto Sans KR" pitchFamily="34" charset="0"/>
                <a:ea typeface="Noto Sans KR" pitchFamily="34" charset="-122"/>
                <a:cs typeface="Noto Sans KR" pitchFamily="34" charset="-120"/>
              </a:rPr>
              <a:t>Minjeong Jeon</a:t>
            </a:r>
            <a:endParaRPr lang="en-US" sz="1200" dirty="0"/>
          </a:p>
        </p:txBody>
      </p:sp>
      <p:sp>
        <p:nvSpPr>
          <p:cNvPr id="14" name="Text 9"/>
          <p:cNvSpPr/>
          <p:nvPr/>
        </p:nvSpPr>
        <p:spPr>
          <a:xfrm>
            <a:off x="548640" y="6263640"/>
            <a:ext cx="4572000" cy="274320"/>
          </a:xfrm>
          <a:prstGeom prst="rect">
            <a:avLst/>
          </a:prstGeom>
          <a:noFill/>
          <a:ln/>
        </p:spPr>
        <p:txBody>
          <a:bodyPr wrap="square" lIns="0" tIns="0" rIns="0" bIns="0" rtlCol="0" anchor="ctr"/>
          <a:lstStyle/>
          <a:p>
            <a:pPr algn="l" indent="0" marL="0">
              <a:buNone/>
            </a:pPr>
            <a:r>
              <a:rPr lang="en-US" sz="1100" dirty="0">
                <a:solidFill>
                  <a:srgbClr val="A68474"/>
                </a:solidFill>
                <a:latin typeface="Noto Sans KR" pitchFamily="34" charset="0"/>
                <a:ea typeface="Noto Sans KR" pitchFamily="34" charset="-122"/>
                <a:cs typeface="Noto Sans KR" pitchFamily="34" charset="-120"/>
              </a:rPr>
              <a:t>Spring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AGENDA</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오늘의 여정</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DeerFlow와 SWE-Agent를 해부하고, 서로 다른 설계 선택을 비교합니다</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240280"/>
            <a:ext cx="640080" cy="640080"/>
          </a:xfrm>
          <a:prstGeom prst="ellipse">
            <a:avLst/>
          </a:prstGeom>
          <a:solidFill>
            <a:srgbClr val="F4A6B8"/>
          </a:solidFill>
          <a:ln w="12700">
            <a:solidFill>
              <a:srgbClr val="F4A6B8"/>
            </a:solidFill>
            <a:prstDash val="solid"/>
          </a:ln>
        </p:spPr>
      </p:sp>
      <p:sp>
        <p:nvSpPr>
          <p:cNvPr id="9" name="Text 7"/>
          <p:cNvSpPr/>
          <p:nvPr/>
        </p:nvSpPr>
        <p:spPr>
          <a:xfrm>
            <a:off x="548640" y="22402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KR" pitchFamily="34" charset="0"/>
                <a:ea typeface="Noto Sans KR" pitchFamily="34" charset="-122"/>
                <a:cs typeface="Noto Sans KR" pitchFamily="34" charset="-120"/>
              </a:rPr>
              <a:t>01</a:t>
            </a:r>
            <a:endParaRPr lang="en-US" sz="1400" dirty="0"/>
          </a:p>
        </p:txBody>
      </p:sp>
      <p:sp>
        <p:nvSpPr>
          <p:cNvPr id="10" name="Text 8"/>
          <p:cNvSpPr/>
          <p:nvPr/>
        </p:nvSpPr>
        <p:spPr>
          <a:xfrm>
            <a:off x="1463040" y="2194560"/>
            <a:ext cx="7315200" cy="384048"/>
          </a:xfrm>
          <a:prstGeom prst="rect">
            <a:avLst/>
          </a:prstGeom>
          <a:noFill/>
          <a:ln/>
        </p:spPr>
        <p:txBody>
          <a:bodyPr wrap="square" lIns="0" tIns="0" rIns="0" bIns="0" rtlCol="0" anchor="ctr"/>
          <a:lstStyle/>
          <a:p>
            <a:pPr algn="l" indent="0" marL="0">
              <a:buNone/>
            </a:pPr>
            <a:r>
              <a:rPr lang="en-US" sz="1800" b="1" dirty="0">
                <a:solidFill>
                  <a:srgbClr val="5C4033"/>
                </a:solidFill>
                <a:latin typeface="Noto Sans KR" pitchFamily="34" charset="0"/>
                <a:ea typeface="Noto Sans KR" pitchFamily="34" charset="-122"/>
                <a:cs typeface="Noto Sans KR" pitchFamily="34" charset="-120"/>
              </a:rPr>
              <a:t>DeerFlow 아키텍처</a:t>
            </a:r>
            <a:endParaRPr lang="en-US" sz="1800" dirty="0"/>
          </a:p>
        </p:txBody>
      </p:sp>
      <p:sp>
        <p:nvSpPr>
          <p:cNvPr id="11" name="Text 9"/>
          <p:cNvSpPr/>
          <p:nvPr/>
        </p:nvSpPr>
        <p:spPr>
          <a:xfrm>
            <a:off x="1463040" y="2578608"/>
            <a:ext cx="7772400" cy="365760"/>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8개 구조 · Lead + Subagent · Middleware · Memory</a:t>
            </a:r>
            <a:endParaRPr lang="en-US" sz="1200" dirty="0"/>
          </a:p>
        </p:txBody>
      </p:sp>
      <p:sp>
        <p:nvSpPr>
          <p:cNvPr id="12" name="Text 10"/>
          <p:cNvSpPr/>
          <p:nvPr/>
        </p:nvSpPr>
        <p:spPr>
          <a:xfrm>
            <a:off x="10180015" y="2286000"/>
            <a:ext cx="1463040" cy="457200"/>
          </a:xfrm>
          <a:prstGeom prst="rect">
            <a:avLst/>
          </a:prstGeom>
          <a:noFill/>
          <a:ln/>
        </p:spPr>
        <p:txBody>
          <a:bodyPr wrap="square" lIns="0" tIns="0" rIns="0" bIns="0" rtlCol="0" anchor="ctr"/>
          <a:lstStyle/>
          <a:p>
            <a:pPr algn="r" indent="0" marL="0">
              <a:buNone/>
            </a:pPr>
            <a:r>
              <a:rPr lang="en-US" sz="1000" i="1" dirty="0">
                <a:solidFill>
                  <a:srgbClr val="A68474"/>
                </a:solidFill>
                <a:latin typeface="Noto Sans KR" pitchFamily="34" charset="0"/>
                <a:ea typeface="Noto Sans KR" pitchFamily="34" charset="-122"/>
                <a:cs typeface="Noto Sans KR" pitchFamily="34" charset="-120"/>
              </a:rPr>
              <a:t>10 slides</a:t>
            </a:r>
            <a:endParaRPr lang="en-US" sz="1000" dirty="0"/>
          </a:p>
        </p:txBody>
      </p:sp>
      <p:sp>
        <p:nvSpPr>
          <p:cNvPr id="13" name="Shape 11"/>
          <p:cNvSpPr/>
          <p:nvPr/>
        </p:nvSpPr>
        <p:spPr>
          <a:xfrm>
            <a:off x="548640" y="3154680"/>
            <a:ext cx="640080" cy="640080"/>
          </a:xfrm>
          <a:prstGeom prst="ellipse">
            <a:avLst/>
          </a:prstGeom>
          <a:solidFill>
            <a:srgbClr val="F08B51"/>
          </a:solidFill>
          <a:ln w="12700">
            <a:solidFill>
              <a:srgbClr val="F08B51"/>
            </a:solidFill>
            <a:prstDash val="solid"/>
          </a:ln>
        </p:spPr>
      </p:sp>
      <p:sp>
        <p:nvSpPr>
          <p:cNvPr id="14" name="Text 12"/>
          <p:cNvSpPr/>
          <p:nvPr/>
        </p:nvSpPr>
        <p:spPr>
          <a:xfrm>
            <a:off x="548640" y="31546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KR" pitchFamily="34" charset="0"/>
                <a:ea typeface="Noto Sans KR" pitchFamily="34" charset="-122"/>
                <a:cs typeface="Noto Sans KR" pitchFamily="34" charset="-120"/>
              </a:rPr>
              <a:t>02</a:t>
            </a:r>
            <a:endParaRPr lang="en-US" sz="1400" dirty="0"/>
          </a:p>
        </p:txBody>
      </p:sp>
      <p:sp>
        <p:nvSpPr>
          <p:cNvPr id="15" name="Text 13"/>
          <p:cNvSpPr/>
          <p:nvPr/>
        </p:nvSpPr>
        <p:spPr>
          <a:xfrm>
            <a:off x="1463040" y="3108960"/>
            <a:ext cx="7315200" cy="384048"/>
          </a:xfrm>
          <a:prstGeom prst="rect">
            <a:avLst/>
          </a:prstGeom>
          <a:noFill/>
          <a:ln/>
        </p:spPr>
        <p:txBody>
          <a:bodyPr wrap="square" lIns="0" tIns="0" rIns="0" bIns="0" rtlCol="0" anchor="ctr"/>
          <a:lstStyle/>
          <a:p>
            <a:pPr algn="l" indent="0" marL="0">
              <a:buNone/>
            </a:pPr>
            <a:r>
              <a:rPr lang="en-US" sz="1800" b="1" dirty="0">
                <a:solidFill>
                  <a:srgbClr val="5C4033"/>
                </a:solidFill>
                <a:latin typeface="Noto Sans KR" pitchFamily="34" charset="0"/>
                <a:ea typeface="Noto Sans KR" pitchFamily="34" charset="-122"/>
                <a:cs typeface="Noto Sans KR" pitchFamily="34" charset="-120"/>
              </a:rPr>
              <a:t>SWE-Agent 아키텍처</a:t>
            </a:r>
            <a:endParaRPr lang="en-US" sz="1800" dirty="0"/>
          </a:p>
        </p:txBody>
      </p:sp>
      <p:sp>
        <p:nvSpPr>
          <p:cNvPr id="16" name="Text 14"/>
          <p:cNvSpPr/>
          <p:nvPr/>
        </p:nvSpPr>
        <p:spPr>
          <a:xfrm>
            <a:off x="1463040" y="3493008"/>
            <a:ext cx="7772400" cy="365760"/>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ACI · File Viewer · Linter Guard · ReAct Loop</a:t>
            </a:r>
            <a:endParaRPr lang="en-US" sz="1200" dirty="0"/>
          </a:p>
        </p:txBody>
      </p:sp>
      <p:sp>
        <p:nvSpPr>
          <p:cNvPr id="17" name="Text 15"/>
          <p:cNvSpPr/>
          <p:nvPr/>
        </p:nvSpPr>
        <p:spPr>
          <a:xfrm>
            <a:off x="10180015" y="3200400"/>
            <a:ext cx="1463040" cy="457200"/>
          </a:xfrm>
          <a:prstGeom prst="rect">
            <a:avLst/>
          </a:prstGeom>
          <a:noFill/>
          <a:ln/>
        </p:spPr>
        <p:txBody>
          <a:bodyPr wrap="square" lIns="0" tIns="0" rIns="0" bIns="0" rtlCol="0" anchor="ctr"/>
          <a:lstStyle/>
          <a:p>
            <a:pPr algn="r" indent="0" marL="0">
              <a:buNone/>
            </a:pPr>
            <a:r>
              <a:rPr lang="en-US" sz="1000" i="1" dirty="0">
                <a:solidFill>
                  <a:srgbClr val="A68474"/>
                </a:solidFill>
                <a:latin typeface="Noto Sans KR" pitchFamily="34" charset="0"/>
                <a:ea typeface="Noto Sans KR" pitchFamily="34" charset="-122"/>
                <a:cs typeface="Noto Sans KR" pitchFamily="34" charset="-120"/>
              </a:rPr>
              <a:t>8 slides</a:t>
            </a:r>
            <a:endParaRPr lang="en-US" sz="1000" dirty="0"/>
          </a:p>
        </p:txBody>
      </p:sp>
      <p:sp>
        <p:nvSpPr>
          <p:cNvPr id="18" name="Shape 16"/>
          <p:cNvSpPr/>
          <p:nvPr/>
        </p:nvSpPr>
        <p:spPr>
          <a:xfrm>
            <a:off x="548640" y="4069080"/>
            <a:ext cx="640080" cy="640080"/>
          </a:xfrm>
          <a:prstGeom prst="ellipse">
            <a:avLst/>
          </a:prstGeom>
          <a:solidFill>
            <a:srgbClr val="D4B896"/>
          </a:solidFill>
          <a:ln w="12700">
            <a:solidFill>
              <a:srgbClr val="D4B896"/>
            </a:solidFill>
            <a:prstDash val="solid"/>
          </a:ln>
        </p:spPr>
      </p:sp>
      <p:sp>
        <p:nvSpPr>
          <p:cNvPr id="19" name="Text 17"/>
          <p:cNvSpPr/>
          <p:nvPr/>
        </p:nvSpPr>
        <p:spPr>
          <a:xfrm>
            <a:off x="548640" y="40690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KR" pitchFamily="34" charset="0"/>
                <a:ea typeface="Noto Sans KR" pitchFamily="34" charset="-122"/>
                <a:cs typeface="Noto Sans KR" pitchFamily="34" charset="-120"/>
              </a:rPr>
              <a:t>03</a:t>
            </a:r>
            <a:endParaRPr lang="en-US" sz="1400" dirty="0"/>
          </a:p>
        </p:txBody>
      </p:sp>
      <p:sp>
        <p:nvSpPr>
          <p:cNvPr id="20" name="Text 18"/>
          <p:cNvSpPr/>
          <p:nvPr/>
        </p:nvSpPr>
        <p:spPr>
          <a:xfrm>
            <a:off x="1463040" y="4023360"/>
            <a:ext cx="7315200" cy="384048"/>
          </a:xfrm>
          <a:prstGeom prst="rect">
            <a:avLst/>
          </a:prstGeom>
          <a:noFill/>
          <a:ln/>
        </p:spPr>
        <p:txBody>
          <a:bodyPr wrap="square" lIns="0" tIns="0" rIns="0" bIns="0" rtlCol="0" anchor="ctr"/>
          <a:lstStyle/>
          <a:p>
            <a:pPr algn="l" indent="0" marL="0">
              <a:buNone/>
            </a:pPr>
            <a:r>
              <a:rPr lang="en-US" sz="1800" b="1" dirty="0">
                <a:solidFill>
                  <a:srgbClr val="5C4033"/>
                </a:solidFill>
                <a:latin typeface="Noto Sans KR" pitchFamily="34" charset="0"/>
                <a:ea typeface="Noto Sans KR" pitchFamily="34" charset="-122"/>
                <a:cs typeface="Noto Sans KR" pitchFamily="34" charset="-120"/>
              </a:rPr>
              <a:t>DeerFlow vs SWE-Agent</a:t>
            </a:r>
            <a:endParaRPr lang="en-US" sz="1800" dirty="0"/>
          </a:p>
        </p:txBody>
      </p:sp>
      <p:sp>
        <p:nvSpPr>
          <p:cNvPr id="21" name="Text 19"/>
          <p:cNvSpPr/>
          <p:nvPr/>
        </p:nvSpPr>
        <p:spPr>
          <a:xfrm>
            <a:off x="1463040" y="4407408"/>
            <a:ext cx="7772400" cy="365760"/>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설계 철학, 구조 매핑, 핵심 차이점</a:t>
            </a:r>
            <a:endParaRPr lang="en-US" sz="1200" dirty="0"/>
          </a:p>
        </p:txBody>
      </p:sp>
      <p:sp>
        <p:nvSpPr>
          <p:cNvPr id="22" name="Text 20"/>
          <p:cNvSpPr/>
          <p:nvPr/>
        </p:nvSpPr>
        <p:spPr>
          <a:xfrm>
            <a:off x="10180015" y="4114800"/>
            <a:ext cx="1463040" cy="457200"/>
          </a:xfrm>
          <a:prstGeom prst="rect">
            <a:avLst/>
          </a:prstGeom>
          <a:noFill/>
          <a:ln/>
        </p:spPr>
        <p:txBody>
          <a:bodyPr wrap="square" lIns="0" tIns="0" rIns="0" bIns="0" rtlCol="0" anchor="ctr"/>
          <a:lstStyle/>
          <a:p>
            <a:pPr algn="r" indent="0" marL="0">
              <a:buNone/>
            </a:pPr>
            <a:r>
              <a:rPr lang="en-US" sz="1000" i="1" dirty="0">
                <a:solidFill>
                  <a:srgbClr val="A68474"/>
                </a:solidFill>
                <a:latin typeface="Noto Sans KR" pitchFamily="34" charset="0"/>
                <a:ea typeface="Noto Sans KR" pitchFamily="34" charset="-122"/>
                <a:cs typeface="Noto Sans KR" pitchFamily="34" charset="-120"/>
              </a:rPr>
              <a:t>5 slides</a:t>
            </a:r>
            <a:endParaRPr lang="en-US" sz="1000" dirty="0"/>
          </a:p>
        </p:txBody>
      </p:sp>
      <p:sp>
        <p:nvSpPr>
          <p:cNvPr id="23" name="Shape 21"/>
          <p:cNvSpPr/>
          <p:nvPr/>
        </p:nvSpPr>
        <p:spPr>
          <a:xfrm>
            <a:off x="548640" y="4983480"/>
            <a:ext cx="640080" cy="640080"/>
          </a:xfrm>
          <a:prstGeom prst="ellipse">
            <a:avLst/>
          </a:prstGeom>
          <a:solidFill>
            <a:srgbClr val="88B04B"/>
          </a:solidFill>
          <a:ln w="12700">
            <a:solidFill>
              <a:srgbClr val="88B04B"/>
            </a:solidFill>
            <a:prstDash val="solid"/>
          </a:ln>
        </p:spPr>
      </p:sp>
      <p:sp>
        <p:nvSpPr>
          <p:cNvPr id="24" name="Text 22"/>
          <p:cNvSpPr/>
          <p:nvPr/>
        </p:nvSpPr>
        <p:spPr>
          <a:xfrm>
            <a:off x="548640" y="49834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KR" pitchFamily="34" charset="0"/>
                <a:ea typeface="Noto Sans KR" pitchFamily="34" charset="-122"/>
                <a:cs typeface="Noto Sans KR" pitchFamily="34" charset="-120"/>
              </a:rPr>
              <a:t>04</a:t>
            </a:r>
            <a:endParaRPr lang="en-US" sz="1400" dirty="0"/>
          </a:p>
        </p:txBody>
      </p:sp>
      <p:sp>
        <p:nvSpPr>
          <p:cNvPr id="25" name="Text 23"/>
          <p:cNvSpPr/>
          <p:nvPr/>
        </p:nvSpPr>
        <p:spPr>
          <a:xfrm>
            <a:off x="1463040" y="4937760"/>
            <a:ext cx="7315200" cy="384048"/>
          </a:xfrm>
          <a:prstGeom prst="rect">
            <a:avLst/>
          </a:prstGeom>
          <a:noFill/>
          <a:ln/>
        </p:spPr>
        <p:txBody>
          <a:bodyPr wrap="square" lIns="0" tIns="0" rIns="0" bIns="0" rtlCol="0" anchor="ctr"/>
          <a:lstStyle/>
          <a:p>
            <a:pPr algn="l" indent="0" marL="0">
              <a:buNone/>
            </a:pPr>
            <a:r>
              <a:rPr lang="en-US" sz="1800" b="1" dirty="0">
                <a:solidFill>
                  <a:srgbClr val="5C4033"/>
                </a:solidFill>
                <a:latin typeface="Noto Sans KR" pitchFamily="34" charset="0"/>
                <a:ea typeface="Noto Sans KR" pitchFamily="34" charset="-122"/>
                <a:cs typeface="Noto Sans KR" pitchFamily="34" charset="-120"/>
              </a:rPr>
              <a:t>핵심 인사이트</a:t>
            </a:r>
            <a:endParaRPr lang="en-US" sz="1800" dirty="0"/>
          </a:p>
        </p:txBody>
      </p:sp>
      <p:sp>
        <p:nvSpPr>
          <p:cNvPr id="26" name="Text 24"/>
          <p:cNvSpPr/>
          <p:nvPr/>
        </p:nvSpPr>
        <p:spPr>
          <a:xfrm>
            <a:off x="1463040" y="5321808"/>
            <a:ext cx="7772400" cy="365760"/>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인터페이스의 힘 · 제한의 역설 · 가드레일의 ROI</a:t>
            </a:r>
            <a:endParaRPr lang="en-US" sz="1200" dirty="0"/>
          </a:p>
        </p:txBody>
      </p:sp>
      <p:sp>
        <p:nvSpPr>
          <p:cNvPr id="27" name="Text 25"/>
          <p:cNvSpPr/>
          <p:nvPr/>
        </p:nvSpPr>
        <p:spPr>
          <a:xfrm>
            <a:off x="10180015" y="5029200"/>
            <a:ext cx="1463040" cy="457200"/>
          </a:xfrm>
          <a:prstGeom prst="rect">
            <a:avLst/>
          </a:prstGeom>
          <a:noFill/>
          <a:ln/>
        </p:spPr>
        <p:txBody>
          <a:bodyPr wrap="square" lIns="0" tIns="0" rIns="0" bIns="0" rtlCol="0" anchor="ctr"/>
          <a:lstStyle/>
          <a:p>
            <a:pPr algn="r" indent="0" marL="0">
              <a:buNone/>
            </a:pPr>
            <a:r>
              <a:rPr lang="en-US" sz="1000" i="1" dirty="0">
                <a:solidFill>
                  <a:srgbClr val="A68474"/>
                </a:solidFill>
                <a:latin typeface="Noto Sans KR" pitchFamily="34" charset="0"/>
                <a:ea typeface="Noto Sans KR" pitchFamily="34" charset="-122"/>
                <a:cs typeface="Noto Sans KR" pitchFamily="34" charset="-120"/>
              </a:rPr>
              <a:t>4 slides</a:t>
            </a:r>
            <a:endParaRPr lang="en-US" sz="1000" dirty="0"/>
          </a:p>
        </p:txBody>
      </p:sp>
      <p:sp>
        <p:nvSpPr>
          <p:cNvPr id="28" name="Shape 26"/>
          <p:cNvSpPr/>
          <p:nvPr/>
        </p:nvSpPr>
        <p:spPr>
          <a:xfrm>
            <a:off x="548640" y="5943600"/>
            <a:ext cx="11094415" cy="45720"/>
          </a:xfrm>
          <a:prstGeom prst="rect">
            <a:avLst/>
          </a:prstGeom>
          <a:solidFill>
            <a:srgbClr val="E8DED0"/>
          </a:solidFill>
          <a:ln w="12700">
            <a:solidFill>
              <a:srgbClr val="E8DED0"/>
            </a:solidFill>
            <a:prstDash val="solid"/>
          </a:ln>
        </p:spPr>
      </p:sp>
      <p:sp>
        <p:nvSpPr>
          <p:cNvPr id="29" name="Text 27"/>
          <p:cNvSpPr/>
          <p:nvPr/>
        </p:nvSpPr>
        <p:spPr>
          <a:xfrm>
            <a:off x="548640" y="6080760"/>
            <a:ext cx="11094415" cy="274320"/>
          </a:xfrm>
          <a:prstGeom prst="rect">
            <a:avLst/>
          </a:prstGeom>
          <a:noFill/>
          <a:ln/>
        </p:spPr>
        <p:txBody>
          <a:bodyPr wrap="square" lIns="0" tIns="0" rIns="0" bIns="0" rtlCol="0" anchor="ctr"/>
          <a:lstStyle/>
          <a:p>
            <a:pPr algn="r" indent="0" marL="0">
              <a:buNone/>
            </a:pPr>
            <a:r>
              <a:rPr lang="en-US" sz="1100" i="1" dirty="0">
                <a:solidFill>
                  <a:srgbClr val="A68474"/>
                </a:solidFill>
                <a:latin typeface="Noto Sans KR" pitchFamily="34" charset="0"/>
                <a:ea typeface="Noto Sans KR" pitchFamily="34" charset="-122"/>
                <a:cs typeface="Noto Sans KR" pitchFamily="34" charset="-120"/>
              </a:rPr>
              <a:t>약 25분 · 32 slides · Q&amp;A 포함</a:t>
            </a:r>
            <a:endParaRPr lang="en-US" sz="1100" dirty="0"/>
          </a:p>
        </p:txBody>
      </p:sp>
      <p:sp>
        <p:nvSpPr>
          <p:cNvPr id="31" name="Text 28"/>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MOTIVATION</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3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왜 이 비교가 흥미로운가?</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같은 문제, 다른 해법 — 두 시스템은 완전히 다른 방향으로 설계되었습니다</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194560"/>
            <a:ext cx="11094415" cy="640080"/>
          </a:xfrm>
          <a:prstGeom prst="roundRect">
            <a:avLst>
              <a:gd name="adj" fmla="val 14286"/>
            </a:avLst>
          </a:prstGeom>
          <a:solidFill>
            <a:srgbClr val="FBE9EF"/>
          </a:solidFill>
          <a:ln w="9525">
            <a:solidFill>
              <a:srgbClr val="FADCE3"/>
            </a:solidFill>
            <a:prstDash val="solid"/>
          </a:ln>
        </p:spPr>
      </p:sp>
      <p:sp>
        <p:nvSpPr>
          <p:cNvPr id="9" name="Text 7"/>
          <p:cNvSpPr/>
          <p:nvPr/>
        </p:nvSpPr>
        <p:spPr>
          <a:xfrm>
            <a:off x="822960" y="2194560"/>
            <a:ext cx="10545775" cy="640080"/>
          </a:xfrm>
          <a:prstGeom prst="rect">
            <a:avLst/>
          </a:prstGeom>
          <a:noFill/>
          <a:ln/>
        </p:spPr>
        <p:txBody>
          <a:bodyPr wrap="square" lIns="0" tIns="0" rIns="0" bIns="0" rtlCol="0" anchor="ctr"/>
          <a:lstStyle/>
          <a:p>
            <a:pPr algn="l" indent="0" marL="0">
              <a:buNone/>
            </a:pPr>
            <a:r>
              <a:rPr lang="en-US" sz="1500" i="1" dirty="0">
                <a:solidFill>
                  <a:srgbClr val="A68474"/>
                </a:solidFill>
                <a:latin typeface="Noto Sans KR" pitchFamily="34" charset="0"/>
                <a:ea typeface="Noto Sans KR" pitchFamily="34" charset="-122"/>
                <a:cs typeface="Noto Sans KR" pitchFamily="34" charset="-120"/>
              </a:rPr>
              <a:t>공통 질문:  </a:t>
            </a:r>
            <a:pPr algn="l" indent="0" marL="0">
              <a:buNone/>
            </a:pPr>
            <a:r>
              <a:rPr lang="en-US" sz="1500" b="1" dirty="0">
                <a:solidFill>
                  <a:srgbClr val="5C4033"/>
                </a:solidFill>
                <a:latin typeface="Noto Sans KR" pitchFamily="34" charset="0"/>
                <a:ea typeface="Noto Sans KR" pitchFamily="34" charset="-122"/>
                <a:cs typeface="Noto Sans KR" pitchFamily="34" charset="-120"/>
              </a:rPr>
              <a:t>LLM 에이전트가 복잡한 실제 작업을 어떻게 안정적으로 수행하게 만들 것인가?</a:t>
            </a:r>
            <a:endParaRPr lang="en-US" sz="1500" dirty="0"/>
          </a:p>
        </p:txBody>
      </p:sp>
      <p:sp>
        <p:nvSpPr>
          <p:cNvPr id="10" name="Shape 8"/>
          <p:cNvSpPr/>
          <p:nvPr/>
        </p:nvSpPr>
        <p:spPr>
          <a:xfrm>
            <a:off x="548640" y="3108960"/>
            <a:ext cx="5364328" cy="292608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1" name="Shape 9"/>
          <p:cNvSpPr/>
          <p:nvPr/>
        </p:nvSpPr>
        <p:spPr>
          <a:xfrm>
            <a:off x="548640" y="3108960"/>
            <a:ext cx="73152" cy="2926080"/>
          </a:xfrm>
          <a:prstGeom prst="rect">
            <a:avLst/>
          </a:prstGeom>
          <a:solidFill>
            <a:srgbClr val="F4A6B8"/>
          </a:solidFill>
          <a:ln w="12700">
            <a:solidFill>
              <a:srgbClr val="F4A6B8"/>
            </a:solidFill>
            <a:prstDash val="solid"/>
          </a:ln>
        </p:spPr>
      </p:sp>
      <p:sp>
        <p:nvSpPr>
          <p:cNvPr id="12" name="Text 10"/>
          <p:cNvSpPr/>
          <p:nvPr/>
        </p:nvSpPr>
        <p:spPr>
          <a:xfrm>
            <a:off x="822960" y="3337560"/>
            <a:ext cx="4998568" cy="457200"/>
          </a:xfrm>
          <a:prstGeom prst="rect">
            <a:avLst/>
          </a:prstGeom>
          <a:noFill/>
          <a:ln/>
        </p:spPr>
        <p:txBody>
          <a:bodyPr wrap="square" lIns="0" tIns="0" rIns="0" bIns="0" rtlCol="0" anchor="ctr"/>
          <a:lstStyle/>
          <a:p>
            <a:pPr algn="l" indent="0" marL="0">
              <a:buNone/>
            </a:pPr>
            <a:r>
              <a:rPr lang="en-US" sz="2400" b="1" dirty="0">
                <a:solidFill>
                  <a:srgbClr val="F4A6B8"/>
                </a:solidFill>
                <a:latin typeface="Nanum Myeongjo" pitchFamily="34" charset="0"/>
                <a:ea typeface="Nanum Myeongjo" pitchFamily="34" charset="-122"/>
                <a:cs typeface="Nanum Myeongjo" pitchFamily="34" charset="-120"/>
              </a:rPr>
              <a:t>DeerFlow</a:t>
            </a:r>
            <a:endParaRPr lang="en-US" sz="2400" dirty="0"/>
          </a:p>
        </p:txBody>
      </p:sp>
      <p:sp>
        <p:nvSpPr>
          <p:cNvPr id="13" name="Text 11"/>
          <p:cNvSpPr/>
          <p:nvPr/>
        </p:nvSpPr>
        <p:spPr>
          <a:xfrm>
            <a:off x="822960" y="3840480"/>
            <a:ext cx="4998568" cy="320040"/>
          </a:xfrm>
          <a:prstGeom prst="rect">
            <a:avLst/>
          </a:prstGeom>
          <a:noFill/>
          <a:ln/>
        </p:spPr>
        <p:txBody>
          <a:bodyPr wrap="square" lIns="0" tIns="0" rIns="0" bIns="0" rtlCol="0" anchor="ctr"/>
          <a:lstStyle/>
          <a:p>
            <a:pPr algn="l" indent="0" marL="0">
              <a:buNone/>
            </a:pPr>
            <a:r>
              <a:rPr lang="en-US" sz="1300" i="1" dirty="0">
                <a:solidFill>
                  <a:srgbClr val="7E5D4E"/>
                </a:solidFill>
                <a:latin typeface="Noto Sans KR" pitchFamily="34" charset="0"/>
                <a:ea typeface="Noto Sans KR" pitchFamily="34" charset="-122"/>
                <a:cs typeface="Noto Sans KR" pitchFamily="34" charset="-120"/>
              </a:rPr>
              <a:t>많은 손, 하나의 하네스</a:t>
            </a:r>
            <a:endParaRPr lang="en-US" sz="1300" dirty="0"/>
          </a:p>
        </p:txBody>
      </p:sp>
      <p:sp>
        <p:nvSpPr>
          <p:cNvPr id="14" name="Shape 12"/>
          <p:cNvSpPr/>
          <p:nvPr/>
        </p:nvSpPr>
        <p:spPr>
          <a:xfrm>
            <a:off x="822960" y="4251960"/>
            <a:ext cx="365760" cy="27432"/>
          </a:xfrm>
          <a:prstGeom prst="rect">
            <a:avLst/>
          </a:prstGeom>
          <a:solidFill>
            <a:srgbClr val="F4A6B8"/>
          </a:solidFill>
          <a:ln w="12700">
            <a:solidFill>
              <a:srgbClr val="F4A6B8"/>
            </a:solidFill>
            <a:prstDash val="solid"/>
          </a:ln>
        </p:spPr>
      </p:sp>
      <p:sp>
        <p:nvSpPr>
          <p:cNvPr id="15" name="Text 13"/>
          <p:cNvSpPr/>
          <p:nvPr/>
        </p:nvSpPr>
        <p:spPr>
          <a:xfrm>
            <a:off x="822960" y="4434840"/>
            <a:ext cx="4815688" cy="1554480"/>
          </a:xfrm>
          <a:prstGeom prst="rect">
            <a:avLst/>
          </a:prstGeom>
          <a:noFill/>
          <a:ln/>
        </p:spPr>
        <p:txBody>
          <a:bodyPr wrap="square" lIns="0" tIns="0" rIns="0" bIns="0" rtlCol="0" anchor="t"/>
          <a:lstStyle/>
          <a:p>
            <a:pPr algn="l" indent="0" marL="0">
              <a:spcAft>
                <a:spcPts val="400"/>
              </a:spcAft>
              <a:buNone/>
            </a:pPr>
            <a:r>
              <a:rPr lang="en-US" sz="1400" b="1" dirty="0">
                <a:solidFill>
                  <a:srgbClr val="5C4033"/>
                </a:solidFill>
                <a:latin typeface="Noto Sans KR" pitchFamily="34" charset="0"/>
                <a:ea typeface="Noto Sans KR" pitchFamily="34" charset="-122"/>
                <a:cs typeface="Noto Sans KR" pitchFamily="34" charset="-120"/>
              </a:rPr>
              <a:t>환경을 통제한다.
</a:t>
            </a:r>
            <a:pPr algn="l" indent="0" marL="0">
              <a:spcAft>
                <a:spcPts val="400"/>
              </a:spcAft>
              <a:buNone/>
            </a:pPr>
            <a:r>
              <a:rPr lang="en-US" sz="1250" dirty="0">
                <a:solidFill>
                  <a:srgbClr val="7E5D4E"/>
                </a:solidFill>
                <a:latin typeface="Noto Sans KR" pitchFamily="34" charset="0"/>
                <a:ea typeface="Noto Sans KR" pitchFamily="34" charset="-122"/>
                <a:cs typeface="Noto Sans KR" pitchFamily="34" charset="-120"/>
              </a:rPr>
              <a:t>여러 개의 에이전트, 미들웨어, 메모리, 스킬을 조합해 복잡한 워크플로우를 처리할 수 있는 인프라를 직접 구축한다.</a:t>
            </a:r>
            <a:endParaRPr lang="en-US" sz="1400" dirty="0"/>
          </a:p>
        </p:txBody>
      </p:sp>
      <p:sp>
        <p:nvSpPr>
          <p:cNvPr id="16" name="Shape 14"/>
          <p:cNvSpPr/>
          <p:nvPr/>
        </p:nvSpPr>
        <p:spPr>
          <a:xfrm>
            <a:off x="6278728" y="3108960"/>
            <a:ext cx="5364328" cy="292608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7" name="Shape 15"/>
          <p:cNvSpPr/>
          <p:nvPr/>
        </p:nvSpPr>
        <p:spPr>
          <a:xfrm>
            <a:off x="6278728" y="3108960"/>
            <a:ext cx="73152" cy="2926080"/>
          </a:xfrm>
          <a:prstGeom prst="rect">
            <a:avLst/>
          </a:prstGeom>
          <a:solidFill>
            <a:srgbClr val="F08B51"/>
          </a:solidFill>
          <a:ln w="12700">
            <a:solidFill>
              <a:srgbClr val="F08B51"/>
            </a:solidFill>
            <a:prstDash val="solid"/>
          </a:ln>
        </p:spPr>
      </p:sp>
      <p:sp>
        <p:nvSpPr>
          <p:cNvPr id="18" name="Text 16"/>
          <p:cNvSpPr/>
          <p:nvPr/>
        </p:nvSpPr>
        <p:spPr>
          <a:xfrm>
            <a:off x="6553048" y="3337560"/>
            <a:ext cx="4998568" cy="457200"/>
          </a:xfrm>
          <a:prstGeom prst="rect">
            <a:avLst/>
          </a:prstGeom>
          <a:noFill/>
          <a:ln/>
        </p:spPr>
        <p:txBody>
          <a:bodyPr wrap="square" lIns="0" tIns="0" rIns="0" bIns="0" rtlCol="0" anchor="ctr"/>
          <a:lstStyle/>
          <a:p>
            <a:pPr algn="l" indent="0" marL="0">
              <a:buNone/>
            </a:pPr>
            <a:r>
              <a:rPr lang="en-US" sz="2400" b="1" dirty="0">
                <a:solidFill>
                  <a:srgbClr val="F08B51"/>
                </a:solidFill>
                <a:latin typeface="Nanum Myeongjo" pitchFamily="34" charset="0"/>
                <a:ea typeface="Nanum Myeongjo" pitchFamily="34" charset="-122"/>
                <a:cs typeface="Nanum Myeongjo" pitchFamily="34" charset="-120"/>
              </a:rPr>
              <a:t>SWE-Agent</a:t>
            </a:r>
            <a:endParaRPr lang="en-US" sz="2400" dirty="0"/>
          </a:p>
        </p:txBody>
      </p:sp>
      <p:sp>
        <p:nvSpPr>
          <p:cNvPr id="19" name="Text 17"/>
          <p:cNvSpPr/>
          <p:nvPr/>
        </p:nvSpPr>
        <p:spPr>
          <a:xfrm>
            <a:off x="6553048" y="3840480"/>
            <a:ext cx="4998568" cy="320040"/>
          </a:xfrm>
          <a:prstGeom prst="rect">
            <a:avLst/>
          </a:prstGeom>
          <a:noFill/>
          <a:ln/>
        </p:spPr>
        <p:txBody>
          <a:bodyPr wrap="square" lIns="0" tIns="0" rIns="0" bIns="0" rtlCol="0" anchor="ctr"/>
          <a:lstStyle/>
          <a:p>
            <a:pPr algn="l" indent="0" marL="0">
              <a:buNone/>
            </a:pPr>
            <a:r>
              <a:rPr lang="en-US" sz="1300" i="1" dirty="0">
                <a:solidFill>
                  <a:srgbClr val="7E5D4E"/>
                </a:solidFill>
                <a:latin typeface="Noto Sans KR" pitchFamily="34" charset="0"/>
                <a:ea typeface="Noto Sans KR" pitchFamily="34" charset="-122"/>
                <a:cs typeface="Noto Sans KR" pitchFamily="34" charset="-120"/>
              </a:rPr>
              <a:t>하나의 손, 최적의 도구</a:t>
            </a:r>
            <a:endParaRPr lang="en-US" sz="1300" dirty="0"/>
          </a:p>
        </p:txBody>
      </p:sp>
      <p:sp>
        <p:nvSpPr>
          <p:cNvPr id="20" name="Shape 18"/>
          <p:cNvSpPr/>
          <p:nvPr/>
        </p:nvSpPr>
        <p:spPr>
          <a:xfrm>
            <a:off x="6553048" y="4251960"/>
            <a:ext cx="365760" cy="27432"/>
          </a:xfrm>
          <a:prstGeom prst="rect">
            <a:avLst/>
          </a:prstGeom>
          <a:solidFill>
            <a:srgbClr val="F08B51"/>
          </a:solidFill>
          <a:ln w="12700">
            <a:solidFill>
              <a:srgbClr val="F08B51"/>
            </a:solidFill>
            <a:prstDash val="solid"/>
          </a:ln>
        </p:spPr>
      </p:sp>
      <p:sp>
        <p:nvSpPr>
          <p:cNvPr id="21" name="Text 19"/>
          <p:cNvSpPr/>
          <p:nvPr/>
        </p:nvSpPr>
        <p:spPr>
          <a:xfrm>
            <a:off x="6553048" y="4434840"/>
            <a:ext cx="4815688" cy="155448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인터페이스를 정밀 설계한다.
</a:t>
            </a:r>
            <a:pPr algn="l" indent="0" marL="0">
              <a:buNone/>
            </a:pPr>
            <a:r>
              <a:rPr lang="en-US" sz="1250" dirty="0">
                <a:solidFill>
                  <a:srgbClr val="7E5D4E"/>
                </a:solidFill>
                <a:latin typeface="Noto Sans KR" pitchFamily="34" charset="0"/>
                <a:ea typeface="Noto Sans KR" pitchFamily="34" charset="-122"/>
                <a:cs typeface="Noto Sans KR" pitchFamily="34" charset="-120"/>
              </a:rPr>
              <a:t>LLM 전용 인터페이스(ACI)를 만들어, 단일 에이전트가 기존 도구를 훨씬 효율적으로 다룰 수 있게 한다.</a:t>
            </a:r>
            <a:endParaRPr lang="en-US" sz="1400" dirty="0"/>
          </a:p>
        </p:txBody>
      </p:sp>
      <p:sp>
        <p:nvSpPr>
          <p:cNvPr id="22" name="Text 20"/>
          <p:cNvSpPr/>
          <p:nvPr/>
        </p:nvSpPr>
        <p:spPr>
          <a:xfrm>
            <a:off x="548640" y="6080760"/>
            <a:ext cx="11094415" cy="320040"/>
          </a:xfrm>
          <a:prstGeom prst="rect">
            <a:avLst/>
          </a:prstGeom>
          <a:noFill/>
          <a:ln/>
        </p:spPr>
        <p:txBody>
          <a:bodyPr wrap="square" lIns="0" tIns="0" rIns="0" bIns="0" rtlCol="0" anchor="ctr"/>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  두 접근 모두 옳다. </a:t>
            </a:r>
            <a:pPr algn="l" indent="0" marL="0">
              <a:buNone/>
            </a:pPr>
            <a:r>
              <a:rPr lang="en-US" sz="1200" i="1" dirty="0">
                <a:solidFill>
                  <a:srgbClr val="A68474"/>
                </a:solidFill>
                <a:latin typeface="Noto Sans KR" pitchFamily="34" charset="0"/>
                <a:ea typeface="Noto Sans KR" pitchFamily="34" charset="-122"/>
                <a:cs typeface="Noto Sans KR" pitchFamily="34" charset="-120"/>
              </a:rPr>
              <a:t>무엇을, 언제, 왜 선택할지 이해하는 것이 오늘의 목적입니다.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PART 1  ·  DEERFLOW ARCHITECTURE</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4 / 32</a:t>
            </a:r>
            <a:endParaRPr lang="en-US" sz="1000" dirty="0"/>
          </a:p>
        </p:txBody>
      </p:sp>
      <p:sp>
        <p:nvSpPr>
          <p:cNvPr id="5" name="Shape 3"/>
          <p:cNvSpPr/>
          <p:nvPr/>
        </p:nvSpPr>
        <p:spPr>
          <a:xfrm>
            <a:off x="0" y="502920"/>
            <a:ext cx="2926080" cy="6355080"/>
          </a:xfrm>
          <a:prstGeom prst="rect">
            <a:avLst/>
          </a:prstGeom>
          <a:solidFill>
            <a:srgbClr val="FBE9EF"/>
          </a:solidFill>
          <a:ln w="12700">
            <a:solidFill>
              <a:srgbClr val="FBE9EF"/>
            </a:solidFill>
            <a:prstDash val="solid"/>
          </a:ln>
        </p:spPr>
      </p:sp>
      <p:pic>
        <p:nvPicPr>
          <p:cNvPr id="6" name="Image 0" descr="/sessions/optimistic-amazing-goldberg/presentation/assets/blossom-pink.png">    </p:cNvPr>
          <p:cNvPicPr>
            <a:picLocks noChangeAspect="1"/>
          </p:cNvPicPr>
          <p:nvPr/>
        </p:nvPicPr>
        <p:blipFill>
          <a:blip r:embed="rId1">
            <a:alphaModFix amt="40000"/>
          </a:blip>
          <a:stretch>
            <a:fillRect/>
          </a:stretch>
        </p:blipFill>
        <p:spPr>
          <a:xfrm>
            <a:off x="274320" y="4572000"/>
            <a:ext cx="1645920" cy="1645920"/>
          </a:xfrm>
          <a:prstGeom prst="rect">
            <a:avLst/>
          </a:prstGeom>
        </p:spPr>
      </p:pic>
      <p:pic>
        <p:nvPicPr>
          <p:cNvPr id="7" name="Image 1" descr="/sessions/optimistic-amazing-goldberg/presentation/assets/blossom-pink.png">    </p:cNvPr>
          <p:cNvPicPr>
            <a:picLocks noChangeAspect="1"/>
          </p:cNvPicPr>
          <p:nvPr/>
        </p:nvPicPr>
        <p:blipFill>
          <a:blip r:embed="rId2">
            <a:alphaModFix amt="30000"/>
          </a:blip>
          <a:stretch>
            <a:fillRect/>
          </a:stretch>
        </p:blipFill>
        <p:spPr>
          <a:xfrm>
            <a:off x="1554480" y="457200"/>
            <a:ext cx="1097280" cy="1097280"/>
          </a:xfrm>
          <a:prstGeom prst="rect">
            <a:avLst/>
          </a:prstGeom>
        </p:spPr>
      </p:pic>
      <p:sp>
        <p:nvSpPr>
          <p:cNvPr id="8" name="Text 4"/>
          <p:cNvSpPr/>
          <p:nvPr/>
        </p:nvSpPr>
        <p:spPr>
          <a:xfrm>
            <a:off x="457200" y="2194560"/>
            <a:ext cx="2286000" cy="365760"/>
          </a:xfrm>
          <a:prstGeom prst="rect">
            <a:avLst/>
          </a:prstGeom>
          <a:noFill/>
          <a:ln/>
        </p:spPr>
        <p:txBody>
          <a:bodyPr wrap="square" lIns="0" tIns="0" rIns="0" bIns="0" rtlCol="0" anchor="ctr"/>
          <a:lstStyle/>
          <a:p>
            <a:pPr algn="l" indent="0" marL="0">
              <a:buNone/>
            </a:pPr>
            <a:r>
              <a:rPr lang="en-US" sz="1400" b="1" spc="600" kern="0" dirty="0">
                <a:solidFill>
                  <a:srgbClr val="F4A6B8"/>
                </a:solidFill>
                <a:latin typeface="Noto Sans KR" pitchFamily="34" charset="0"/>
                <a:ea typeface="Noto Sans KR" pitchFamily="34" charset="-122"/>
                <a:cs typeface="Noto Sans KR" pitchFamily="34" charset="-120"/>
              </a:rPr>
              <a:t>PART  1</a:t>
            </a:r>
            <a:endParaRPr lang="en-US" sz="1400" dirty="0"/>
          </a:p>
        </p:txBody>
      </p:sp>
      <p:sp>
        <p:nvSpPr>
          <p:cNvPr id="9" name="Text 5"/>
          <p:cNvSpPr/>
          <p:nvPr/>
        </p:nvSpPr>
        <p:spPr>
          <a:xfrm>
            <a:off x="457200" y="2651760"/>
            <a:ext cx="2286000" cy="731520"/>
          </a:xfrm>
          <a:prstGeom prst="rect">
            <a:avLst/>
          </a:prstGeom>
          <a:noFill/>
          <a:ln/>
        </p:spPr>
        <p:txBody>
          <a:bodyPr wrap="square" lIns="0" tIns="0" rIns="0" bIns="0" rtlCol="0" anchor="ctr"/>
          <a:lstStyle/>
          <a:p>
            <a:pPr algn="l" indent="0" marL="0">
              <a:buNone/>
            </a:pPr>
            <a:r>
              <a:rPr lang="en-US" sz="4000" b="1" dirty="0">
                <a:solidFill>
                  <a:srgbClr val="5C4033"/>
                </a:solidFill>
                <a:latin typeface="Nanum Myeongjo" pitchFamily="34" charset="0"/>
                <a:ea typeface="Nanum Myeongjo" pitchFamily="34" charset="-122"/>
                <a:cs typeface="Nanum Myeongjo" pitchFamily="34" charset="-120"/>
              </a:rPr>
              <a:t>DeerFlow</a:t>
            </a:r>
            <a:endParaRPr lang="en-US" sz="4000" dirty="0"/>
          </a:p>
        </p:txBody>
      </p:sp>
      <p:sp>
        <p:nvSpPr>
          <p:cNvPr id="10" name="Text 6"/>
          <p:cNvSpPr/>
          <p:nvPr/>
        </p:nvSpPr>
        <p:spPr>
          <a:xfrm>
            <a:off x="457200" y="3520440"/>
            <a:ext cx="2286000" cy="822960"/>
          </a:xfrm>
          <a:prstGeom prst="rect">
            <a:avLst/>
          </a:prstGeom>
          <a:noFill/>
          <a:ln/>
        </p:spPr>
        <p:txBody>
          <a:bodyPr wrap="square" lIns="0" tIns="0" rIns="0" bIns="0" rtlCol="0" anchor="t"/>
          <a:lstStyle/>
          <a:p>
            <a:pPr algn="l" indent="0" marL="0">
              <a:buNone/>
            </a:pPr>
            <a:r>
              <a:rPr lang="en-US" sz="1800" b="1" dirty="0">
                <a:solidFill>
                  <a:srgbClr val="5C4033"/>
                </a:solidFill>
                <a:latin typeface="Nanum Myeongjo" pitchFamily="34" charset="0"/>
                <a:ea typeface="Nanum Myeongjo" pitchFamily="34" charset="-122"/>
                <a:cs typeface="Nanum Myeongjo" pitchFamily="34" charset="-120"/>
              </a:rPr>
              <a:t>"많은 손,
</a:t>
            </a:r>
            <a:pPr algn="l" indent="0" marL="0">
              <a:buNone/>
            </a:pPr>
            <a:r>
              <a:rPr lang="en-US" sz="1800" b="1" dirty="0">
                <a:solidFill>
                  <a:srgbClr val="F4A6B8"/>
                </a:solidFill>
                <a:latin typeface="Nanum Myeongjo" pitchFamily="34" charset="0"/>
                <a:ea typeface="Nanum Myeongjo" pitchFamily="34" charset="-122"/>
                <a:cs typeface="Nanum Myeongjo" pitchFamily="34" charset="-120"/>
              </a:rPr>
              <a:t>  하나의 하네스"</a:t>
            </a:r>
            <a:endParaRPr lang="en-US" sz="1800" dirty="0"/>
          </a:p>
        </p:txBody>
      </p:sp>
      <p:sp>
        <p:nvSpPr>
          <p:cNvPr id="11" name="Text 7"/>
          <p:cNvSpPr/>
          <p:nvPr/>
        </p:nvSpPr>
        <p:spPr>
          <a:xfrm>
            <a:off x="3291840" y="640080"/>
            <a:ext cx="8351215" cy="502920"/>
          </a:xfrm>
          <a:prstGeom prst="rect">
            <a:avLst/>
          </a:prstGeom>
          <a:noFill/>
          <a:ln/>
        </p:spPr>
        <p:txBody>
          <a:bodyPr wrap="square" lIns="0" tIns="0" rIns="0" bIns="0" rtlCol="0" anchor="ctr"/>
          <a:lstStyle/>
          <a:p>
            <a:pPr algn="l" indent="0" marL="0">
              <a:buNone/>
            </a:pPr>
            <a:r>
              <a:rPr lang="en-US" sz="2600" b="1" dirty="0">
                <a:solidFill>
                  <a:srgbClr val="5C4033"/>
                </a:solidFill>
                <a:latin typeface="Nanum Myeongjo" pitchFamily="34" charset="0"/>
                <a:ea typeface="Nanum Myeongjo" pitchFamily="34" charset="-122"/>
                <a:cs typeface="Nanum Myeongjo" pitchFamily="34" charset="-120"/>
              </a:rPr>
              <a:t>전체 아키텍처</a:t>
            </a:r>
            <a:endParaRPr lang="en-US" sz="2600" dirty="0"/>
          </a:p>
        </p:txBody>
      </p:sp>
      <p:sp>
        <p:nvSpPr>
          <p:cNvPr id="12" name="Text 8"/>
          <p:cNvSpPr/>
          <p:nvPr/>
        </p:nvSpPr>
        <p:spPr>
          <a:xfrm>
            <a:off x="3291840" y="1143000"/>
            <a:ext cx="8351215" cy="320040"/>
          </a:xfrm>
          <a:prstGeom prst="rect">
            <a:avLst/>
          </a:prstGeom>
          <a:noFill/>
          <a:ln/>
        </p:spPr>
        <p:txBody>
          <a:bodyPr wrap="square" lIns="0" tIns="0" rIns="0" bIns="0" rtlCol="0" anchor="ctr"/>
          <a:lstStyle/>
          <a:p>
            <a:pPr algn="l" indent="0" marL="0">
              <a:buNone/>
            </a:pPr>
            <a:r>
              <a:rPr lang="en-US" sz="1300" dirty="0">
                <a:solidFill>
                  <a:srgbClr val="7E5D4E"/>
                </a:solidFill>
                <a:latin typeface="Noto Sans KR" pitchFamily="34" charset="0"/>
                <a:ea typeface="Noto Sans KR" pitchFamily="34" charset="-122"/>
                <a:cs typeface="Noto Sans KR" pitchFamily="34" charset="-120"/>
              </a:rPr>
              <a:t>8개 구조가 유기적으로 동작하여 복잡한 에이전트 워크플로우를 처리</a:t>
            </a:r>
            <a:endParaRPr lang="en-US" sz="1300" dirty="0"/>
          </a:p>
        </p:txBody>
      </p:sp>
      <p:sp>
        <p:nvSpPr>
          <p:cNvPr id="13" name="Shape 9"/>
          <p:cNvSpPr/>
          <p:nvPr/>
        </p:nvSpPr>
        <p:spPr>
          <a:xfrm>
            <a:off x="3291840" y="1481328"/>
            <a:ext cx="457200" cy="36576"/>
          </a:xfrm>
          <a:prstGeom prst="rect">
            <a:avLst/>
          </a:prstGeom>
          <a:solidFill>
            <a:srgbClr val="F4A6B8"/>
          </a:solidFill>
          <a:ln w="12700">
            <a:solidFill>
              <a:srgbClr val="F4A6B8"/>
            </a:solidFill>
            <a:prstDash val="solid"/>
          </a:ln>
        </p:spPr>
      </p:sp>
      <p:sp>
        <p:nvSpPr>
          <p:cNvPr id="14" name="Shape 10"/>
          <p:cNvSpPr/>
          <p:nvPr/>
        </p:nvSpPr>
        <p:spPr>
          <a:xfrm>
            <a:off x="3291840" y="1737360"/>
            <a:ext cx="8351215" cy="548640"/>
          </a:xfrm>
          <a:prstGeom prst="roundRect">
            <a:avLst>
              <a:gd name="adj" fmla="val 13333"/>
            </a:avLst>
          </a:prstGeom>
          <a:solidFill>
            <a:srgbClr val="5C4033"/>
          </a:solidFill>
          <a:ln w="12700">
            <a:solidFill>
              <a:srgbClr val="5C4033"/>
            </a:solidFill>
            <a:prstDash val="solid"/>
          </a:ln>
        </p:spPr>
      </p:sp>
      <p:sp>
        <p:nvSpPr>
          <p:cNvPr id="15" name="Text 11"/>
          <p:cNvSpPr/>
          <p:nvPr/>
        </p:nvSpPr>
        <p:spPr>
          <a:xfrm>
            <a:off x="3291840" y="1737360"/>
            <a:ext cx="8351215" cy="54864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Noto Sans KR" pitchFamily="34" charset="0"/>
                <a:ea typeface="Noto Sans KR" pitchFamily="34" charset="-122"/>
                <a:cs typeface="Noto Sans KR" pitchFamily="34" charset="-120"/>
              </a:rPr>
              <a:t>Nginx Reverse Proxy  ·  Port 2026</a:t>
            </a:r>
            <a:endParaRPr lang="en-US" sz="1300" dirty="0"/>
          </a:p>
        </p:txBody>
      </p:sp>
      <p:sp>
        <p:nvSpPr>
          <p:cNvPr id="16" name="Shape 12"/>
          <p:cNvSpPr/>
          <p:nvPr/>
        </p:nvSpPr>
        <p:spPr>
          <a:xfrm>
            <a:off x="3291840" y="2468880"/>
            <a:ext cx="4038448" cy="2926080"/>
          </a:xfrm>
          <a:prstGeom prst="roundRect">
            <a:avLst>
              <a:gd name="adj" fmla="val 2500"/>
            </a:avLst>
          </a:prstGeom>
          <a:solidFill>
            <a:srgbClr val="FFFFFF"/>
          </a:solidFill>
          <a:ln w="19050">
            <a:solidFill>
              <a:srgbClr val="F4A6B8"/>
            </a:solidFill>
            <a:prstDash val="solid"/>
          </a:ln>
        </p:spPr>
      </p:sp>
      <p:sp>
        <p:nvSpPr>
          <p:cNvPr id="17" name="Text 13"/>
          <p:cNvSpPr/>
          <p:nvPr/>
        </p:nvSpPr>
        <p:spPr>
          <a:xfrm>
            <a:off x="3474720" y="2606040"/>
            <a:ext cx="3672688" cy="365760"/>
          </a:xfrm>
          <a:prstGeom prst="rect">
            <a:avLst/>
          </a:prstGeom>
          <a:noFill/>
          <a:ln/>
        </p:spPr>
        <p:txBody>
          <a:bodyPr wrap="square" lIns="0" tIns="0" rIns="0" bIns="0" rtlCol="0" anchor="ctr"/>
          <a:lstStyle/>
          <a:p>
            <a:pPr algn="l" indent="0" marL="0">
              <a:buNone/>
            </a:pPr>
            <a:r>
              <a:rPr lang="en-US" sz="1400" b="1" dirty="0">
                <a:solidFill>
                  <a:srgbClr val="F4A6B8"/>
                </a:solidFill>
                <a:latin typeface="Noto Sans KR" pitchFamily="34" charset="0"/>
                <a:ea typeface="Noto Sans KR" pitchFamily="34" charset="-122"/>
                <a:cs typeface="Noto Sans KR" pitchFamily="34" charset="-120"/>
              </a:rPr>
              <a:t>LangGraph Server</a:t>
            </a:r>
            <a:endParaRPr lang="en-US" sz="1400" dirty="0"/>
          </a:p>
        </p:txBody>
      </p:sp>
      <p:sp>
        <p:nvSpPr>
          <p:cNvPr id="18" name="Text 14"/>
          <p:cNvSpPr/>
          <p:nvPr/>
        </p:nvSpPr>
        <p:spPr>
          <a:xfrm>
            <a:off x="3474720" y="2971800"/>
            <a:ext cx="3672688" cy="274320"/>
          </a:xfrm>
          <a:prstGeom prst="rect">
            <a:avLst/>
          </a:prstGeom>
          <a:noFill/>
          <a:ln/>
        </p:spPr>
        <p:txBody>
          <a:bodyPr wrap="square" lIns="0" tIns="0" rIns="0" bIns="0" rtlCol="0" anchor="ctr"/>
          <a:lstStyle/>
          <a:p>
            <a:pPr algn="l" indent="0" marL="0">
              <a:buNone/>
            </a:pPr>
            <a:r>
              <a:rPr lang="en-US" sz="1000" dirty="0">
                <a:solidFill>
                  <a:srgbClr val="A68474"/>
                </a:solidFill>
                <a:latin typeface="Noto Sans KR" pitchFamily="34" charset="0"/>
                <a:ea typeface="Noto Sans KR" pitchFamily="34" charset="-122"/>
                <a:cs typeface="Noto Sans KR" pitchFamily="34" charset="-120"/>
              </a:rPr>
              <a:t>Port 2024  ·  Stateful Workflow</a:t>
            </a:r>
            <a:endParaRPr lang="en-US" sz="1000" dirty="0"/>
          </a:p>
        </p:txBody>
      </p:sp>
      <p:sp>
        <p:nvSpPr>
          <p:cNvPr id="19" name="Shape 15"/>
          <p:cNvSpPr/>
          <p:nvPr/>
        </p:nvSpPr>
        <p:spPr>
          <a:xfrm>
            <a:off x="3520440" y="3337560"/>
            <a:ext cx="3581248" cy="731520"/>
          </a:xfrm>
          <a:prstGeom prst="roundRect">
            <a:avLst>
              <a:gd name="adj" fmla="val 7500"/>
            </a:avLst>
          </a:prstGeom>
          <a:solidFill>
            <a:srgbClr val="FBE9EF"/>
          </a:solidFill>
          <a:ln w="6350">
            <a:solidFill>
              <a:srgbClr val="F4A6B8"/>
            </a:solidFill>
            <a:prstDash val="solid"/>
          </a:ln>
        </p:spPr>
      </p:sp>
      <p:sp>
        <p:nvSpPr>
          <p:cNvPr id="20" name="Text 16"/>
          <p:cNvSpPr/>
          <p:nvPr/>
        </p:nvSpPr>
        <p:spPr>
          <a:xfrm>
            <a:off x="3520440" y="3337560"/>
            <a:ext cx="3581248" cy="731520"/>
          </a:xfrm>
          <a:prstGeom prst="rect">
            <a:avLst/>
          </a:prstGeom>
          <a:noFill/>
          <a:ln/>
        </p:spPr>
        <p:txBody>
          <a:bodyPr wrap="square" lIns="0" tIns="0" rIns="0" bIns="0" rtlCol="0" anchor="ctr"/>
          <a:lstStyle/>
          <a:p>
            <a:pPr algn="ctr" indent="0" marL="0">
              <a:buNone/>
            </a:pPr>
            <a:r>
              <a:rPr lang="en-US" sz="1200" b="1" dirty="0">
                <a:solidFill>
                  <a:srgbClr val="5C4033"/>
                </a:solidFill>
                <a:latin typeface="Noto Sans KR" pitchFamily="34" charset="0"/>
                <a:ea typeface="Noto Sans KR" pitchFamily="34" charset="-122"/>
                <a:cs typeface="Noto Sans KR" pitchFamily="34" charset="-120"/>
              </a:rPr>
              <a:t>Lead Agent
</a:t>
            </a:r>
            <a:pPr algn="ctr" indent="0" marL="0">
              <a:buNone/>
            </a:pPr>
            <a:r>
              <a:rPr lang="en-US" sz="950" dirty="0">
                <a:solidFill>
                  <a:srgbClr val="A68474"/>
                </a:solidFill>
                <a:latin typeface="Noto Sans KR" pitchFamily="34" charset="0"/>
                <a:ea typeface="Noto Sans KR" pitchFamily="34" charset="-122"/>
                <a:cs typeface="Noto Sans KR" pitchFamily="34" charset="-120"/>
              </a:rPr>
              <a:t>Middleware × 11  ·  Subagent ≤ 3</a:t>
            </a:r>
            <a:endParaRPr lang="en-US" sz="1200" dirty="0"/>
          </a:p>
        </p:txBody>
      </p:sp>
      <p:sp>
        <p:nvSpPr>
          <p:cNvPr id="21" name="Shape 17"/>
          <p:cNvSpPr/>
          <p:nvPr/>
        </p:nvSpPr>
        <p:spPr>
          <a:xfrm>
            <a:off x="3520440" y="4160520"/>
            <a:ext cx="3581248" cy="457200"/>
          </a:xfrm>
          <a:prstGeom prst="roundRect">
            <a:avLst>
              <a:gd name="adj" fmla="val 12000"/>
            </a:avLst>
          </a:prstGeom>
          <a:solidFill>
            <a:srgbClr val="FDF8F3"/>
          </a:solidFill>
          <a:ln w="6350">
            <a:solidFill>
              <a:srgbClr val="A68474"/>
            </a:solidFill>
            <a:prstDash val="solid"/>
          </a:ln>
        </p:spPr>
      </p:sp>
      <p:sp>
        <p:nvSpPr>
          <p:cNvPr id="22" name="Text 18"/>
          <p:cNvSpPr/>
          <p:nvPr/>
        </p:nvSpPr>
        <p:spPr>
          <a:xfrm>
            <a:off x="3520440" y="4160520"/>
            <a:ext cx="3581248" cy="457200"/>
          </a:xfrm>
          <a:prstGeom prst="rect">
            <a:avLst/>
          </a:prstGeom>
          <a:noFill/>
          <a:ln/>
        </p:spPr>
        <p:txBody>
          <a:bodyPr wrap="square" lIns="0" tIns="0" rIns="0" bIns="0" rtlCol="0" anchor="ctr"/>
          <a:lstStyle/>
          <a:p>
            <a:pPr algn="ctr" indent="0" marL="0">
              <a:buNone/>
            </a:pPr>
            <a:r>
              <a:rPr lang="en-US" sz="1000" dirty="0">
                <a:solidFill>
                  <a:srgbClr val="7E5D4E"/>
                </a:solidFill>
                <a:latin typeface="Noto Sans KR" pitchFamily="34" charset="0"/>
                <a:ea typeface="Noto Sans KR" pitchFamily="34" charset="-122"/>
                <a:cs typeface="Noto Sans KR" pitchFamily="34" charset="-120"/>
              </a:rPr>
              <a:t>Sandbox  ·  Virtual Paths</a:t>
            </a:r>
            <a:endParaRPr lang="en-US" sz="1000" dirty="0"/>
          </a:p>
        </p:txBody>
      </p:sp>
      <p:sp>
        <p:nvSpPr>
          <p:cNvPr id="23" name="Shape 19"/>
          <p:cNvSpPr/>
          <p:nvPr/>
        </p:nvSpPr>
        <p:spPr>
          <a:xfrm>
            <a:off x="3520440" y="4709160"/>
            <a:ext cx="1744904" cy="457200"/>
          </a:xfrm>
          <a:prstGeom prst="roundRect">
            <a:avLst>
              <a:gd name="adj" fmla="val 12000"/>
            </a:avLst>
          </a:prstGeom>
          <a:solidFill>
            <a:srgbClr val="FDF8F3"/>
          </a:solidFill>
          <a:ln w="6350">
            <a:solidFill>
              <a:srgbClr val="A68474"/>
            </a:solidFill>
            <a:prstDash val="solid"/>
          </a:ln>
        </p:spPr>
      </p:sp>
      <p:sp>
        <p:nvSpPr>
          <p:cNvPr id="24" name="Text 20"/>
          <p:cNvSpPr/>
          <p:nvPr/>
        </p:nvSpPr>
        <p:spPr>
          <a:xfrm>
            <a:off x="3520440" y="4709160"/>
            <a:ext cx="1744904" cy="457200"/>
          </a:xfrm>
          <a:prstGeom prst="rect">
            <a:avLst/>
          </a:prstGeom>
          <a:noFill/>
          <a:ln/>
        </p:spPr>
        <p:txBody>
          <a:bodyPr wrap="square" lIns="0" tIns="0" rIns="0" bIns="0" rtlCol="0" anchor="ctr"/>
          <a:lstStyle/>
          <a:p>
            <a:pPr algn="ctr" indent="0" marL="0">
              <a:buNone/>
            </a:pPr>
            <a:r>
              <a:rPr lang="en-US" sz="1000" dirty="0">
                <a:solidFill>
                  <a:srgbClr val="7E5D4E"/>
                </a:solidFill>
                <a:latin typeface="Noto Sans KR" pitchFamily="34" charset="0"/>
                <a:ea typeface="Noto Sans KR" pitchFamily="34" charset="-122"/>
                <a:cs typeface="Noto Sans KR" pitchFamily="34" charset="-120"/>
              </a:rPr>
              <a:t>Memory</a:t>
            </a:r>
            <a:endParaRPr lang="en-US" sz="1000" dirty="0"/>
          </a:p>
        </p:txBody>
      </p:sp>
      <p:sp>
        <p:nvSpPr>
          <p:cNvPr id="25" name="Shape 21"/>
          <p:cNvSpPr/>
          <p:nvPr/>
        </p:nvSpPr>
        <p:spPr>
          <a:xfrm>
            <a:off x="5356784" y="4709160"/>
            <a:ext cx="1744904" cy="457200"/>
          </a:xfrm>
          <a:prstGeom prst="roundRect">
            <a:avLst>
              <a:gd name="adj" fmla="val 12000"/>
            </a:avLst>
          </a:prstGeom>
          <a:solidFill>
            <a:srgbClr val="FDF8F3"/>
          </a:solidFill>
          <a:ln w="6350">
            <a:solidFill>
              <a:srgbClr val="A68474"/>
            </a:solidFill>
            <a:prstDash val="solid"/>
          </a:ln>
        </p:spPr>
      </p:sp>
      <p:sp>
        <p:nvSpPr>
          <p:cNvPr id="26" name="Text 22"/>
          <p:cNvSpPr/>
          <p:nvPr/>
        </p:nvSpPr>
        <p:spPr>
          <a:xfrm>
            <a:off x="5356784" y="4709160"/>
            <a:ext cx="1744904" cy="457200"/>
          </a:xfrm>
          <a:prstGeom prst="rect">
            <a:avLst/>
          </a:prstGeom>
          <a:noFill/>
          <a:ln/>
        </p:spPr>
        <p:txBody>
          <a:bodyPr wrap="square" lIns="0" tIns="0" rIns="0" bIns="0" rtlCol="0" anchor="ctr"/>
          <a:lstStyle/>
          <a:p>
            <a:pPr algn="ctr" indent="0" marL="0">
              <a:buNone/>
            </a:pPr>
            <a:r>
              <a:rPr lang="en-US" sz="1000" dirty="0">
                <a:solidFill>
                  <a:srgbClr val="7E5D4E"/>
                </a:solidFill>
                <a:latin typeface="Noto Sans KR" pitchFamily="34" charset="0"/>
                <a:ea typeface="Noto Sans KR" pitchFamily="34" charset="-122"/>
                <a:cs typeface="Noto Sans KR" pitchFamily="34" charset="-120"/>
              </a:rPr>
              <a:t>Skill</a:t>
            </a:r>
            <a:endParaRPr lang="en-US" sz="1000" dirty="0"/>
          </a:p>
        </p:txBody>
      </p:sp>
      <p:sp>
        <p:nvSpPr>
          <p:cNvPr id="27" name="Shape 23"/>
          <p:cNvSpPr/>
          <p:nvPr/>
        </p:nvSpPr>
        <p:spPr>
          <a:xfrm>
            <a:off x="7604608" y="2468880"/>
            <a:ext cx="4038448" cy="2926080"/>
          </a:xfrm>
          <a:prstGeom prst="roundRect">
            <a:avLst>
              <a:gd name="adj" fmla="val 2500"/>
            </a:avLst>
          </a:prstGeom>
          <a:solidFill>
            <a:srgbClr val="FFFFFF"/>
          </a:solidFill>
          <a:ln w="19050">
            <a:solidFill>
              <a:srgbClr val="F08B51"/>
            </a:solidFill>
            <a:prstDash val="solid"/>
          </a:ln>
        </p:spPr>
      </p:sp>
      <p:sp>
        <p:nvSpPr>
          <p:cNvPr id="28" name="Text 24"/>
          <p:cNvSpPr/>
          <p:nvPr/>
        </p:nvSpPr>
        <p:spPr>
          <a:xfrm>
            <a:off x="7787488" y="2606040"/>
            <a:ext cx="3672688" cy="365760"/>
          </a:xfrm>
          <a:prstGeom prst="rect">
            <a:avLst/>
          </a:prstGeom>
          <a:noFill/>
          <a:ln/>
        </p:spPr>
        <p:txBody>
          <a:bodyPr wrap="square" lIns="0" tIns="0" rIns="0" bIns="0" rtlCol="0" anchor="ctr"/>
          <a:lstStyle/>
          <a:p>
            <a:pPr algn="l" indent="0" marL="0">
              <a:buNone/>
            </a:pPr>
            <a:r>
              <a:rPr lang="en-US" sz="1400" b="1" dirty="0">
                <a:solidFill>
                  <a:srgbClr val="F08B51"/>
                </a:solidFill>
                <a:latin typeface="Noto Sans KR" pitchFamily="34" charset="0"/>
                <a:ea typeface="Noto Sans KR" pitchFamily="34" charset="-122"/>
                <a:cs typeface="Noto Sans KR" pitchFamily="34" charset="-120"/>
              </a:rPr>
              <a:t>Gateway API</a:t>
            </a:r>
            <a:endParaRPr lang="en-US" sz="1400" dirty="0"/>
          </a:p>
        </p:txBody>
      </p:sp>
      <p:sp>
        <p:nvSpPr>
          <p:cNvPr id="29" name="Text 25"/>
          <p:cNvSpPr/>
          <p:nvPr/>
        </p:nvSpPr>
        <p:spPr>
          <a:xfrm>
            <a:off x="7787488" y="2971800"/>
            <a:ext cx="3672688" cy="274320"/>
          </a:xfrm>
          <a:prstGeom prst="rect">
            <a:avLst/>
          </a:prstGeom>
          <a:noFill/>
          <a:ln/>
        </p:spPr>
        <p:txBody>
          <a:bodyPr wrap="square" lIns="0" tIns="0" rIns="0" bIns="0" rtlCol="0" anchor="ctr"/>
          <a:lstStyle/>
          <a:p>
            <a:pPr algn="l" indent="0" marL="0">
              <a:buNone/>
            </a:pPr>
            <a:r>
              <a:rPr lang="en-US" sz="1000" dirty="0">
                <a:solidFill>
                  <a:srgbClr val="A68474"/>
                </a:solidFill>
                <a:latin typeface="Noto Sans KR" pitchFamily="34" charset="0"/>
                <a:ea typeface="Noto Sans KR" pitchFamily="34" charset="-122"/>
                <a:cs typeface="Noto Sans KR" pitchFamily="34" charset="-120"/>
              </a:rPr>
              <a:t>Port 8001  ·  REST (stateless)</a:t>
            </a:r>
            <a:endParaRPr lang="en-US" sz="1000" dirty="0"/>
          </a:p>
        </p:txBody>
      </p:sp>
      <p:sp>
        <p:nvSpPr>
          <p:cNvPr id="30" name="Shape 26"/>
          <p:cNvSpPr/>
          <p:nvPr/>
        </p:nvSpPr>
        <p:spPr>
          <a:xfrm>
            <a:off x="7833208" y="3383280"/>
            <a:ext cx="45720" cy="292608"/>
          </a:xfrm>
          <a:prstGeom prst="rect">
            <a:avLst/>
          </a:prstGeom>
          <a:solidFill>
            <a:srgbClr val="F08B51"/>
          </a:solidFill>
          <a:ln w="12700">
            <a:solidFill>
              <a:srgbClr val="F08B51"/>
            </a:solidFill>
            <a:prstDash val="solid"/>
          </a:ln>
        </p:spPr>
      </p:sp>
      <p:sp>
        <p:nvSpPr>
          <p:cNvPr id="31" name="Text 27"/>
          <p:cNvSpPr/>
          <p:nvPr/>
        </p:nvSpPr>
        <p:spPr>
          <a:xfrm>
            <a:off x="7970368" y="3383280"/>
            <a:ext cx="3489808" cy="292608"/>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/api/models</a:t>
            </a:r>
            <a:endParaRPr lang="en-US" sz="1100" dirty="0"/>
          </a:p>
        </p:txBody>
      </p:sp>
      <p:sp>
        <p:nvSpPr>
          <p:cNvPr id="32" name="Shape 28"/>
          <p:cNvSpPr/>
          <p:nvPr/>
        </p:nvSpPr>
        <p:spPr>
          <a:xfrm>
            <a:off x="7833208" y="3749040"/>
            <a:ext cx="45720" cy="292608"/>
          </a:xfrm>
          <a:prstGeom prst="rect">
            <a:avLst/>
          </a:prstGeom>
          <a:solidFill>
            <a:srgbClr val="F08B51"/>
          </a:solidFill>
          <a:ln w="12700">
            <a:solidFill>
              <a:srgbClr val="F08B51"/>
            </a:solidFill>
            <a:prstDash val="solid"/>
          </a:ln>
        </p:spPr>
      </p:sp>
      <p:sp>
        <p:nvSpPr>
          <p:cNvPr id="33" name="Text 29"/>
          <p:cNvSpPr/>
          <p:nvPr/>
        </p:nvSpPr>
        <p:spPr>
          <a:xfrm>
            <a:off x="7970368" y="3749040"/>
            <a:ext cx="3489808" cy="292608"/>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/api/mcp</a:t>
            </a:r>
            <a:endParaRPr lang="en-US" sz="1100" dirty="0"/>
          </a:p>
        </p:txBody>
      </p:sp>
      <p:sp>
        <p:nvSpPr>
          <p:cNvPr id="34" name="Shape 30"/>
          <p:cNvSpPr/>
          <p:nvPr/>
        </p:nvSpPr>
        <p:spPr>
          <a:xfrm>
            <a:off x="7833208" y="4114800"/>
            <a:ext cx="45720" cy="292608"/>
          </a:xfrm>
          <a:prstGeom prst="rect">
            <a:avLst/>
          </a:prstGeom>
          <a:solidFill>
            <a:srgbClr val="F08B51"/>
          </a:solidFill>
          <a:ln w="12700">
            <a:solidFill>
              <a:srgbClr val="F08B51"/>
            </a:solidFill>
            <a:prstDash val="solid"/>
          </a:ln>
        </p:spPr>
      </p:sp>
      <p:sp>
        <p:nvSpPr>
          <p:cNvPr id="35" name="Text 31"/>
          <p:cNvSpPr/>
          <p:nvPr/>
        </p:nvSpPr>
        <p:spPr>
          <a:xfrm>
            <a:off x="7970368" y="4114800"/>
            <a:ext cx="3489808" cy="292608"/>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/api/skills</a:t>
            </a:r>
            <a:endParaRPr lang="en-US" sz="1100" dirty="0"/>
          </a:p>
        </p:txBody>
      </p:sp>
      <p:sp>
        <p:nvSpPr>
          <p:cNvPr id="36" name="Shape 32"/>
          <p:cNvSpPr/>
          <p:nvPr/>
        </p:nvSpPr>
        <p:spPr>
          <a:xfrm>
            <a:off x="7833208" y="4480560"/>
            <a:ext cx="45720" cy="292608"/>
          </a:xfrm>
          <a:prstGeom prst="rect">
            <a:avLst/>
          </a:prstGeom>
          <a:solidFill>
            <a:srgbClr val="F08B51"/>
          </a:solidFill>
          <a:ln w="12700">
            <a:solidFill>
              <a:srgbClr val="F08B51"/>
            </a:solidFill>
            <a:prstDash val="solid"/>
          </a:ln>
        </p:spPr>
      </p:sp>
      <p:sp>
        <p:nvSpPr>
          <p:cNvPr id="37" name="Text 33"/>
          <p:cNvSpPr/>
          <p:nvPr/>
        </p:nvSpPr>
        <p:spPr>
          <a:xfrm>
            <a:off x="7970368" y="4480560"/>
            <a:ext cx="3489808" cy="292608"/>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/api/memory</a:t>
            </a:r>
            <a:endParaRPr lang="en-US" sz="1100" dirty="0"/>
          </a:p>
        </p:txBody>
      </p:sp>
      <p:sp>
        <p:nvSpPr>
          <p:cNvPr id="38" name="Shape 34"/>
          <p:cNvSpPr/>
          <p:nvPr/>
        </p:nvSpPr>
        <p:spPr>
          <a:xfrm>
            <a:off x="7833208" y="4846320"/>
            <a:ext cx="45720" cy="292608"/>
          </a:xfrm>
          <a:prstGeom prst="rect">
            <a:avLst/>
          </a:prstGeom>
          <a:solidFill>
            <a:srgbClr val="F08B51"/>
          </a:solidFill>
          <a:ln w="12700">
            <a:solidFill>
              <a:srgbClr val="F08B51"/>
            </a:solidFill>
            <a:prstDash val="solid"/>
          </a:ln>
        </p:spPr>
      </p:sp>
      <p:sp>
        <p:nvSpPr>
          <p:cNvPr id="39" name="Text 35"/>
          <p:cNvSpPr/>
          <p:nvPr/>
        </p:nvSpPr>
        <p:spPr>
          <a:xfrm>
            <a:off x="7970368" y="4846320"/>
            <a:ext cx="3489808" cy="292608"/>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/api/threads/{id}/uploads</a:t>
            </a:r>
            <a:endParaRPr lang="en-US" sz="1100" dirty="0"/>
          </a:p>
        </p:txBody>
      </p:sp>
      <p:sp>
        <p:nvSpPr>
          <p:cNvPr id="40" name="Text 36"/>
          <p:cNvSpPr/>
          <p:nvPr/>
        </p:nvSpPr>
        <p:spPr>
          <a:xfrm>
            <a:off x="3291840" y="5715000"/>
            <a:ext cx="8351215" cy="365760"/>
          </a:xfrm>
          <a:prstGeom prst="rect">
            <a:avLst/>
          </a:prstGeom>
          <a:noFill/>
          <a:ln/>
        </p:spPr>
        <p:txBody>
          <a:bodyPr wrap="square" lIns="0" tIns="0" rIns="0" bIns="0" rtlCol="0" anchor="t"/>
          <a:lstStyle/>
          <a:p>
            <a:pPr algn="l" indent="0" marL="0">
              <a:buNone/>
            </a:pPr>
            <a:r>
              <a:rPr lang="en-US" sz="1100" i="1" dirty="0">
                <a:solidFill>
                  <a:srgbClr val="A68474"/>
                </a:solidFill>
                <a:latin typeface="Noto Sans KR" pitchFamily="34" charset="0"/>
                <a:ea typeface="Noto Sans KR" pitchFamily="34" charset="-122"/>
                <a:cs typeface="Noto Sans KR" pitchFamily="34" charset="-120"/>
              </a:rPr>
              <a:t>단일 진입점(Nginx)에서 시작하여, AI 실행(LangGraph)과 관리 기능(Gateway)을 명확히 분리 — 장애 격리와 확장성 모두 확보</a:t>
            </a:r>
            <a:endParaRPr lang="en-US" sz="1100" dirty="0"/>
          </a:p>
        </p:txBody>
      </p:sp>
      <p:sp>
        <p:nvSpPr>
          <p:cNvPr id="42" name="Text 37"/>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1/8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5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Nginx — 단일 진입점</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Reverse Proxy를 통해 여러 서비스의 포트를 하나로 통합</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Shape 8"/>
          <p:cNvSpPr/>
          <p:nvPr/>
        </p:nvSpPr>
        <p:spPr>
          <a:xfrm>
            <a:off x="822960" y="2240280"/>
            <a:ext cx="1371600" cy="320040"/>
          </a:xfrm>
          <a:prstGeom prst="roundRect">
            <a:avLst>
              <a:gd name="adj" fmla="val 48571"/>
            </a:avLst>
          </a:prstGeom>
          <a:solidFill>
            <a:srgbClr val="FBE9EF"/>
          </a:solidFill>
          <a:ln w="12700">
            <a:solidFill>
              <a:srgbClr val="FBE9EF"/>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4A6B8"/>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Reverse Proxy인가?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서비스마다 포트가 달라지면 사용자가 혼란스러워진다. LangGraph(2024), Gateway(8001), Frontend(3000)… 어디로 접속해야 할지 매번 고민해야 하는 상황.</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Nginx가 단일 진입점 역할을 수행 (Port 2026 하나). /api/langgraph/* 는 LangGraph로, 나머지는 Gateway로 내부 라우팅. 사용자는 포트 하나만 기억하면 된다.</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BE9EF"/>
          </a:solidFill>
          <a:ln w="12700">
            <a:solidFill>
              <a:srgbClr val="F4A6B8"/>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단일 진입점 (Single Entry Point)</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포트 2026 하나로 모든 백엔드 서비스에 접근</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BE9EF"/>
          </a:solidFill>
          <a:ln w="12700">
            <a:solidFill>
              <a:srgbClr val="F4A6B8"/>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경로 기반 라우팅 (Routing)</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/api/langgraph/* → LangGraph, 나머지 → Gateway로 분배</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BE9EF"/>
          </a:solidFill>
          <a:ln w="12700">
            <a:solidFill>
              <a:srgbClr val="F4A6B8"/>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프론트엔드 서빙 (Static Serving)</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웹 UI 정적 파일도 함께 제공하여 별도 CDN 불필요</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2/8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6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LangGraph Server — 상태 기반 워크플로우</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AI 대화는 상태가 있다. 단순 REST API로는 부족하다</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Shape 8"/>
          <p:cNvSpPr/>
          <p:nvPr/>
        </p:nvSpPr>
        <p:spPr>
          <a:xfrm>
            <a:off x="822960" y="2240280"/>
            <a:ext cx="1371600" cy="320040"/>
          </a:xfrm>
          <a:prstGeom prst="roundRect">
            <a:avLst>
              <a:gd name="adj" fmla="val 48571"/>
            </a:avLst>
          </a:prstGeom>
          <a:solidFill>
            <a:srgbClr val="FBE9EF"/>
          </a:solidFill>
          <a:ln w="12700">
            <a:solidFill>
              <a:srgbClr val="FBE9EF"/>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4A6B8"/>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상태 엔진인가?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AI 대화는 본질적으로 stateful — 과거 대화, 실행 중인 도구 호출, tool 결과를 모두 추적해야 한다. 단순한 REST API 요청/응답 모델로는 이 복잡한 상태 머신을 표현할 수 없다.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LangGraph의 StateGraph로 대화 흐름을 상태 머신으로 표현. Checkpointer가 매 단계의 상태를 저장/복구하고, 스트리밍 응답으로 실시간 UX를 제공한다.</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BE9EF"/>
          </a:solidFill>
          <a:ln w="12700">
            <a:solidFill>
              <a:srgbClr val="F4A6B8"/>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대화 처리 (Stateful Chat)</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사용자 메시지 → AI 응답 생성, 대화 상태 영속 유지</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BE9EF"/>
          </a:solidFill>
          <a:ln w="12700">
            <a:solidFill>
              <a:srgbClr val="F4A6B8"/>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도구 실행 (Tool Execution)</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bash, 파일 I/O, 웹 검색 등 실제 작업을 안전하게 수행</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BE9EF"/>
          </a:solidFill>
          <a:ln w="12700">
            <a:solidFill>
              <a:srgbClr val="F4A6B8"/>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작업 분배 (Delegation)</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복잡한 작업은 Subagent에게 위임하여 병렬 처리</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3/8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7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Gateway API — 실무와 관리의 분리</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AI 실행과 설정 관리를 별도 프로세스로 분리하여 장애 격리</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Shape 8"/>
          <p:cNvSpPr/>
          <p:nvPr/>
        </p:nvSpPr>
        <p:spPr>
          <a:xfrm>
            <a:off x="822960" y="2240280"/>
            <a:ext cx="1371600" cy="320040"/>
          </a:xfrm>
          <a:prstGeom prst="roundRect">
            <a:avLst>
              <a:gd name="adj" fmla="val 48571"/>
            </a:avLst>
          </a:prstGeom>
          <a:solidFill>
            <a:srgbClr val="FBE9EF"/>
          </a:solidFill>
          <a:ln w="12700">
            <a:solidFill>
              <a:srgbClr val="FBE9EF"/>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4A6B8"/>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분리하는가?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모든 기능을 LangGraph Server에 넣으면? 너무 무거워지고, 설정 변경할 때마다 AI 실행을 중단해야 한다. 관리 API 하나의 버그가 대화 전체를 죽일 수 있다.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실무(AI)와 관리(설정)를 분리. LangGraph는 대화·도구 실행에 집중, Gateway는 모델·스킬·파일·메모리 같은 지원 기능 담당. Gateway는 stateless여서 여러 인스턴스로 확장 가능.</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BE9EF"/>
          </a:solidFill>
          <a:ln w="12700">
            <a:solidFill>
              <a:srgbClr val="F4A6B8"/>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설정 관리 (Configuration)</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모델 목록 CRUD, MCP 서버, 스킬 on/off</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BE9EF"/>
          </a:solidFill>
          <a:ln w="12700">
            <a:solidFill>
              <a:srgbClr val="F4A6B8"/>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파일 처리 (File Handling)</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업로드(PDF/PPT 자동 변환), 아티팩트 다운로드</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BE9EF"/>
          </a:solidFill>
          <a:ln w="12700">
            <a:solidFill>
              <a:srgbClr val="F4A6B8"/>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메모리 조회 (Memory I/O)</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저장된 사용자 정보 읽기·갱신 API 제공</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4/8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8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Middleware Chain — 관심사 분리</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11개의 미들웨어가 Lead Agent 앞뒤에 서서 각자의 책임만 처리</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30352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Text 8"/>
          <p:cNvSpPr/>
          <p:nvPr/>
        </p:nvSpPr>
        <p:spPr>
          <a:xfrm>
            <a:off x="822960" y="2148840"/>
            <a:ext cx="4754880" cy="320040"/>
          </a:xfrm>
          <a:prstGeom prst="rect">
            <a:avLst/>
          </a:prstGeom>
          <a:noFill/>
          <a:ln/>
        </p:spPr>
        <p:txBody>
          <a:bodyPr wrap="square" lIns="0" tIns="0" rIns="0" bIns="0" rtlCol="0" anchor="ctr"/>
          <a:lstStyle/>
          <a:p>
            <a:pPr algn="l" indent="0" marL="0">
              <a:buNone/>
            </a:pPr>
            <a:r>
              <a:rPr lang="en-US" sz="1100" b="1" spc="100" kern="0" dirty="0">
                <a:solidFill>
                  <a:srgbClr val="F4A6B8"/>
                </a:solidFill>
                <a:latin typeface="Noto Sans KR" pitchFamily="34" charset="0"/>
                <a:ea typeface="Noto Sans KR" pitchFamily="34" charset="-122"/>
                <a:cs typeface="Noto Sans KR" pitchFamily="34" charset="-120"/>
              </a:rPr>
              <a:t>실행 흐름 · Execution Flow</a:t>
            </a:r>
            <a:endParaRPr lang="en-US" sz="1100" dirty="0"/>
          </a:p>
        </p:txBody>
      </p:sp>
      <p:sp>
        <p:nvSpPr>
          <p:cNvPr id="11" name="Shape 9"/>
          <p:cNvSpPr/>
          <p:nvPr/>
        </p:nvSpPr>
        <p:spPr>
          <a:xfrm>
            <a:off x="822960" y="2560320"/>
            <a:ext cx="4754880" cy="347472"/>
          </a:xfrm>
          <a:prstGeom prst="roundRect">
            <a:avLst>
              <a:gd name="adj" fmla="val 21053"/>
            </a:avLst>
          </a:prstGeom>
          <a:solidFill>
            <a:srgbClr val="5C4033"/>
          </a:solidFill>
          <a:ln w="12700">
            <a:solidFill>
              <a:srgbClr val="5C4033"/>
            </a:solidFill>
            <a:prstDash val="solid"/>
          </a:ln>
        </p:spPr>
      </p:sp>
      <p:sp>
        <p:nvSpPr>
          <p:cNvPr id="12" name="Text 10"/>
          <p:cNvSpPr/>
          <p:nvPr/>
        </p:nvSpPr>
        <p:spPr>
          <a:xfrm>
            <a:off x="822960" y="2560320"/>
            <a:ext cx="47548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메시지 도착 · Message In</a:t>
            </a:r>
            <a:endParaRPr lang="en-US" sz="1100" dirty="0"/>
          </a:p>
        </p:txBody>
      </p:sp>
      <p:sp>
        <p:nvSpPr>
          <p:cNvPr id="13" name="Text 11"/>
          <p:cNvSpPr/>
          <p:nvPr/>
        </p:nvSpPr>
        <p:spPr>
          <a:xfrm>
            <a:off x="822960" y="2971800"/>
            <a:ext cx="4754880" cy="228600"/>
          </a:xfrm>
          <a:prstGeom prst="rect">
            <a:avLst/>
          </a:prstGeom>
          <a:noFill/>
          <a:ln/>
        </p:spPr>
        <p:txBody>
          <a:bodyPr wrap="square" lIns="0" tIns="0" rIns="0" bIns="0" rtlCol="0" anchor="ctr"/>
          <a:lstStyle/>
          <a:p>
            <a:pPr algn="ctr" indent="0" marL="0">
              <a:buNone/>
            </a:pPr>
            <a:r>
              <a:rPr lang="en-US" sz="1000" b="1" dirty="0">
                <a:solidFill>
                  <a:srgbClr val="A68474"/>
                </a:solidFill>
                <a:latin typeface="Noto Sans KR" pitchFamily="34" charset="0"/>
                <a:ea typeface="Noto Sans KR" pitchFamily="34" charset="-122"/>
                <a:cs typeface="Noto Sans KR" pitchFamily="34" charset="-120"/>
              </a:rPr>
              <a:t>▼   [ Before Middlewares ]</a:t>
            </a:r>
            <a:endParaRPr lang="en-US" sz="1000" dirty="0"/>
          </a:p>
        </p:txBody>
      </p:sp>
      <p:sp>
        <p:nvSpPr>
          <p:cNvPr id="14" name="Shape 12"/>
          <p:cNvSpPr/>
          <p:nvPr/>
        </p:nvSpPr>
        <p:spPr>
          <a:xfrm>
            <a:off x="1005840" y="3246120"/>
            <a:ext cx="36576" cy="201168"/>
          </a:xfrm>
          <a:prstGeom prst="rect">
            <a:avLst/>
          </a:prstGeom>
          <a:solidFill>
            <a:srgbClr val="F4A6B8"/>
          </a:solidFill>
          <a:ln w="12700">
            <a:solidFill>
              <a:srgbClr val="F4A6B8"/>
            </a:solidFill>
            <a:prstDash val="solid"/>
          </a:ln>
        </p:spPr>
      </p:sp>
      <p:sp>
        <p:nvSpPr>
          <p:cNvPr id="15" name="Text 13"/>
          <p:cNvSpPr/>
          <p:nvPr/>
        </p:nvSpPr>
        <p:spPr>
          <a:xfrm>
            <a:off x="1143000" y="3227832"/>
            <a:ext cx="4389120" cy="237744"/>
          </a:xfrm>
          <a:prstGeom prst="rect">
            <a:avLst/>
          </a:prstGeom>
          <a:noFill/>
          <a:ln/>
        </p:spPr>
        <p:txBody>
          <a:bodyPr wrap="square" lIns="0" tIns="0" rIns="0" bIns="0" rtlCol="0" anchor="ctr"/>
          <a:lstStyle/>
          <a:p>
            <a:pPr algn="l" indent="0" marL="0">
              <a:buNone/>
            </a:pPr>
            <a:r>
              <a:rPr lang="en-US" sz="1000" dirty="0">
                <a:solidFill>
                  <a:srgbClr val="7E5D4E"/>
                </a:solidFill>
                <a:latin typeface="Noto Sans KR" pitchFamily="34" charset="0"/>
                <a:ea typeface="Noto Sans KR" pitchFamily="34" charset="-122"/>
                <a:cs typeface="Noto Sans KR" pitchFamily="34" charset="-120"/>
              </a:rPr>
              <a:t>ThreadData  · 폴더 생성</a:t>
            </a:r>
            <a:endParaRPr lang="en-US" sz="1000" dirty="0"/>
          </a:p>
        </p:txBody>
      </p:sp>
      <p:sp>
        <p:nvSpPr>
          <p:cNvPr id="16" name="Shape 14"/>
          <p:cNvSpPr/>
          <p:nvPr/>
        </p:nvSpPr>
        <p:spPr>
          <a:xfrm>
            <a:off x="1005840" y="3493008"/>
            <a:ext cx="36576" cy="201168"/>
          </a:xfrm>
          <a:prstGeom prst="rect">
            <a:avLst/>
          </a:prstGeom>
          <a:solidFill>
            <a:srgbClr val="F4A6B8"/>
          </a:solidFill>
          <a:ln w="12700">
            <a:solidFill>
              <a:srgbClr val="F4A6B8"/>
            </a:solidFill>
            <a:prstDash val="solid"/>
          </a:ln>
        </p:spPr>
      </p:sp>
      <p:sp>
        <p:nvSpPr>
          <p:cNvPr id="17" name="Text 15"/>
          <p:cNvSpPr/>
          <p:nvPr/>
        </p:nvSpPr>
        <p:spPr>
          <a:xfrm>
            <a:off x="1143000" y="3474720"/>
            <a:ext cx="4389120" cy="237744"/>
          </a:xfrm>
          <a:prstGeom prst="rect">
            <a:avLst/>
          </a:prstGeom>
          <a:noFill/>
          <a:ln/>
        </p:spPr>
        <p:txBody>
          <a:bodyPr wrap="square" lIns="0" tIns="0" rIns="0" bIns="0" rtlCol="0" anchor="ctr"/>
          <a:lstStyle/>
          <a:p>
            <a:pPr algn="l" indent="0" marL="0">
              <a:buNone/>
            </a:pPr>
            <a:r>
              <a:rPr lang="en-US" sz="1000" dirty="0">
                <a:solidFill>
                  <a:srgbClr val="7E5D4E"/>
                </a:solidFill>
                <a:latin typeface="Noto Sans KR" pitchFamily="34" charset="0"/>
                <a:ea typeface="Noto Sans KR" pitchFamily="34" charset="-122"/>
                <a:cs typeface="Noto Sans KR" pitchFamily="34" charset="-120"/>
              </a:rPr>
              <a:t>Uploads  · 새 파일 알림</a:t>
            </a:r>
            <a:endParaRPr lang="en-US" sz="1000" dirty="0"/>
          </a:p>
        </p:txBody>
      </p:sp>
      <p:sp>
        <p:nvSpPr>
          <p:cNvPr id="18" name="Shape 16"/>
          <p:cNvSpPr/>
          <p:nvPr/>
        </p:nvSpPr>
        <p:spPr>
          <a:xfrm>
            <a:off x="1005840" y="3739896"/>
            <a:ext cx="36576" cy="201168"/>
          </a:xfrm>
          <a:prstGeom prst="rect">
            <a:avLst/>
          </a:prstGeom>
          <a:solidFill>
            <a:srgbClr val="F4A6B8"/>
          </a:solidFill>
          <a:ln w="12700">
            <a:solidFill>
              <a:srgbClr val="F4A6B8"/>
            </a:solidFill>
            <a:prstDash val="solid"/>
          </a:ln>
        </p:spPr>
      </p:sp>
      <p:sp>
        <p:nvSpPr>
          <p:cNvPr id="19" name="Text 17"/>
          <p:cNvSpPr/>
          <p:nvPr/>
        </p:nvSpPr>
        <p:spPr>
          <a:xfrm>
            <a:off x="1143000" y="3721608"/>
            <a:ext cx="4389120" cy="237744"/>
          </a:xfrm>
          <a:prstGeom prst="rect">
            <a:avLst/>
          </a:prstGeom>
          <a:noFill/>
          <a:ln/>
        </p:spPr>
        <p:txBody>
          <a:bodyPr wrap="square" lIns="0" tIns="0" rIns="0" bIns="0" rtlCol="0" anchor="ctr"/>
          <a:lstStyle/>
          <a:p>
            <a:pPr algn="l" indent="0" marL="0">
              <a:buNone/>
            </a:pPr>
            <a:r>
              <a:rPr lang="en-US" sz="1000" dirty="0">
                <a:solidFill>
                  <a:srgbClr val="7E5D4E"/>
                </a:solidFill>
                <a:latin typeface="Noto Sans KR" pitchFamily="34" charset="0"/>
                <a:ea typeface="Noto Sans KR" pitchFamily="34" charset="-122"/>
                <a:cs typeface="Noto Sans KR" pitchFamily="34" charset="-120"/>
              </a:rPr>
              <a:t>Sandbox  · 실행 환경 준비</a:t>
            </a:r>
            <a:endParaRPr lang="en-US" sz="1000" dirty="0"/>
          </a:p>
        </p:txBody>
      </p:sp>
      <p:sp>
        <p:nvSpPr>
          <p:cNvPr id="20" name="Shape 18"/>
          <p:cNvSpPr/>
          <p:nvPr/>
        </p:nvSpPr>
        <p:spPr>
          <a:xfrm>
            <a:off x="1005840" y="3986784"/>
            <a:ext cx="36576" cy="201168"/>
          </a:xfrm>
          <a:prstGeom prst="rect">
            <a:avLst/>
          </a:prstGeom>
          <a:solidFill>
            <a:srgbClr val="F4A6B8"/>
          </a:solidFill>
          <a:ln w="12700">
            <a:solidFill>
              <a:srgbClr val="F4A6B8"/>
            </a:solidFill>
            <a:prstDash val="solid"/>
          </a:ln>
        </p:spPr>
      </p:sp>
      <p:sp>
        <p:nvSpPr>
          <p:cNvPr id="21" name="Text 19"/>
          <p:cNvSpPr/>
          <p:nvPr/>
        </p:nvSpPr>
        <p:spPr>
          <a:xfrm>
            <a:off x="1143000" y="3968496"/>
            <a:ext cx="4389120" cy="237744"/>
          </a:xfrm>
          <a:prstGeom prst="rect">
            <a:avLst/>
          </a:prstGeom>
          <a:noFill/>
          <a:ln/>
        </p:spPr>
        <p:txBody>
          <a:bodyPr wrap="square" lIns="0" tIns="0" rIns="0" bIns="0" rtlCol="0" anchor="ctr"/>
          <a:lstStyle/>
          <a:p>
            <a:pPr algn="l" indent="0" marL="0">
              <a:buNone/>
            </a:pPr>
            <a:r>
              <a:rPr lang="en-US" sz="1000" dirty="0">
                <a:solidFill>
                  <a:srgbClr val="7E5D4E"/>
                </a:solidFill>
                <a:latin typeface="Noto Sans KR" pitchFamily="34" charset="0"/>
                <a:ea typeface="Noto Sans KR" pitchFamily="34" charset="-122"/>
                <a:cs typeface="Noto Sans KR" pitchFamily="34" charset="-120"/>
              </a:rPr>
              <a:t>Summarization  · 토큰 초과 시 압축</a:t>
            </a:r>
            <a:endParaRPr lang="en-US" sz="1000" dirty="0"/>
          </a:p>
        </p:txBody>
      </p:sp>
      <p:sp>
        <p:nvSpPr>
          <p:cNvPr id="22" name="Shape 20"/>
          <p:cNvSpPr/>
          <p:nvPr/>
        </p:nvSpPr>
        <p:spPr>
          <a:xfrm>
            <a:off x="822960" y="4343400"/>
            <a:ext cx="4754880" cy="411480"/>
          </a:xfrm>
          <a:prstGeom prst="roundRect">
            <a:avLst>
              <a:gd name="adj" fmla="val 17778"/>
            </a:avLst>
          </a:prstGeom>
          <a:solidFill>
            <a:srgbClr val="FADCE3"/>
          </a:solidFill>
          <a:ln w="12700">
            <a:solidFill>
              <a:srgbClr val="F4A6B8"/>
            </a:solidFill>
            <a:prstDash val="solid"/>
          </a:ln>
        </p:spPr>
      </p:sp>
      <p:sp>
        <p:nvSpPr>
          <p:cNvPr id="23" name="Text 21"/>
          <p:cNvSpPr/>
          <p:nvPr/>
        </p:nvSpPr>
        <p:spPr>
          <a:xfrm>
            <a:off x="822960" y="4343400"/>
            <a:ext cx="4754880" cy="411480"/>
          </a:xfrm>
          <a:prstGeom prst="rect">
            <a:avLst/>
          </a:prstGeom>
          <a:noFill/>
          <a:ln/>
        </p:spPr>
        <p:txBody>
          <a:bodyPr wrap="square" lIns="0" tIns="0" rIns="0" bIns="0" rtlCol="0" anchor="ctr"/>
          <a:lstStyle/>
          <a:p>
            <a:pPr algn="ctr" indent="0" marL="0">
              <a:buNone/>
            </a:pPr>
            <a:r>
              <a:rPr lang="en-US" sz="1100" b="1" dirty="0">
                <a:solidFill>
                  <a:srgbClr val="5C4033"/>
                </a:solidFill>
                <a:latin typeface="Noto Sans KR" pitchFamily="34" charset="0"/>
                <a:ea typeface="Noto Sans KR" pitchFamily="34" charset="-122"/>
                <a:cs typeface="Noto Sans KR" pitchFamily="34" charset="-120"/>
              </a:rPr>
              <a:t>Lead Agent 실행 (think &amp; act)</a:t>
            </a:r>
            <a:endParaRPr lang="en-US" sz="1100" dirty="0"/>
          </a:p>
        </p:txBody>
      </p:sp>
      <p:sp>
        <p:nvSpPr>
          <p:cNvPr id="24" name="Text 22"/>
          <p:cNvSpPr/>
          <p:nvPr/>
        </p:nvSpPr>
        <p:spPr>
          <a:xfrm>
            <a:off x="822960" y="4846320"/>
            <a:ext cx="4754880" cy="228600"/>
          </a:xfrm>
          <a:prstGeom prst="rect">
            <a:avLst/>
          </a:prstGeom>
          <a:noFill/>
          <a:ln/>
        </p:spPr>
        <p:txBody>
          <a:bodyPr wrap="square" lIns="0" tIns="0" rIns="0" bIns="0" rtlCol="0" anchor="ctr"/>
          <a:lstStyle/>
          <a:p>
            <a:pPr algn="ctr" indent="0" marL="0">
              <a:buNone/>
            </a:pPr>
            <a:r>
              <a:rPr lang="en-US" sz="1000" b="1" dirty="0">
                <a:solidFill>
                  <a:srgbClr val="A68474"/>
                </a:solidFill>
                <a:latin typeface="Noto Sans KR" pitchFamily="34" charset="0"/>
                <a:ea typeface="Noto Sans KR" pitchFamily="34" charset="-122"/>
                <a:cs typeface="Noto Sans KR" pitchFamily="34" charset="-120"/>
              </a:rPr>
              <a:t>▼   [ After Middlewares ]</a:t>
            </a:r>
            <a:endParaRPr lang="en-US" sz="1000" dirty="0"/>
          </a:p>
        </p:txBody>
      </p:sp>
      <p:sp>
        <p:nvSpPr>
          <p:cNvPr id="25" name="Shape 23"/>
          <p:cNvSpPr/>
          <p:nvPr/>
        </p:nvSpPr>
        <p:spPr>
          <a:xfrm>
            <a:off x="1005840" y="5120640"/>
            <a:ext cx="36576" cy="201168"/>
          </a:xfrm>
          <a:prstGeom prst="rect">
            <a:avLst/>
          </a:prstGeom>
          <a:solidFill>
            <a:srgbClr val="F08B51"/>
          </a:solidFill>
          <a:ln w="12700">
            <a:solidFill>
              <a:srgbClr val="F08B51"/>
            </a:solidFill>
            <a:prstDash val="solid"/>
          </a:ln>
        </p:spPr>
      </p:sp>
      <p:sp>
        <p:nvSpPr>
          <p:cNvPr id="26" name="Text 24"/>
          <p:cNvSpPr/>
          <p:nvPr/>
        </p:nvSpPr>
        <p:spPr>
          <a:xfrm>
            <a:off x="1143000" y="5102352"/>
            <a:ext cx="4389120" cy="237744"/>
          </a:xfrm>
          <a:prstGeom prst="rect">
            <a:avLst/>
          </a:prstGeom>
          <a:noFill/>
          <a:ln/>
        </p:spPr>
        <p:txBody>
          <a:bodyPr wrap="square" lIns="0" tIns="0" rIns="0" bIns="0" rtlCol="0" anchor="ctr"/>
          <a:lstStyle/>
          <a:p>
            <a:pPr algn="l" indent="0" marL="0">
              <a:buNone/>
            </a:pPr>
            <a:r>
              <a:rPr lang="en-US" sz="1000" dirty="0">
                <a:solidFill>
                  <a:srgbClr val="7E5D4E"/>
                </a:solidFill>
                <a:latin typeface="Noto Sans KR" pitchFamily="34" charset="0"/>
                <a:ea typeface="Noto Sans KR" pitchFamily="34" charset="-122"/>
                <a:cs typeface="Noto Sans KR" pitchFamily="34" charset="-120"/>
              </a:rPr>
              <a:t>Title  · 대화 제목 자동 생성</a:t>
            </a:r>
            <a:endParaRPr lang="en-US" sz="1000" dirty="0"/>
          </a:p>
        </p:txBody>
      </p:sp>
      <p:sp>
        <p:nvSpPr>
          <p:cNvPr id="27" name="Shape 25"/>
          <p:cNvSpPr/>
          <p:nvPr/>
        </p:nvSpPr>
        <p:spPr>
          <a:xfrm>
            <a:off x="1005840" y="5367528"/>
            <a:ext cx="36576" cy="201168"/>
          </a:xfrm>
          <a:prstGeom prst="rect">
            <a:avLst/>
          </a:prstGeom>
          <a:solidFill>
            <a:srgbClr val="F08B51"/>
          </a:solidFill>
          <a:ln w="12700">
            <a:solidFill>
              <a:srgbClr val="F08B51"/>
            </a:solidFill>
            <a:prstDash val="solid"/>
          </a:ln>
        </p:spPr>
      </p:sp>
      <p:sp>
        <p:nvSpPr>
          <p:cNvPr id="28" name="Text 26"/>
          <p:cNvSpPr/>
          <p:nvPr/>
        </p:nvSpPr>
        <p:spPr>
          <a:xfrm>
            <a:off x="1143000" y="5349240"/>
            <a:ext cx="4389120" cy="237744"/>
          </a:xfrm>
          <a:prstGeom prst="rect">
            <a:avLst/>
          </a:prstGeom>
          <a:noFill/>
          <a:ln/>
        </p:spPr>
        <p:txBody>
          <a:bodyPr wrap="square" lIns="0" tIns="0" rIns="0" bIns="0" rtlCol="0" anchor="ctr"/>
          <a:lstStyle/>
          <a:p>
            <a:pPr algn="l" indent="0" marL="0">
              <a:buNone/>
            </a:pPr>
            <a:r>
              <a:rPr lang="en-US" sz="1000" dirty="0">
                <a:solidFill>
                  <a:srgbClr val="7E5D4E"/>
                </a:solidFill>
                <a:latin typeface="Noto Sans KR" pitchFamily="34" charset="0"/>
                <a:ea typeface="Noto Sans KR" pitchFamily="34" charset="-122"/>
                <a:cs typeface="Noto Sans KR" pitchFamily="34" charset="-120"/>
              </a:rPr>
              <a:t>Memory  · 중요 사실 추출 &amp; 저장</a:t>
            </a:r>
            <a:endParaRPr lang="en-US" sz="1000" dirty="0"/>
          </a:p>
        </p:txBody>
      </p:sp>
      <p:sp>
        <p:nvSpPr>
          <p:cNvPr id="29" name="Shape 27"/>
          <p:cNvSpPr/>
          <p:nvPr/>
        </p:nvSpPr>
        <p:spPr>
          <a:xfrm>
            <a:off x="1005840" y="5614416"/>
            <a:ext cx="36576" cy="201168"/>
          </a:xfrm>
          <a:prstGeom prst="rect">
            <a:avLst/>
          </a:prstGeom>
          <a:solidFill>
            <a:srgbClr val="F08B51"/>
          </a:solidFill>
          <a:ln w="12700">
            <a:solidFill>
              <a:srgbClr val="F08B51"/>
            </a:solidFill>
            <a:prstDash val="solid"/>
          </a:ln>
        </p:spPr>
      </p:sp>
      <p:sp>
        <p:nvSpPr>
          <p:cNvPr id="30" name="Text 28"/>
          <p:cNvSpPr/>
          <p:nvPr/>
        </p:nvSpPr>
        <p:spPr>
          <a:xfrm>
            <a:off x="1143000" y="5596128"/>
            <a:ext cx="4389120" cy="237744"/>
          </a:xfrm>
          <a:prstGeom prst="rect">
            <a:avLst/>
          </a:prstGeom>
          <a:noFill/>
          <a:ln/>
        </p:spPr>
        <p:txBody>
          <a:bodyPr wrap="square" lIns="0" tIns="0" rIns="0" bIns="0" rtlCol="0" anchor="ctr"/>
          <a:lstStyle/>
          <a:p>
            <a:pPr algn="l" indent="0" marL="0">
              <a:buNone/>
            </a:pPr>
            <a:r>
              <a:rPr lang="en-US" sz="1000" dirty="0">
                <a:solidFill>
                  <a:srgbClr val="7E5D4E"/>
                </a:solidFill>
                <a:latin typeface="Noto Sans KR" pitchFamily="34" charset="0"/>
                <a:ea typeface="Noto Sans KR" pitchFamily="34" charset="-122"/>
                <a:cs typeface="Noto Sans KR" pitchFamily="34" charset="-120"/>
              </a:rPr>
              <a:t>SubagentLimit  · 3개 초과 시 차단</a:t>
            </a:r>
            <a:endParaRPr lang="en-US" sz="1000" dirty="0"/>
          </a:p>
        </p:txBody>
      </p:sp>
      <p:sp>
        <p:nvSpPr>
          <p:cNvPr id="31" name="Text 29"/>
          <p:cNvSpPr/>
          <p:nvPr/>
        </p:nvSpPr>
        <p:spPr>
          <a:xfrm>
            <a:off x="6172200" y="2011680"/>
            <a:ext cx="5470855" cy="36576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미들웨어 패턴인가?</a:t>
            </a:r>
            <a:endParaRPr lang="en-US" sz="1600" dirty="0"/>
          </a:p>
        </p:txBody>
      </p:sp>
      <p:sp>
        <p:nvSpPr>
          <p:cNvPr id="32" name="Text 30"/>
          <p:cNvSpPr/>
          <p:nvPr/>
        </p:nvSpPr>
        <p:spPr>
          <a:xfrm>
            <a:off x="6172200" y="2423160"/>
            <a:ext cx="5470855" cy="822960"/>
          </a:xfrm>
          <a:prstGeom prst="rect">
            <a:avLst/>
          </a:prstGeom>
          <a:noFill/>
          <a:ln/>
        </p:spPr>
        <p:txBody>
          <a:bodyPr wrap="square" lIns="0" tIns="0" rIns="0" bIns="0" rtlCol="0" anchor="t"/>
          <a:lstStyle/>
          <a:p>
            <a:pPr algn="l" indent="0" marL="0">
              <a:buNone/>
            </a:pPr>
            <a:r>
              <a:rPr lang="en-US" sz="1200" dirty="0">
                <a:solidFill>
                  <a:srgbClr val="7E5D4E"/>
                </a:solidFill>
                <a:latin typeface="Noto Sans KR" pitchFamily="34" charset="0"/>
                <a:ea typeface="Noto Sans KR" pitchFamily="34" charset="-122"/>
                <a:cs typeface="Noto Sans KR" pitchFamily="34" charset="-120"/>
              </a:rPr>
              <a:t>Lead Agent가 모든 걸 직접 처리하면 </a:t>
            </a:r>
            <a:pPr algn="l" indent="0" marL="0">
              <a:buNone/>
            </a:pPr>
            <a:r>
              <a:rPr lang="en-US" sz="1200" b="1" dirty="0">
                <a:solidFill>
                  <a:srgbClr val="5C4033"/>
                </a:solidFill>
                <a:latin typeface="Noto Sans KR" pitchFamily="34" charset="0"/>
                <a:ea typeface="Noto Sans KR" pitchFamily="34" charset="-122"/>
                <a:cs typeface="Noto Sans KR" pitchFamily="34" charset="-120"/>
              </a:rPr>
              <a:t>코드가 복잡해지고 관심사가 섞인다</a:t>
            </a:r>
            <a:pPr algn="l" indent="0" marL="0">
              <a:buNone/>
            </a:pPr>
            <a:r>
              <a:rPr lang="en-US" sz="1200" dirty="0">
                <a:solidFill>
                  <a:srgbClr val="7E5D4E"/>
                </a:solidFill>
                <a:latin typeface="Noto Sans KR" pitchFamily="34" charset="0"/>
                <a:ea typeface="Noto Sans KR" pitchFamily="34" charset="-122"/>
                <a:cs typeface="Noto Sans KR" pitchFamily="34" charset="-120"/>
              </a:rPr>
              <a:t>. 대화, 파일 관리, 메모리, 제한 적용이 한 덩어리가 되어 기능 추가/제거가 어려워진다.</a:t>
            </a:r>
            <a:endParaRPr lang="en-US" sz="1200" dirty="0"/>
          </a:p>
        </p:txBody>
      </p:sp>
      <p:sp>
        <p:nvSpPr>
          <p:cNvPr id="33" name="Shape 31"/>
          <p:cNvSpPr/>
          <p:nvPr/>
        </p:nvSpPr>
        <p:spPr>
          <a:xfrm>
            <a:off x="6172200" y="3383280"/>
            <a:ext cx="320040" cy="320040"/>
          </a:xfrm>
          <a:prstGeom prst="ellipse">
            <a:avLst/>
          </a:prstGeom>
          <a:solidFill>
            <a:srgbClr val="88B04B"/>
          </a:solidFill>
          <a:ln w="12700">
            <a:solidFill>
              <a:srgbClr val="88B04B"/>
            </a:solidFill>
            <a:prstDash val="solid"/>
          </a:ln>
        </p:spPr>
      </p:sp>
      <p:sp>
        <p:nvSpPr>
          <p:cNvPr id="34" name="Text 32"/>
          <p:cNvSpPr/>
          <p:nvPr/>
        </p:nvSpPr>
        <p:spPr>
          <a:xfrm>
            <a:off x="6172200" y="33832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35" name="Text 33"/>
          <p:cNvSpPr/>
          <p:nvPr/>
        </p:nvSpPr>
        <p:spPr>
          <a:xfrm>
            <a:off x="6629400" y="3337560"/>
            <a:ext cx="5013655" cy="41148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단일 책임  </a:t>
            </a:r>
            <a:pPr algn="l" indent="0" marL="0">
              <a:buNone/>
            </a:pPr>
            <a:r>
              <a:rPr lang="en-US" sz="1150" dirty="0">
                <a:solidFill>
                  <a:srgbClr val="A68474"/>
                </a:solidFill>
                <a:latin typeface="Noto Sans KR" pitchFamily="34" charset="0"/>
                <a:ea typeface="Noto Sans KR" pitchFamily="34" charset="-122"/>
                <a:cs typeface="Noto Sans KR" pitchFamily="34" charset="-120"/>
              </a:rPr>
              <a:t>각 미들웨어가 한 가지 일만 수행</a:t>
            </a:r>
            <a:endParaRPr lang="en-US" sz="1300" dirty="0"/>
          </a:p>
        </p:txBody>
      </p:sp>
      <p:sp>
        <p:nvSpPr>
          <p:cNvPr id="36" name="Shape 34"/>
          <p:cNvSpPr/>
          <p:nvPr/>
        </p:nvSpPr>
        <p:spPr>
          <a:xfrm>
            <a:off x="6172200" y="3886200"/>
            <a:ext cx="320040" cy="320040"/>
          </a:xfrm>
          <a:prstGeom prst="ellipse">
            <a:avLst/>
          </a:prstGeom>
          <a:solidFill>
            <a:srgbClr val="88B04B"/>
          </a:solidFill>
          <a:ln w="12700">
            <a:solidFill>
              <a:srgbClr val="88B04B"/>
            </a:solidFill>
            <a:prstDash val="solid"/>
          </a:ln>
        </p:spPr>
      </p:sp>
      <p:sp>
        <p:nvSpPr>
          <p:cNvPr id="37" name="Text 35"/>
          <p:cNvSpPr/>
          <p:nvPr/>
        </p:nvSpPr>
        <p:spPr>
          <a:xfrm>
            <a:off x="6172200" y="38862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38" name="Text 36"/>
          <p:cNvSpPr/>
          <p:nvPr/>
        </p:nvSpPr>
        <p:spPr>
          <a:xfrm>
            <a:off x="6629400" y="3840480"/>
            <a:ext cx="5013655" cy="41148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유연한 구성  </a:t>
            </a:r>
            <a:pPr algn="l" indent="0" marL="0">
              <a:buNone/>
            </a:pPr>
            <a:r>
              <a:rPr lang="en-US" sz="1150" dirty="0">
                <a:solidFill>
                  <a:srgbClr val="A68474"/>
                </a:solidFill>
                <a:latin typeface="Noto Sans KR" pitchFamily="34" charset="0"/>
                <a:ea typeface="Noto Sans KR" pitchFamily="34" charset="-122"/>
                <a:cs typeface="Noto Sans KR" pitchFamily="34" charset="-120"/>
              </a:rPr>
              <a:t>순서 변경·추가·제거가 간단</a:t>
            </a:r>
            <a:endParaRPr lang="en-US" sz="1300" dirty="0"/>
          </a:p>
        </p:txBody>
      </p:sp>
      <p:sp>
        <p:nvSpPr>
          <p:cNvPr id="39" name="Shape 37"/>
          <p:cNvSpPr/>
          <p:nvPr/>
        </p:nvSpPr>
        <p:spPr>
          <a:xfrm>
            <a:off x="6172200" y="4389120"/>
            <a:ext cx="320040" cy="320040"/>
          </a:xfrm>
          <a:prstGeom prst="ellipse">
            <a:avLst/>
          </a:prstGeom>
          <a:solidFill>
            <a:srgbClr val="88B04B"/>
          </a:solidFill>
          <a:ln w="12700">
            <a:solidFill>
              <a:srgbClr val="88B04B"/>
            </a:solidFill>
            <a:prstDash val="solid"/>
          </a:ln>
        </p:spPr>
      </p:sp>
      <p:sp>
        <p:nvSpPr>
          <p:cNvPr id="40" name="Text 38"/>
          <p:cNvSpPr/>
          <p:nvPr/>
        </p:nvSpPr>
        <p:spPr>
          <a:xfrm>
            <a:off x="6172200" y="43891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41" name="Text 39"/>
          <p:cNvSpPr/>
          <p:nvPr/>
        </p:nvSpPr>
        <p:spPr>
          <a:xfrm>
            <a:off x="6629400" y="4343400"/>
            <a:ext cx="5013655" cy="41148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Lead 단순화  </a:t>
            </a:r>
            <a:pPr algn="l" indent="0" marL="0">
              <a:buNone/>
            </a:pPr>
            <a:r>
              <a:rPr lang="en-US" sz="1150" dirty="0">
                <a:solidFill>
                  <a:srgbClr val="A68474"/>
                </a:solidFill>
                <a:latin typeface="Noto Sans KR" pitchFamily="34" charset="0"/>
                <a:ea typeface="Noto Sans KR" pitchFamily="34" charset="-122"/>
                <a:cs typeface="Noto Sans KR" pitchFamily="34" charset="-120"/>
              </a:rPr>
              <a:t>에이전트는 핵심 로직에만 집중</a:t>
            </a:r>
            <a:endParaRPr lang="en-US" sz="1300" dirty="0"/>
          </a:p>
        </p:txBody>
      </p:sp>
      <p:sp>
        <p:nvSpPr>
          <p:cNvPr id="42" name="Shape 40"/>
          <p:cNvSpPr/>
          <p:nvPr/>
        </p:nvSpPr>
        <p:spPr>
          <a:xfrm>
            <a:off x="6172200" y="5029200"/>
            <a:ext cx="5470855" cy="1005840"/>
          </a:xfrm>
          <a:prstGeom prst="roundRect">
            <a:avLst>
              <a:gd name="adj" fmla="val 9091"/>
            </a:avLst>
          </a:prstGeom>
          <a:solidFill>
            <a:srgbClr val="FBE9EF"/>
          </a:solidFill>
          <a:ln w="12700">
            <a:solidFill>
              <a:srgbClr val="FBE9EF"/>
            </a:solidFill>
            <a:prstDash val="solid"/>
          </a:ln>
        </p:spPr>
      </p:sp>
      <p:sp>
        <p:nvSpPr>
          <p:cNvPr id="43" name="Text 41"/>
          <p:cNvSpPr/>
          <p:nvPr/>
        </p:nvSpPr>
        <p:spPr>
          <a:xfrm>
            <a:off x="6355080" y="5029200"/>
            <a:ext cx="914400" cy="1005840"/>
          </a:xfrm>
          <a:prstGeom prst="rect">
            <a:avLst/>
          </a:prstGeom>
          <a:noFill/>
          <a:ln/>
        </p:spPr>
        <p:txBody>
          <a:bodyPr wrap="square" lIns="0" tIns="0" rIns="0" bIns="0" rtlCol="0" anchor="ctr"/>
          <a:lstStyle/>
          <a:p>
            <a:pPr algn="ctr" indent="0" marL="0">
              <a:buNone/>
            </a:pPr>
            <a:r>
              <a:rPr lang="en-US" sz="4200" b="1" dirty="0">
                <a:solidFill>
                  <a:srgbClr val="F4A6B8"/>
                </a:solidFill>
                <a:latin typeface="Nanum Myeongjo" pitchFamily="34" charset="0"/>
                <a:ea typeface="Nanum Myeongjo" pitchFamily="34" charset="-122"/>
                <a:cs typeface="Nanum Myeongjo" pitchFamily="34" charset="-120"/>
              </a:rPr>
              <a:t>11</a:t>
            </a:r>
            <a:endParaRPr lang="en-US" sz="4200" dirty="0"/>
          </a:p>
        </p:txBody>
      </p:sp>
      <p:sp>
        <p:nvSpPr>
          <p:cNvPr id="44" name="Text 42"/>
          <p:cNvSpPr/>
          <p:nvPr/>
        </p:nvSpPr>
        <p:spPr>
          <a:xfrm>
            <a:off x="7269480" y="5029200"/>
            <a:ext cx="4282135" cy="1005840"/>
          </a:xfrm>
          <a:prstGeom prst="rect">
            <a:avLst/>
          </a:prstGeom>
          <a:noFill/>
          <a:ln/>
        </p:spPr>
        <p:txBody>
          <a:bodyPr wrap="square" lIns="0" tIns="0" rIns="0" bIns="0" rtlCol="0" anchor="ctr"/>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개 미들웨어
</a:t>
            </a:r>
            <a:pPr algn="l" indent="0" marL="0">
              <a:buNone/>
            </a:pPr>
            <a:r>
              <a:rPr lang="en-US" sz="950" dirty="0">
                <a:solidFill>
                  <a:srgbClr val="7E5D4E"/>
                </a:solidFill>
                <a:latin typeface="Noto Sans KR" pitchFamily="34" charset="0"/>
                <a:ea typeface="Noto Sans KR" pitchFamily="34" charset="-122"/>
                <a:cs typeface="Noto Sans KR" pitchFamily="34" charset="-120"/>
              </a:rPr>
              <a:t>ThreadData · Uploads · Sandbox · Dangling · Summarization · TodoList · Title · Memory · ViewImage · SubagentLimit · Clarification</a:t>
            </a:r>
            <a:endParaRPr lang="en-US" sz="1200" dirty="0"/>
          </a:p>
        </p:txBody>
      </p:sp>
      <p:sp>
        <p:nvSpPr>
          <p:cNvPr id="46" name="Text 43"/>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5/8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9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Subagent — 작업 분해와 병렬 처리</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팀장(Lead) + 팀원(Subagent) 구조로 복잡한 작업을 3개까지 병렬 실행</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Shape 8"/>
          <p:cNvSpPr/>
          <p:nvPr/>
        </p:nvSpPr>
        <p:spPr>
          <a:xfrm>
            <a:off x="822960" y="2240280"/>
            <a:ext cx="1371600" cy="320040"/>
          </a:xfrm>
          <a:prstGeom prst="roundRect">
            <a:avLst>
              <a:gd name="adj" fmla="val 48571"/>
            </a:avLst>
          </a:prstGeom>
          <a:solidFill>
            <a:srgbClr val="FBE9EF"/>
          </a:solidFill>
          <a:ln w="12700">
            <a:solidFill>
              <a:srgbClr val="FBE9EF"/>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4A6B8"/>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Subagent인가?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복잡한 리서치를 Lead 혼자 순차 처리하면 19분, 컨텍스트 윈도우 폭발, 실패 시 전체 롤백. 예: 웹 리서치 5분 + 논문 분석 7분 + 경쟁사 조사 4분 + 문서 작성 3분.</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독립된 Subagent들이 병렬로 실행. 각자 격리된 컨텍스트를 가지므로 서로 간섭하지 않는다. 가장 긴 작업(7분)만 기다리면 되고, 하나 실패해도 다른 건 계속 진행.</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BE9EF"/>
          </a:solidFill>
          <a:ln w="12700">
            <a:solidFill>
              <a:srgbClr val="F4A6B8"/>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작업 분해 (Decomposition)</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큰 작업을 독립적인 단위로 분할</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BE9EF"/>
          </a:solidFill>
          <a:ln w="12700">
            <a:solidFill>
              <a:srgbClr val="F4A6B8"/>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병렬 실행 (Parallel, ≤ 3)</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Dual thread pool로 최대 3개 동시 실행</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BE9EF"/>
          </a:solidFill>
          <a:ln w="12700">
            <a:solidFill>
              <a:srgbClr val="F4A6B8"/>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컨텍스트 격리 (Isolation)</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각 Subagent는 독립 컨텍스트, 15분 타임아웃 적용</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6/8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10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Sandbox — 가상 경로와 실행 격리</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AI에게는 가상 경로만, 실제 시스템 경로는 숨겨서 보안과 스레드 격리를 동시에</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Shape 8"/>
          <p:cNvSpPr/>
          <p:nvPr/>
        </p:nvSpPr>
        <p:spPr>
          <a:xfrm>
            <a:off x="822960" y="2240280"/>
            <a:ext cx="1371600" cy="320040"/>
          </a:xfrm>
          <a:prstGeom prst="roundRect">
            <a:avLst>
              <a:gd name="adj" fmla="val 48571"/>
            </a:avLst>
          </a:prstGeom>
          <a:solidFill>
            <a:srgbClr val="FBE9EF"/>
          </a:solidFill>
          <a:ln w="12700">
            <a:solidFill>
              <a:srgbClr val="FBE9EF"/>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4A6B8"/>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가상 경로인가?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AI가 실제 시스템 경로를 알면 위험하다 (rm -rf /home/user/...). 또한 스레드마다 파일이 섞이면 output.txt 같은 파일명이 충돌한다.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가상 경로 ↔ 실제 경로 자동 변환. AI는 /mnt/user-data/workspace만 보고, 실제로는 .deer-flow/threads/abc123/... 에 매핑. 스레드별로 완전히 격리되어 덮어쓰기 위험 제거.</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BE9EF"/>
          </a:solidFill>
          <a:ln w="12700">
            <a:solidFill>
              <a:srgbClr val="F4A6B8"/>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경로 격리 (Path Virtualization)</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가상 경로 ↔ 실제 경로 자동 변환</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BE9EF"/>
          </a:solidFill>
          <a:ln w="12700">
            <a:solidFill>
              <a:srgbClr val="F4A6B8"/>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안전한 실행 (Secure Execution)</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Docker 컨테이너 또는 로컬 격리 환경에서 실행</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BE9EF"/>
          </a:solidFill>
          <a:ln w="12700">
            <a:solidFill>
              <a:srgbClr val="F4A6B8"/>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파일 도구 (File Tools)</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bash · ls · read_file · write_file · str_replace</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7/8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11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Memory — 세션을 넘어서는 장기 기억</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대화가 끝나도 중요한 사실은 기억하여 다음 대화에 자연스럽게 이어진다</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Shape 8"/>
          <p:cNvSpPr/>
          <p:nvPr/>
        </p:nvSpPr>
        <p:spPr>
          <a:xfrm>
            <a:off x="822960" y="2240280"/>
            <a:ext cx="1371600" cy="320040"/>
          </a:xfrm>
          <a:prstGeom prst="roundRect">
            <a:avLst>
              <a:gd name="adj" fmla="val 48571"/>
            </a:avLst>
          </a:prstGeom>
          <a:solidFill>
            <a:srgbClr val="FBE9EF"/>
          </a:solidFill>
          <a:ln w="12700">
            <a:solidFill>
              <a:srgbClr val="FBE9EF"/>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4A6B8"/>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장기 기억인가?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대부분의 AI는 대화가 끝나면 전부 잊는다. "저번에 얘기한 TTS 프로젝트 이어서..." → "무슨 TTS요?" 같은 답답한 상황이 반복된다.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MemoryMiddleware가 대화 종료 후 30초 debounce를 두고, LLM이 중요 사실을 추출하여 memory.json에 저장. 다음 대화 시 system prompt에 top 15 facts를 자동 주입.</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BE9EF"/>
          </a:solidFill>
          <a:ln w="12700">
            <a:solidFill>
              <a:srgbClr val="F4A6B8"/>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사실 추출 (Fact Extraction)</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LLM이 대화에서 중요한 정보를 자동 식별</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BE9EF"/>
          </a:solidFill>
          <a:ln w="12700">
            <a:solidFill>
              <a:srgbClr val="F4A6B8"/>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영구 저장 (Persistence)</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memory.json에 facts + context 영속 저장</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BE9EF"/>
          </a:solidFill>
          <a:ln w="12700">
            <a:solidFill>
              <a:srgbClr val="F4A6B8"/>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컨텍스트 주입 (Context Injection)</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다음 대화 system prompt에 top 15 facts 삽입</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8/8</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12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Skill — 코드 없이 확장되는 역량</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Markdown 파일로 워크플로우와 베스트 프랙티스를 정의, 필요할 때만 로드</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4A6B8"/>
          </a:solidFill>
          <a:ln w="12700">
            <a:solidFill>
              <a:srgbClr val="F4A6B8"/>
            </a:solidFill>
            <a:prstDash val="solid"/>
          </a:ln>
        </p:spPr>
      </p:sp>
      <p:sp>
        <p:nvSpPr>
          <p:cNvPr id="10" name="Shape 8"/>
          <p:cNvSpPr/>
          <p:nvPr/>
        </p:nvSpPr>
        <p:spPr>
          <a:xfrm>
            <a:off x="822960" y="2240280"/>
            <a:ext cx="1371600" cy="320040"/>
          </a:xfrm>
          <a:prstGeom prst="roundRect">
            <a:avLst>
              <a:gd name="adj" fmla="val 48571"/>
            </a:avLst>
          </a:prstGeom>
          <a:solidFill>
            <a:srgbClr val="FBE9EF"/>
          </a:solidFill>
          <a:ln w="12700">
            <a:solidFill>
              <a:srgbClr val="FBE9EF"/>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4A6B8"/>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Markdown 스킬인가?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모든 역량을 하드코딩하면 코드 수정·배포 없이는 확장 불가. 사용자가 자신만의 워크플로우를 직접 추가할 수도 없다. 그리고 모든 스킬을 항상 로드하면 컨텍스트 낭비가 커진다.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Skill = skills/public/ 또는 skills/custom/ 아래의 SKILL.md 파일. "슬라이드 만들어줘" 같은 요청이 올 때 해당 스킬만 progressive loading. 사용자가 커스텀 스킬을 직접 추가 가능.</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BE9EF"/>
          </a:solidFill>
          <a:ln w="12700">
            <a:solidFill>
              <a:srgbClr val="F4A6B8"/>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역량 정의 (Definition)</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Markdown 파일로 워크플로우·프랙티스 선언</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BE9EF"/>
          </a:solidFill>
          <a:ln w="12700">
            <a:solidFill>
              <a:srgbClr val="F4A6B8"/>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점진적 로딩 (Progressive)</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필요한 스킬만 on-demand 로드 (토큰 절약)</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BE9EF"/>
          </a:solidFill>
          <a:ln w="12700">
            <a:solidFill>
              <a:srgbClr val="F4A6B8"/>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확장성 (Extensibility)</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skills/custom/ 아래 사용자 정의 스킬 추가 가능</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4A6B8"/>
          </a:solidFill>
          <a:ln w="12700">
            <a:solidFill>
              <a:srgbClr val="F4A6B8"/>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DEERFLOW  ·  RECAP</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13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DeerFlow 구조 요약</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8개 구조가 어떻게 서로를 보완하는지 한눈에 보기</a:t>
            </a:r>
            <a:endParaRPr lang="en-US" sz="1800" dirty="0"/>
          </a:p>
        </p:txBody>
      </p:sp>
      <p:sp>
        <p:nvSpPr>
          <p:cNvPr id="7" name="Shape 5"/>
          <p:cNvSpPr/>
          <p:nvPr/>
        </p:nvSpPr>
        <p:spPr>
          <a:xfrm>
            <a:off x="548640" y="1691640"/>
            <a:ext cx="457200" cy="36576"/>
          </a:xfrm>
          <a:prstGeom prst="rect">
            <a:avLst/>
          </a:prstGeom>
          <a:solidFill>
            <a:srgbClr val="F4A6B8"/>
          </a:solidFill>
          <a:ln w="12700">
            <a:solidFill>
              <a:srgbClr val="F4A6B8"/>
            </a:solidFill>
            <a:prstDash val="solid"/>
          </a:ln>
        </p:spPr>
      </p:sp>
      <p:sp>
        <p:nvSpPr>
          <p:cNvPr id="8" name="Shape 6"/>
          <p:cNvSpPr/>
          <p:nvPr/>
        </p:nvSpPr>
        <p:spPr>
          <a:xfrm>
            <a:off x="548640" y="2011680"/>
            <a:ext cx="11094415" cy="438912"/>
          </a:xfrm>
          <a:prstGeom prst="rect">
            <a:avLst/>
          </a:prstGeom>
          <a:solidFill>
            <a:srgbClr val="F4A6B8"/>
          </a:solidFill>
          <a:ln w="12700">
            <a:solidFill>
              <a:srgbClr val="F4A6B8"/>
            </a:solidFill>
            <a:prstDash val="solid"/>
          </a:ln>
        </p:spPr>
      </p:sp>
      <p:sp>
        <p:nvSpPr>
          <p:cNvPr id="9" name="Text 7"/>
          <p:cNvSpPr/>
          <p:nvPr/>
        </p:nvSpPr>
        <p:spPr>
          <a:xfrm>
            <a:off x="731520" y="2011680"/>
            <a:ext cx="1463040" cy="438912"/>
          </a:xfrm>
          <a:prstGeom prst="rect">
            <a:avLst/>
          </a:prstGeom>
          <a:noFill/>
          <a:ln/>
        </p:spPr>
        <p:txBody>
          <a:bodyPr wrap="square" lIns="0" tIns="0" rIns="0" bIns="0" rtlCol="0" anchor="ctr"/>
          <a:lstStyle/>
          <a:p>
            <a:pPr algn="l" indent="0" marL="0">
              <a:buNone/>
            </a:pPr>
            <a:r>
              <a:rPr lang="en-US" sz="1200" b="1" spc="100" kern="0" dirty="0">
                <a:solidFill>
                  <a:srgbClr val="FFFFFF"/>
                </a:solidFill>
                <a:latin typeface="Noto Sans KR" pitchFamily="34" charset="0"/>
                <a:ea typeface="Noto Sans KR" pitchFamily="34" charset="-122"/>
                <a:cs typeface="Noto Sans KR" pitchFamily="34" charset="-120"/>
              </a:rPr>
              <a:t>컴포넌트</a:t>
            </a:r>
            <a:endParaRPr lang="en-US" sz="1200" dirty="0"/>
          </a:p>
        </p:txBody>
      </p:sp>
      <p:sp>
        <p:nvSpPr>
          <p:cNvPr id="10" name="Text 8"/>
          <p:cNvSpPr/>
          <p:nvPr/>
        </p:nvSpPr>
        <p:spPr>
          <a:xfrm>
            <a:off x="2651760" y="2011680"/>
            <a:ext cx="3200400" cy="438912"/>
          </a:xfrm>
          <a:prstGeom prst="rect">
            <a:avLst/>
          </a:prstGeom>
          <a:noFill/>
          <a:ln/>
        </p:spPr>
        <p:txBody>
          <a:bodyPr wrap="square" lIns="0" tIns="0" rIns="0" bIns="0" rtlCol="0" anchor="ctr"/>
          <a:lstStyle/>
          <a:p>
            <a:pPr algn="l" indent="0" marL="0">
              <a:buNone/>
            </a:pPr>
            <a:r>
              <a:rPr lang="en-US" sz="1200" b="1" spc="100" kern="0" dirty="0">
                <a:solidFill>
                  <a:srgbClr val="FFFFFF"/>
                </a:solidFill>
                <a:latin typeface="Noto Sans KR" pitchFamily="34" charset="0"/>
                <a:ea typeface="Noto Sans KR" pitchFamily="34" charset="-122"/>
                <a:cs typeface="Noto Sans KR" pitchFamily="34" charset="-120"/>
              </a:rPr>
              <a:t>왜 필요한가?</a:t>
            </a:r>
            <a:endParaRPr lang="en-US" sz="1200" dirty="0"/>
          </a:p>
        </p:txBody>
      </p:sp>
      <p:sp>
        <p:nvSpPr>
          <p:cNvPr id="11" name="Text 9"/>
          <p:cNvSpPr/>
          <p:nvPr/>
        </p:nvSpPr>
        <p:spPr>
          <a:xfrm>
            <a:off x="6309360" y="2011680"/>
            <a:ext cx="5150815" cy="438912"/>
          </a:xfrm>
          <a:prstGeom prst="rect">
            <a:avLst/>
          </a:prstGeom>
          <a:noFill/>
          <a:ln/>
        </p:spPr>
        <p:txBody>
          <a:bodyPr wrap="square" lIns="0" tIns="0" rIns="0" bIns="0" rtlCol="0" anchor="ctr"/>
          <a:lstStyle/>
          <a:p>
            <a:pPr algn="l" indent="0" marL="0">
              <a:buNone/>
            </a:pPr>
            <a:r>
              <a:rPr lang="en-US" sz="1200" b="1" spc="100" kern="0" dirty="0">
                <a:solidFill>
                  <a:srgbClr val="FFFFFF"/>
                </a:solidFill>
                <a:latin typeface="Noto Sans KR" pitchFamily="34" charset="0"/>
                <a:ea typeface="Noto Sans KR" pitchFamily="34" charset="-122"/>
                <a:cs typeface="Noto Sans KR" pitchFamily="34" charset="-120"/>
              </a:rPr>
              <a:t>핵심 기능</a:t>
            </a:r>
            <a:endParaRPr lang="en-US" sz="1200" dirty="0"/>
          </a:p>
        </p:txBody>
      </p:sp>
      <p:sp>
        <p:nvSpPr>
          <p:cNvPr id="12" name="Text 10"/>
          <p:cNvSpPr/>
          <p:nvPr/>
        </p:nvSpPr>
        <p:spPr>
          <a:xfrm>
            <a:off x="731520" y="245059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Nginx</a:t>
            </a:r>
            <a:endParaRPr lang="en-US" sz="1300" dirty="0"/>
          </a:p>
        </p:txBody>
      </p:sp>
      <p:sp>
        <p:nvSpPr>
          <p:cNvPr id="13" name="Text 11"/>
          <p:cNvSpPr/>
          <p:nvPr/>
        </p:nvSpPr>
        <p:spPr>
          <a:xfrm>
            <a:off x="2651760" y="245059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포트 혼란 해결</a:t>
            </a:r>
            <a:endParaRPr lang="en-US" sz="1200" dirty="0"/>
          </a:p>
        </p:txBody>
      </p:sp>
      <p:sp>
        <p:nvSpPr>
          <p:cNvPr id="14" name="Text 12"/>
          <p:cNvSpPr/>
          <p:nvPr/>
        </p:nvSpPr>
        <p:spPr>
          <a:xfrm>
            <a:off x="6309360" y="245059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단일 입구  ·  라우팅  ·  정적 서빙</a:t>
            </a:r>
            <a:endParaRPr lang="en-US" sz="1150" dirty="0"/>
          </a:p>
        </p:txBody>
      </p:sp>
      <p:sp>
        <p:nvSpPr>
          <p:cNvPr id="15" name="Shape 13"/>
          <p:cNvSpPr/>
          <p:nvPr/>
        </p:nvSpPr>
        <p:spPr>
          <a:xfrm>
            <a:off x="548640" y="2862072"/>
            <a:ext cx="11094415" cy="411480"/>
          </a:xfrm>
          <a:prstGeom prst="rect">
            <a:avLst/>
          </a:prstGeom>
          <a:solidFill>
            <a:srgbClr val="FBE9EF"/>
          </a:solidFill>
          <a:ln w="12700">
            <a:solidFill>
              <a:srgbClr val="FBE9EF"/>
            </a:solidFill>
            <a:prstDash val="solid"/>
          </a:ln>
        </p:spPr>
      </p:sp>
      <p:sp>
        <p:nvSpPr>
          <p:cNvPr id="16" name="Text 14"/>
          <p:cNvSpPr/>
          <p:nvPr/>
        </p:nvSpPr>
        <p:spPr>
          <a:xfrm>
            <a:off x="731520" y="286207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LangGraph</a:t>
            </a:r>
            <a:endParaRPr lang="en-US" sz="1300" dirty="0"/>
          </a:p>
        </p:txBody>
      </p:sp>
      <p:sp>
        <p:nvSpPr>
          <p:cNvPr id="17" name="Text 15"/>
          <p:cNvSpPr/>
          <p:nvPr/>
        </p:nvSpPr>
        <p:spPr>
          <a:xfrm>
            <a:off x="2651760" y="286207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상태 있는 대화 필요</a:t>
            </a:r>
            <a:endParaRPr lang="en-US" sz="1200" dirty="0"/>
          </a:p>
        </p:txBody>
      </p:sp>
      <p:sp>
        <p:nvSpPr>
          <p:cNvPr id="18" name="Text 16"/>
          <p:cNvSpPr/>
          <p:nvPr/>
        </p:nvSpPr>
        <p:spPr>
          <a:xfrm>
            <a:off x="6309360" y="286207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대화  ·  도구 실행  ·  작업 분배</a:t>
            </a:r>
            <a:endParaRPr lang="en-US" sz="1150" dirty="0"/>
          </a:p>
        </p:txBody>
      </p:sp>
      <p:sp>
        <p:nvSpPr>
          <p:cNvPr id="19" name="Text 17"/>
          <p:cNvSpPr/>
          <p:nvPr/>
        </p:nvSpPr>
        <p:spPr>
          <a:xfrm>
            <a:off x="731520" y="327355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Gateway</a:t>
            </a:r>
            <a:endParaRPr lang="en-US" sz="1300" dirty="0"/>
          </a:p>
        </p:txBody>
      </p:sp>
      <p:sp>
        <p:nvSpPr>
          <p:cNvPr id="20" name="Text 18"/>
          <p:cNvSpPr/>
          <p:nvPr/>
        </p:nvSpPr>
        <p:spPr>
          <a:xfrm>
            <a:off x="2651760" y="327355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실무/관리 분리</a:t>
            </a:r>
            <a:endParaRPr lang="en-US" sz="1200" dirty="0"/>
          </a:p>
        </p:txBody>
      </p:sp>
      <p:sp>
        <p:nvSpPr>
          <p:cNvPr id="21" name="Text 19"/>
          <p:cNvSpPr/>
          <p:nvPr/>
        </p:nvSpPr>
        <p:spPr>
          <a:xfrm>
            <a:off x="6309360" y="327355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설정  ·  파일  ·  메모리 조회</a:t>
            </a:r>
            <a:endParaRPr lang="en-US" sz="1150" dirty="0"/>
          </a:p>
        </p:txBody>
      </p:sp>
      <p:sp>
        <p:nvSpPr>
          <p:cNvPr id="22" name="Shape 20"/>
          <p:cNvSpPr/>
          <p:nvPr/>
        </p:nvSpPr>
        <p:spPr>
          <a:xfrm>
            <a:off x="548640" y="3685032"/>
            <a:ext cx="11094415" cy="411480"/>
          </a:xfrm>
          <a:prstGeom prst="rect">
            <a:avLst/>
          </a:prstGeom>
          <a:solidFill>
            <a:srgbClr val="FBE9EF"/>
          </a:solidFill>
          <a:ln w="12700">
            <a:solidFill>
              <a:srgbClr val="FBE9EF"/>
            </a:solidFill>
            <a:prstDash val="solid"/>
          </a:ln>
        </p:spPr>
      </p:sp>
      <p:sp>
        <p:nvSpPr>
          <p:cNvPr id="23" name="Text 21"/>
          <p:cNvSpPr/>
          <p:nvPr/>
        </p:nvSpPr>
        <p:spPr>
          <a:xfrm>
            <a:off x="731520" y="368503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Middleware</a:t>
            </a:r>
            <a:endParaRPr lang="en-US" sz="1300" dirty="0"/>
          </a:p>
        </p:txBody>
      </p:sp>
      <p:sp>
        <p:nvSpPr>
          <p:cNvPr id="24" name="Text 22"/>
          <p:cNvSpPr/>
          <p:nvPr/>
        </p:nvSpPr>
        <p:spPr>
          <a:xfrm>
            <a:off x="2651760" y="368503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Lead 단순화 · 관심사 분리</a:t>
            </a:r>
            <a:endParaRPr lang="en-US" sz="1200" dirty="0"/>
          </a:p>
        </p:txBody>
      </p:sp>
      <p:sp>
        <p:nvSpPr>
          <p:cNvPr id="25" name="Text 23"/>
          <p:cNvSpPr/>
          <p:nvPr/>
        </p:nvSpPr>
        <p:spPr>
          <a:xfrm>
            <a:off x="6309360" y="368503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상태 준비  ·  제한  ·  자동화</a:t>
            </a:r>
            <a:endParaRPr lang="en-US" sz="1150" dirty="0"/>
          </a:p>
        </p:txBody>
      </p:sp>
      <p:sp>
        <p:nvSpPr>
          <p:cNvPr id="26" name="Text 24"/>
          <p:cNvSpPr/>
          <p:nvPr/>
        </p:nvSpPr>
        <p:spPr>
          <a:xfrm>
            <a:off x="731520" y="409651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Subagent</a:t>
            </a:r>
            <a:endParaRPr lang="en-US" sz="1300" dirty="0"/>
          </a:p>
        </p:txBody>
      </p:sp>
      <p:sp>
        <p:nvSpPr>
          <p:cNvPr id="27" name="Text 25"/>
          <p:cNvSpPr/>
          <p:nvPr/>
        </p:nvSpPr>
        <p:spPr>
          <a:xfrm>
            <a:off x="2651760" y="409651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복잡한 작업 분해·병렬</a:t>
            </a:r>
            <a:endParaRPr lang="en-US" sz="1200" dirty="0"/>
          </a:p>
        </p:txBody>
      </p:sp>
      <p:sp>
        <p:nvSpPr>
          <p:cNvPr id="28" name="Text 26"/>
          <p:cNvSpPr/>
          <p:nvPr/>
        </p:nvSpPr>
        <p:spPr>
          <a:xfrm>
            <a:off x="6309360" y="409651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분해  ·  병렬 (≤3)  ·  격리</a:t>
            </a:r>
            <a:endParaRPr lang="en-US" sz="1150" dirty="0"/>
          </a:p>
        </p:txBody>
      </p:sp>
      <p:sp>
        <p:nvSpPr>
          <p:cNvPr id="29" name="Shape 27"/>
          <p:cNvSpPr/>
          <p:nvPr/>
        </p:nvSpPr>
        <p:spPr>
          <a:xfrm>
            <a:off x="548640" y="4507992"/>
            <a:ext cx="11094415" cy="411480"/>
          </a:xfrm>
          <a:prstGeom prst="rect">
            <a:avLst/>
          </a:prstGeom>
          <a:solidFill>
            <a:srgbClr val="FBE9EF"/>
          </a:solidFill>
          <a:ln w="12700">
            <a:solidFill>
              <a:srgbClr val="FBE9EF"/>
            </a:solidFill>
            <a:prstDash val="solid"/>
          </a:ln>
        </p:spPr>
      </p:sp>
      <p:sp>
        <p:nvSpPr>
          <p:cNvPr id="30" name="Text 28"/>
          <p:cNvSpPr/>
          <p:nvPr/>
        </p:nvSpPr>
        <p:spPr>
          <a:xfrm>
            <a:off x="731520" y="450799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Sandbox</a:t>
            </a:r>
            <a:endParaRPr lang="en-US" sz="1300" dirty="0"/>
          </a:p>
        </p:txBody>
      </p:sp>
      <p:sp>
        <p:nvSpPr>
          <p:cNvPr id="31" name="Text 29"/>
          <p:cNvSpPr/>
          <p:nvPr/>
        </p:nvSpPr>
        <p:spPr>
          <a:xfrm>
            <a:off x="2651760" y="450799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보안 + 스레드 격리</a:t>
            </a:r>
            <a:endParaRPr lang="en-US" sz="1200" dirty="0"/>
          </a:p>
        </p:txBody>
      </p:sp>
      <p:sp>
        <p:nvSpPr>
          <p:cNvPr id="32" name="Text 30"/>
          <p:cNvSpPr/>
          <p:nvPr/>
        </p:nvSpPr>
        <p:spPr>
          <a:xfrm>
            <a:off x="6309360" y="450799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경로 격리  ·  안전 실행  ·  도구</a:t>
            </a:r>
            <a:endParaRPr lang="en-US" sz="1150" dirty="0"/>
          </a:p>
        </p:txBody>
      </p:sp>
      <p:sp>
        <p:nvSpPr>
          <p:cNvPr id="33" name="Text 31"/>
          <p:cNvSpPr/>
          <p:nvPr/>
        </p:nvSpPr>
        <p:spPr>
          <a:xfrm>
            <a:off x="731520" y="491947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Memory</a:t>
            </a:r>
            <a:endParaRPr lang="en-US" sz="1300" dirty="0"/>
          </a:p>
        </p:txBody>
      </p:sp>
      <p:sp>
        <p:nvSpPr>
          <p:cNvPr id="34" name="Text 32"/>
          <p:cNvSpPr/>
          <p:nvPr/>
        </p:nvSpPr>
        <p:spPr>
          <a:xfrm>
            <a:off x="2651760" y="491947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세션 넘어 기억 유지</a:t>
            </a:r>
            <a:endParaRPr lang="en-US" sz="1200" dirty="0"/>
          </a:p>
        </p:txBody>
      </p:sp>
      <p:sp>
        <p:nvSpPr>
          <p:cNvPr id="35" name="Text 33"/>
          <p:cNvSpPr/>
          <p:nvPr/>
        </p:nvSpPr>
        <p:spPr>
          <a:xfrm>
            <a:off x="6309360" y="491947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추출  ·  저장  ·  주입</a:t>
            </a:r>
            <a:endParaRPr lang="en-US" sz="1150" dirty="0"/>
          </a:p>
        </p:txBody>
      </p:sp>
      <p:sp>
        <p:nvSpPr>
          <p:cNvPr id="36" name="Shape 34"/>
          <p:cNvSpPr/>
          <p:nvPr/>
        </p:nvSpPr>
        <p:spPr>
          <a:xfrm>
            <a:off x="548640" y="5330952"/>
            <a:ext cx="11094415" cy="411480"/>
          </a:xfrm>
          <a:prstGeom prst="rect">
            <a:avLst/>
          </a:prstGeom>
          <a:solidFill>
            <a:srgbClr val="FBE9EF"/>
          </a:solidFill>
          <a:ln w="12700">
            <a:solidFill>
              <a:srgbClr val="FBE9EF"/>
            </a:solidFill>
            <a:prstDash val="solid"/>
          </a:ln>
        </p:spPr>
      </p:sp>
      <p:sp>
        <p:nvSpPr>
          <p:cNvPr id="37" name="Text 35"/>
          <p:cNvSpPr/>
          <p:nvPr/>
        </p:nvSpPr>
        <p:spPr>
          <a:xfrm>
            <a:off x="731520" y="5330952"/>
            <a:ext cx="1463040" cy="411480"/>
          </a:xfrm>
          <a:prstGeom prst="rect">
            <a:avLst/>
          </a:prstGeom>
          <a:noFill/>
          <a:ln/>
        </p:spPr>
        <p:txBody>
          <a:bodyPr wrap="square" lIns="0" tIns="0" rIns="0" bIns="0" rtlCol="0" anchor="ctr"/>
          <a:lstStyle/>
          <a:p>
            <a:pPr algn="l" indent="0" marL="0">
              <a:buNone/>
            </a:pPr>
            <a:r>
              <a:rPr lang="en-US" sz="1300" b="1" dirty="0">
                <a:solidFill>
                  <a:srgbClr val="F4A6B8"/>
                </a:solidFill>
                <a:latin typeface="Noto Sans KR" pitchFamily="34" charset="0"/>
                <a:ea typeface="Noto Sans KR" pitchFamily="34" charset="-122"/>
                <a:cs typeface="Noto Sans KR" pitchFamily="34" charset="-120"/>
              </a:rPr>
              <a:t>Skill</a:t>
            </a:r>
            <a:endParaRPr lang="en-US" sz="1300" dirty="0"/>
          </a:p>
        </p:txBody>
      </p:sp>
      <p:sp>
        <p:nvSpPr>
          <p:cNvPr id="38" name="Text 36"/>
          <p:cNvSpPr/>
          <p:nvPr/>
        </p:nvSpPr>
        <p:spPr>
          <a:xfrm>
            <a:off x="2651760" y="5330952"/>
            <a:ext cx="3200400" cy="411480"/>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코드 없이 역량 확장</a:t>
            </a:r>
            <a:endParaRPr lang="en-US" sz="1200" dirty="0"/>
          </a:p>
        </p:txBody>
      </p:sp>
      <p:sp>
        <p:nvSpPr>
          <p:cNvPr id="39" name="Text 37"/>
          <p:cNvSpPr/>
          <p:nvPr/>
        </p:nvSpPr>
        <p:spPr>
          <a:xfrm>
            <a:off x="6309360" y="5330952"/>
            <a:ext cx="5150815" cy="411480"/>
          </a:xfrm>
          <a:prstGeom prst="rect">
            <a:avLst/>
          </a:prstGeom>
          <a:noFill/>
          <a:ln/>
        </p:spPr>
        <p:txBody>
          <a:bodyPr wrap="square" lIns="0" tIns="0" rIns="0" bIns="0" rtlCol="0" anchor="ctr"/>
          <a:lstStyle/>
          <a:p>
            <a:pPr algn="l" indent="0" marL="0">
              <a:buNone/>
            </a:pPr>
            <a:r>
              <a:rPr lang="en-US" sz="1150" i="1" dirty="0">
                <a:solidFill>
                  <a:srgbClr val="7E5D4E"/>
                </a:solidFill>
                <a:latin typeface="Noto Sans KR" pitchFamily="34" charset="0"/>
                <a:ea typeface="Noto Sans KR" pitchFamily="34" charset="-122"/>
                <a:cs typeface="Noto Sans KR" pitchFamily="34" charset="-120"/>
              </a:rPr>
              <a:t>정의  ·  로딩  ·  확장</a:t>
            </a:r>
            <a:endParaRPr lang="en-US" sz="1150" dirty="0"/>
          </a:p>
        </p:txBody>
      </p:sp>
      <p:sp>
        <p:nvSpPr>
          <p:cNvPr id="40" name="Shape 38"/>
          <p:cNvSpPr/>
          <p:nvPr/>
        </p:nvSpPr>
        <p:spPr>
          <a:xfrm>
            <a:off x="548640" y="5897880"/>
            <a:ext cx="11094415" cy="502920"/>
          </a:xfrm>
          <a:prstGeom prst="roundRect">
            <a:avLst>
              <a:gd name="adj" fmla="val 14545"/>
            </a:avLst>
          </a:prstGeom>
          <a:solidFill>
            <a:srgbClr val="5C4033"/>
          </a:solidFill>
          <a:ln w="12700">
            <a:solidFill>
              <a:srgbClr val="5C4033"/>
            </a:solidFill>
            <a:prstDash val="solid"/>
          </a:ln>
        </p:spPr>
      </p:sp>
      <p:sp>
        <p:nvSpPr>
          <p:cNvPr id="41" name="Text 39"/>
          <p:cNvSpPr/>
          <p:nvPr/>
        </p:nvSpPr>
        <p:spPr>
          <a:xfrm>
            <a:off x="731520" y="5897880"/>
            <a:ext cx="10728655" cy="502920"/>
          </a:xfrm>
          <a:prstGeom prst="rect">
            <a:avLst/>
          </a:prstGeom>
          <a:noFill/>
          <a:ln/>
        </p:spPr>
        <p:txBody>
          <a:bodyPr wrap="square" lIns="0" tIns="0" rIns="0" bIns="0" rtlCol="0" anchor="ctr"/>
          <a:lstStyle/>
          <a:p>
            <a:pPr algn="ctr" indent="0" marL="0">
              <a:buNone/>
            </a:pPr>
            <a:r>
              <a:rPr lang="en-US" sz="1200" b="1" dirty="0">
                <a:solidFill>
                  <a:srgbClr val="FADCE3"/>
                </a:solidFill>
                <a:latin typeface="Noto Sans KR" pitchFamily="34" charset="0"/>
                <a:ea typeface="Noto Sans KR" pitchFamily="34" charset="-122"/>
                <a:cs typeface="Noto Sans KR" pitchFamily="34" charset="-120"/>
              </a:rPr>
              <a:t>한 줄 요약  ·  </a:t>
            </a:r>
            <a:pPr algn="ctr" indent="0" marL="0">
              <a:buNone/>
            </a:pPr>
            <a:r>
              <a:rPr lang="en-US" sz="1200" dirty="0">
                <a:solidFill>
                  <a:srgbClr val="FFFFFF"/>
                </a:solidFill>
                <a:latin typeface="Noto Sans KR" pitchFamily="34" charset="0"/>
                <a:ea typeface="Noto Sans KR" pitchFamily="34" charset="-122"/>
                <a:cs typeface="Noto Sans KR" pitchFamily="34" charset="-120"/>
              </a:rPr>
              <a:t>DeerFlow는 "환경 자체를 통제"하는 접근 — 여러 컴포넌트를 조립해 복잡한 워크플로우를 처리할 인프라를 구축한다</a:t>
            </a:r>
            <a:endParaRPr lang="en-US" sz="1200" dirty="0"/>
          </a:p>
        </p:txBody>
      </p:sp>
      <p:sp>
        <p:nvSpPr>
          <p:cNvPr id="43" name="Text 4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PART 2  ·  SWE-AGENT ARCHITECTURE</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14 / 32</a:t>
            </a:r>
            <a:endParaRPr lang="en-US" sz="1000" dirty="0"/>
          </a:p>
        </p:txBody>
      </p:sp>
      <p:sp>
        <p:nvSpPr>
          <p:cNvPr id="5" name="Shape 3"/>
          <p:cNvSpPr/>
          <p:nvPr/>
        </p:nvSpPr>
        <p:spPr>
          <a:xfrm>
            <a:off x="0" y="502920"/>
            <a:ext cx="2926080" cy="6355080"/>
          </a:xfrm>
          <a:prstGeom prst="rect">
            <a:avLst/>
          </a:prstGeom>
          <a:solidFill>
            <a:srgbClr val="FDEAD9"/>
          </a:solidFill>
          <a:ln w="12700">
            <a:solidFill>
              <a:srgbClr val="FDEAD9"/>
            </a:solidFill>
            <a:prstDash val="solid"/>
          </a:ln>
        </p:spPr>
      </p:sp>
      <p:pic>
        <p:nvPicPr>
          <p:cNvPr id="6" name="Image 0" descr="/sessions/optimistic-amazing-goldberg/presentation/assets/blossom-orange.png">    </p:cNvPr>
          <p:cNvPicPr>
            <a:picLocks noChangeAspect="1"/>
          </p:cNvPicPr>
          <p:nvPr/>
        </p:nvPicPr>
        <p:blipFill>
          <a:blip r:embed="rId1">
            <a:alphaModFix amt="35000"/>
          </a:blip>
          <a:stretch>
            <a:fillRect/>
          </a:stretch>
        </p:blipFill>
        <p:spPr>
          <a:xfrm>
            <a:off x="274320" y="4572000"/>
            <a:ext cx="1645920" cy="1645920"/>
          </a:xfrm>
          <a:prstGeom prst="rect">
            <a:avLst/>
          </a:prstGeom>
        </p:spPr>
      </p:pic>
      <p:pic>
        <p:nvPicPr>
          <p:cNvPr id="7" name="Image 1" descr="/sessions/optimistic-amazing-goldberg/presentation/assets/blossom-orange.png">    </p:cNvPr>
          <p:cNvPicPr>
            <a:picLocks noChangeAspect="1"/>
          </p:cNvPicPr>
          <p:nvPr/>
        </p:nvPicPr>
        <p:blipFill>
          <a:blip r:embed="rId2">
            <a:alphaModFix amt="25000"/>
          </a:blip>
          <a:stretch>
            <a:fillRect/>
          </a:stretch>
        </p:blipFill>
        <p:spPr>
          <a:xfrm>
            <a:off x="1554480" y="685800"/>
            <a:ext cx="1097280" cy="1097280"/>
          </a:xfrm>
          <a:prstGeom prst="rect">
            <a:avLst/>
          </a:prstGeom>
        </p:spPr>
      </p:pic>
      <p:sp>
        <p:nvSpPr>
          <p:cNvPr id="8" name="Text 4"/>
          <p:cNvSpPr/>
          <p:nvPr/>
        </p:nvSpPr>
        <p:spPr>
          <a:xfrm>
            <a:off x="457200" y="2194560"/>
            <a:ext cx="2286000" cy="365760"/>
          </a:xfrm>
          <a:prstGeom prst="rect">
            <a:avLst/>
          </a:prstGeom>
          <a:noFill/>
          <a:ln/>
        </p:spPr>
        <p:txBody>
          <a:bodyPr wrap="square" lIns="0" tIns="0" rIns="0" bIns="0" rtlCol="0" anchor="ctr"/>
          <a:lstStyle/>
          <a:p>
            <a:pPr algn="l" indent="0" marL="0">
              <a:buNone/>
            </a:pPr>
            <a:r>
              <a:rPr lang="en-US" sz="1400" b="1" spc="600" kern="0" dirty="0">
                <a:solidFill>
                  <a:srgbClr val="F08B51"/>
                </a:solidFill>
                <a:latin typeface="Noto Sans KR" pitchFamily="34" charset="0"/>
                <a:ea typeface="Noto Sans KR" pitchFamily="34" charset="-122"/>
                <a:cs typeface="Noto Sans KR" pitchFamily="34" charset="-120"/>
              </a:rPr>
              <a:t>PART  2</a:t>
            </a:r>
            <a:endParaRPr lang="en-US" sz="1400" dirty="0"/>
          </a:p>
        </p:txBody>
      </p:sp>
      <p:sp>
        <p:nvSpPr>
          <p:cNvPr id="9" name="Text 5"/>
          <p:cNvSpPr/>
          <p:nvPr/>
        </p:nvSpPr>
        <p:spPr>
          <a:xfrm>
            <a:off x="457200" y="2651760"/>
            <a:ext cx="2468880" cy="731520"/>
          </a:xfrm>
          <a:prstGeom prst="rect">
            <a:avLst/>
          </a:prstGeom>
          <a:noFill/>
          <a:ln/>
        </p:spPr>
        <p:txBody>
          <a:bodyPr wrap="square" lIns="0" tIns="0" rIns="0" bIns="0" rtlCol="0" anchor="ctr"/>
          <a:lstStyle/>
          <a:p>
            <a:pPr algn="l" indent="0" marL="0">
              <a:buNone/>
            </a:pPr>
            <a:r>
              <a:rPr lang="en-US" sz="3600" b="1" dirty="0">
                <a:solidFill>
                  <a:srgbClr val="5C4033"/>
                </a:solidFill>
                <a:latin typeface="Nanum Myeongjo" pitchFamily="34" charset="0"/>
                <a:ea typeface="Nanum Myeongjo" pitchFamily="34" charset="-122"/>
                <a:cs typeface="Nanum Myeongjo" pitchFamily="34" charset="-120"/>
              </a:rPr>
              <a:t>SWE-Agent</a:t>
            </a:r>
            <a:endParaRPr lang="en-US" sz="3600" dirty="0"/>
          </a:p>
        </p:txBody>
      </p:sp>
      <p:sp>
        <p:nvSpPr>
          <p:cNvPr id="10" name="Text 6"/>
          <p:cNvSpPr/>
          <p:nvPr/>
        </p:nvSpPr>
        <p:spPr>
          <a:xfrm>
            <a:off x="457200" y="3566160"/>
            <a:ext cx="2468880" cy="822960"/>
          </a:xfrm>
          <a:prstGeom prst="rect">
            <a:avLst/>
          </a:prstGeom>
          <a:noFill/>
          <a:ln/>
        </p:spPr>
        <p:txBody>
          <a:bodyPr wrap="square" lIns="0" tIns="0" rIns="0" bIns="0" rtlCol="0" anchor="t"/>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"하나의 손,
</a:t>
            </a:r>
            <a:pPr algn="l" indent="0" marL="0">
              <a:buNone/>
            </a:pPr>
            <a:r>
              <a:rPr lang="en-US" sz="1600" b="1" dirty="0">
                <a:solidFill>
                  <a:srgbClr val="F08B51"/>
                </a:solidFill>
                <a:latin typeface="Nanum Myeongjo" pitchFamily="34" charset="0"/>
                <a:ea typeface="Nanum Myeongjo" pitchFamily="34" charset="-122"/>
                <a:cs typeface="Nanum Myeongjo" pitchFamily="34" charset="-120"/>
              </a:rPr>
              <a:t>  최적의 도구"</a:t>
            </a:r>
            <a:endParaRPr lang="en-US" sz="1600" dirty="0"/>
          </a:p>
        </p:txBody>
      </p:sp>
      <p:sp>
        <p:nvSpPr>
          <p:cNvPr id="11" name="Text 7"/>
          <p:cNvSpPr/>
          <p:nvPr/>
        </p:nvSpPr>
        <p:spPr>
          <a:xfrm>
            <a:off x="3291840" y="640080"/>
            <a:ext cx="8351215" cy="502920"/>
          </a:xfrm>
          <a:prstGeom prst="rect">
            <a:avLst/>
          </a:prstGeom>
          <a:noFill/>
          <a:ln/>
        </p:spPr>
        <p:txBody>
          <a:bodyPr wrap="square" lIns="0" tIns="0" rIns="0" bIns="0" rtlCol="0" anchor="ctr"/>
          <a:lstStyle/>
          <a:p>
            <a:pPr algn="l" indent="0" marL="0">
              <a:buNone/>
            </a:pPr>
            <a:r>
              <a:rPr lang="en-US" sz="2200" b="1" dirty="0">
                <a:solidFill>
                  <a:srgbClr val="5C4033"/>
                </a:solidFill>
                <a:latin typeface="Nanum Myeongjo" pitchFamily="34" charset="0"/>
                <a:ea typeface="Nanum Myeongjo" pitchFamily="34" charset="-122"/>
                <a:cs typeface="Nanum Myeongjo" pitchFamily="34" charset="-120"/>
              </a:rPr>
              <a:t>인터페이스는 사용자에 맞춰 설계된다</a:t>
            </a:r>
            <a:endParaRPr lang="en-US" sz="2200" dirty="0"/>
          </a:p>
        </p:txBody>
      </p:sp>
      <p:sp>
        <p:nvSpPr>
          <p:cNvPr id="12" name="Text 8"/>
          <p:cNvSpPr/>
          <p:nvPr/>
        </p:nvSpPr>
        <p:spPr>
          <a:xfrm>
            <a:off x="3291840" y="1143000"/>
            <a:ext cx="8351215" cy="320040"/>
          </a:xfrm>
          <a:prstGeom prst="rect">
            <a:avLst/>
          </a:prstGeom>
          <a:noFill/>
          <a:ln/>
        </p:spPr>
        <p:txBody>
          <a:bodyPr wrap="square" lIns="0" tIns="0" rIns="0" bIns="0" rtlCol="0" anchor="ctr"/>
          <a:lstStyle/>
          <a:p>
            <a:pPr algn="l" indent="0" marL="0">
              <a:buNone/>
            </a:pPr>
            <a:r>
              <a:rPr lang="en-US" sz="1200" i="1" dirty="0">
                <a:solidFill>
                  <a:srgbClr val="7E5D4E"/>
                </a:solidFill>
                <a:latin typeface="Noto Sans KR" pitchFamily="34" charset="0"/>
                <a:ea typeface="Noto Sans KR" pitchFamily="34" charset="-122"/>
                <a:cs typeface="Noto Sans KR" pitchFamily="34" charset="-120"/>
              </a:rPr>
              <a:t>같은 "주문하기" 기능, 완전히 다른 인터페이스 — 사용자가 다르면 "좋은 UI"의 정의가 달라진다</a:t>
            </a:r>
            <a:endParaRPr lang="en-US" sz="1200" dirty="0"/>
          </a:p>
        </p:txBody>
      </p:sp>
      <p:sp>
        <p:nvSpPr>
          <p:cNvPr id="13" name="Shape 9"/>
          <p:cNvSpPr/>
          <p:nvPr/>
        </p:nvSpPr>
        <p:spPr>
          <a:xfrm>
            <a:off x="3291840" y="1481328"/>
            <a:ext cx="457200" cy="36576"/>
          </a:xfrm>
          <a:prstGeom prst="rect">
            <a:avLst/>
          </a:prstGeom>
          <a:solidFill>
            <a:srgbClr val="F08B51"/>
          </a:solidFill>
          <a:ln w="12700">
            <a:solidFill>
              <a:srgbClr val="F08B51"/>
            </a:solidFill>
            <a:prstDash val="solid"/>
          </a:ln>
        </p:spPr>
      </p:sp>
      <p:sp>
        <p:nvSpPr>
          <p:cNvPr id="14" name="Shape 10"/>
          <p:cNvSpPr/>
          <p:nvPr/>
        </p:nvSpPr>
        <p:spPr>
          <a:xfrm>
            <a:off x="3291840" y="1783080"/>
            <a:ext cx="2661818" cy="27432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5" name="Shape 11"/>
          <p:cNvSpPr/>
          <p:nvPr/>
        </p:nvSpPr>
        <p:spPr>
          <a:xfrm>
            <a:off x="3291840" y="1783080"/>
            <a:ext cx="73152" cy="2743200"/>
          </a:xfrm>
          <a:prstGeom prst="rect">
            <a:avLst/>
          </a:prstGeom>
          <a:solidFill>
            <a:srgbClr val="D4B896"/>
          </a:solidFill>
          <a:ln w="12700">
            <a:solidFill>
              <a:srgbClr val="D4B896"/>
            </a:solidFill>
            <a:prstDash val="solid"/>
          </a:ln>
        </p:spPr>
      </p:sp>
      <p:sp>
        <p:nvSpPr>
          <p:cNvPr id="16" name="Shape 12"/>
          <p:cNvSpPr/>
          <p:nvPr/>
        </p:nvSpPr>
        <p:spPr>
          <a:xfrm>
            <a:off x="3364992" y="1783080"/>
            <a:ext cx="2588666" cy="640080"/>
          </a:xfrm>
          <a:prstGeom prst="rect">
            <a:avLst/>
          </a:prstGeom>
          <a:solidFill>
            <a:srgbClr val="FDF8F3"/>
          </a:solidFill>
          <a:ln w="12700">
            <a:solidFill>
              <a:srgbClr val="FDF8F3"/>
            </a:solidFill>
            <a:prstDash val="solid"/>
          </a:ln>
        </p:spPr>
      </p:sp>
      <p:sp>
        <p:nvSpPr>
          <p:cNvPr id="17" name="Text 13"/>
          <p:cNvSpPr/>
          <p:nvPr/>
        </p:nvSpPr>
        <p:spPr>
          <a:xfrm>
            <a:off x="3520440" y="1874520"/>
            <a:ext cx="2341778" cy="27432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일반 키오스크</a:t>
            </a:r>
            <a:endParaRPr lang="en-US" sz="1300" dirty="0"/>
          </a:p>
        </p:txBody>
      </p:sp>
      <p:sp>
        <p:nvSpPr>
          <p:cNvPr id="18" name="Text 14"/>
          <p:cNvSpPr/>
          <p:nvPr/>
        </p:nvSpPr>
        <p:spPr>
          <a:xfrm>
            <a:off x="3520440" y="2148840"/>
            <a:ext cx="2341778" cy="201168"/>
          </a:xfrm>
          <a:prstGeom prst="rect">
            <a:avLst/>
          </a:prstGeom>
          <a:noFill/>
          <a:ln/>
        </p:spPr>
        <p:txBody>
          <a:bodyPr wrap="square" lIns="0" tIns="0" rIns="0" bIns="0" rtlCol="0" anchor="ctr"/>
          <a:lstStyle/>
          <a:p>
            <a:pPr algn="l" indent="0" marL="0">
              <a:buNone/>
            </a:pPr>
            <a:r>
              <a:rPr lang="en-US" sz="1000" i="1" dirty="0">
                <a:solidFill>
                  <a:srgbClr val="A68474"/>
                </a:solidFill>
                <a:latin typeface="Noto Sans KR" pitchFamily="34" charset="0"/>
                <a:ea typeface="Noto Sans KR" pitchFamily="34" charset="-122"/>
                <a:cs typeface="Noto Sans KR" pitchFamily="34" charset="-120"/>
              </a:rPr>
              <a:t>General Kiosk</a:t>
            </a:r>
            <a:endParaRPr lang="en-US" sz="1000" dirty="0"/>
          </a:p>
        </p:txBody>
      </p:sp>
      <p:sp>
        <p:nvSpPr>
          <p:cNvPr id="19" name="Shape 15"/>
          <p:cNvSpPr/>
          <p:nvPr/>
        </p:nvSpPr>
        <p:spPr>
          <a:xfrm>
            <a:off x="3520440" y="2587752"/>
            <a:ext cx="164592" cy="164592"/>
          </a:xfrm>
          <a:prstGeom prst="rect">
            <a:avLst/>
          </a:prstGeom>
          <a:solidFill>
            <a:srgbClr val="D4B896"/>
          </a:solidFill>
          <a:ln w="12700">
            <a:solidFill>
              <a:srgbClr val="D4B896"/>
            </a:solidFill>
            <a:prstDash val="solid"/>
          </a:ln>
        </p:spPr>
      </p:sp>
      <p:sp>
        <p:nvSpPr>
          <p:cNvPr id="20" name="Text 16"/>
          <p:cNvSpPr/>
          <p:nvPr/>
        </p:nvSpPr>
        <p:spPr>
          <a:xfrm>
            <a:off x="3749040" y="2514600"/>
            <a:ext cx="2113178" cy="274320"/>
          </a:xfrm>
          <a:prstGeom prst="rect">
            <a:avLst/>
          </a:prstGeom>
          <a:noFill/>
          <a:ln/>
        </p:spPr>
        <p:txBody>
          <a:bodyPr wrap="square" lIns="0" tIns="0" rIns="0" bIns="0" rtlCol="0" anchor="ctr"/>
          <a:lstStyle/>
          <a:p>
            <a:pPr algn="l" indent="0" marL="0">
              <a:buNone/>
            </a:pPr>
            <a:r>
              <a:rPr lang="en-US" sz="1200" b="1" dirty="0">
                <a:solidFill>
                  <a:srgbClr val="D4B896"/>
                </a:solidFill>
                <a:latin typeface="Noto Sans KR" pitchFamily="34" charset="0"/>
                <a:ea typeface="Noto Sans KR" pitchFamily="34" charset="-122"/>
                <a:cs typeface="Noto Sans KR" pitchFamily="34" charset="-120"/>
              </a:rPr>
              <a:t>비장애 성인</a:t>
            </a:r>
            <a:endParaRPr lang="en-US" sz="1200" dirty="0"/>
          </a:p>
        </p:txBody>
      </p:sp>
      <p:sp>
        <p:nvSpPr>
          <p:cNvPr id="21" name="Shape 17"/>
          <p:cNvSpPr/>
          <p:nvPr/>
        </p:nvSpPr>
        <p:spPr>
          <a:xfrm>
            <a:off x="3538728" y="2971800"/>
            <a:ext cx="91440" cy="91440"/>
          </a:xfrm>
          <a:prstGeom prst="ellipse">
            <a:avLst/>
          </a:prstGeom>
          <a:solidFill>
            <a:srgbClr val="D4B896"/>
          </a:solidFill>
          <a:ln w="12700">
            <a:solidFill>
              <a:srgbClr val="D4B896"/>
            </a:solidFill>
            <a:prstDash val="solid"/>
          </a:ln>
        </p:spPr>
      </p:sp>
      <p:sp>
        <p:nvSpPr>
          <p:cNvPr id="22" name="Text 18"/>
          <p:cNvSpPr/>
          <p:nvPr/>
        </p:nvSpPr>
        <p:spPr>
          <a:xfrm>
            <a:off x="3703320" y="288036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눈높이 터치스크린</a:t>
            </a:r>
            <a:endParaRPr lang="en-US" sz="1050" dirty="0"/>
          </a:p>
        </p:txBody>
      </p:sp>
      <p:sp>
        <p:nvSpPr>
          <p:cNvPr id="23" name="Shape 19"/>
          <p:cNvSpPr/>
          <p:nvPr/>
        </p:nvSpPr>
        <p:spPr>
          <a:xfrm>
            <a:off x="3538728" y="3337560"/>
            <a:ext cx="91440" cy="91440"/>
          </a:xfrm>
          <a:prstGeom prst="ellipse">
            <a:avLst/>
          </a:prstGeom>
          <a:solidFill>
            <a:srgbClr val="D4B896"/>
          </a:solidFill>
          <a:ln w="12700">
            <a:solidFill>
              <a:srgbClr val="D4B896"/>
            </a:solidFill>
            <a:prstDash val="solid"/>
          </a:ln>
        </p:spPr>
      </p:sp>
      <p:sp>
        <p:nvSpPr>
          <p:cNvPr id="24" name="Text 20"/>
          <p:cNvSpPr/>
          <p:nvPr/>
        </p:nvSpPr>
        <p:spPr>
          <a:xfrm>
            <a:off x="3703320" y="324612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시각 중심</a:t>
            </a:r>
            <a:endParaRPr lang="en-US" sz="1050" dirty="0"/>
          </a:p>
        </p:txBody>
      </p:sp>
      <p:sp>
        <p:nvSpPr>
          <p:cNvPr id="25" name="Shape 21"/>
          <p:cNvSpPr/>
          <p:nvPr/>
        </p:nvSpPr>
        <p:spPr>
          <a:xfrm>
            <a:off x="3538728" y="3703320"/>
            <a:ext cx="91440" cy="91440"/>
          </a:xfrm>
          <a:prstGeom prst="ellipse">
            <a:avLst/>
          </a:prstGeom>
          <a:solidFill>
            <a:srgbClr val="D4B896"/>
          </a:solidFill>
          <a:ln w="12700">
            <a:solidFill>
              <a:srgbClr val="D4B896"/>
            </a:solidFill>
            <a:prstDash val="solid"/>
          </a:ln>
        </p:spPr>
      </p:sp>
      <p:sp>
        <p:nvSpPr>
          <p:cNvPr id="26" name="Text 22"/>
          <p:cNvSpPr/>
          <p:nvPr/>
        </p:nvSpPr>
        <p:spPr>
          <a:xfrm>
            <a:off x="3703320" y="361188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한 번에 많은 메뉴</a:t>
            </a:r>
            <a:endParaRPr lang="en-US" sz="1050" dirty="0"/>
          </a:p>
        </p:txBody>
      </p:sp>
      <p:sp>
        <p:nvSpPr>
          <p:cNvPr id="27" name="Shape 23"/>
          <p:cNvSpPr/>
          <p:nvPr/>
        </p:nvSpPr>
        <p:spPr>
          <a:xfrm>
            <a:off x="3538728" y="4069080"/>
            <a:ext cx="91440" cy="91440"/>
          </a:xfrm>
          <a:prstGeom prst="ellipse">
            <a:avLst/>
          </a:prstGeom>
          <a:solidFill>
            <a:srgbClr val="D4B896"/>
          </a:solidFill>
          <a:ln w="12700">
            <a:solidFill>
              <a:srgbClr val="D4B896"/>
            </a:solidFill>
            <a:prstDash val="solid"/>
          </a:ln>
        </p:spPr>
      </p:sp>
      <p:sp>
        <p:nvSpPr>
          <p:cNvPr id="28" name="Text 24"/>
          <p:cNvSpPr/>
          <p:nvPr/>
        </p:nvSpPr>
        <p:spPr>
          <a:xfrm>
            <a:off x="3703320" y="397764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빠른 연속 조작</a:t>
            </a:r>
            <a:endParaRPr lang="en-US" sz="1050" dirty="0"/>
          </a:p>
        </p:txBody>
      </p:sp>
      <p:sp>
        <p:nvSpPr>
          <p:cNvPr id="29" name="Shape 25"/>
          <p:cNvSpPr/>
          <p:nvPr/>
        </p:nvSpPr>
        <p:spPr>
          <a:xfrm>
            <a:off x="6136538" y="1783080"/>
            <a:ext cx="2661818" cy="27432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30" name="Shape 26"/>
          <p:cNvSpPr/>
          <p:nvPr/>
        </p:nvSpPr>
        <p:spPr>
          <a:xfrm>
            <a:off x="6136538" y="1783080"/>
            <a:ext cx="73152" cy="2743200"/>
          </a:xfrm>
          <a:prstGeom prst="rect">
            <a:avLst/>
          </a:prstGeom>
          <a:solidFill>
            <a:srgbClr val="88B04B"/>
          </a:solidFill>
          <a:ln w="12700">
            <a:solidFill>
              <a:srgbClr val="88B04B"/>
            </a:solidFill>
            <a:prstDash val="solid"/>
          </a:ln>
        </p:spPr>
      </p:sp>
      <p:sp>
        <p:nvSpPr>
          <p:cNvPr id="31" name="Shape 27"/>
          <p:cNvSpPr/>
          <p:nvPr/>
        </p:nvSpPr>
        <p:spPr>
          <a:xfrm>
            <a:off x="6209690" y="1783080"/>
            <a:ext cx="2588666" cy="640080"/>
          </a:xfrm>
          <a:prstGeom prst="rect">
            <a:avLst/>
          </a:prstGeom>
          <a:solidFill>
            <a:srgbClr val="E8F0D5"/>
          </a:solidFill>
          <a:ln w="12700">
            <a:solidFill>
              <a:srgbClr val="E8F0D5"/>
            </a:solidFill>
            <a:prstDash val="solid"/>
          </a:ln>
        </p:spPr>
      </p:sp>
      <p:sp>
        <p:nvSpPr>
          <p:cNvPr id="32" name="Text 28"/>
          <p:cNvSpPr/>
          <p:nvPr/>
        </p:nvSpPr>
        <p:spPr>
          <a:xfrm>
            <a:off x="6365138" y="1874520"/>
            <a:ext cx="2341778" cy="27432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배리어프리 키오스크</a:t>
            </a:r>
            <a:endParaRPr lang="en-US" sz="1300" dirty="0"/>
          </a:p>
        </p:txBody>
      </p:sp>
      <p:sp>
        <p:nvSpPr>
          <p:cNvPr id="33" name="Text 29"/>
          <p:cNvSpPr/>
          <p:nvPr/>
        </p:nvSpPr>
        <p:spPr>
          <a:xfrm>
            <a:off x="6365138" y="2148840"/>
            <a:ext cx="2341778" cy="201168"/>
          </a:xfrm>
          <a:prstGeom prst="rect">
            <a:avLst/>
          </a:prstGeom>
          <a:noFill/>
          <a:ln/>
        </p:spPr>
        <p:txBody>
          <a:bodyPr wrap="square" lIns="0" tIns="0" rIns="0" bIns="0" rtlCol="0" anchor="ctr"/>
          <a:lstStyle/>
          <a:p>
            <a:pPr algn="l" indent="0" marL="0">
              <a:buNone/>
            </a:pPr>
            <a:r>
              <a:rPr lang="en-US" sz="1000" i="1" dirty="0">
                <a:solidFill>
                  <a:srgbClr val="A68474"/>
                </a:solidFill>
                <a:latin typeface="Noto Sans KR" pitchFamily="34" charset="0"/>
                <a:ea typeface="Noto Sans KR" pitchFamily="34" charset="-122"/>
                <a:cs typeface="Noto Sans KR" pitchFamily="34" charset="-120"/>
              </a:rPr>
              <a:t>Barrier-free Kiosk</a:t>
            </a:r>
            <a:endParaRPr lang="en-US" sz="1000" dirty="0"/>
          </a:p>
        </p:txBody>
      </p:sp>
      <p:sp>
        <p:nvSpPr>
          <p:cNvPr id="34" name="Shape 30"/>
          <p:cNvSpPr/>
          <p:nvPr/>
        </p:nvSpPr>
        <p:spPr>
          <a:xfrm>
            <a:off x="6365138" y="2587752"/>
            <a:ext cx="164592" cy="164592"/>
          </a:xfrm>
          <a:prstGeom prst="rect">
            <a:avLst/>
          </a:prstGeom>
          <a:solidFill>
            <a:srgbClr val="88B04B"/>
          </a:solidFill>
          <a:ln w="12700">
            <a:solidFill>
              <a:srgbClr val="88B04B"/>
            </a:solidFill>
            <a:prstDash val="solid"/>
          </a:ln>
        </p:spPr>
      </p:sp>
      <p:sp>
        <p:nvSpPr>
          <p:cNvPr id="35" name="Text 31"/>
          <p:cNvSpPr/>
          <p:nvPr/>
        </p:nvSpPr>
        <p:spPr>
          <a:xfrm>
            <a:off x="6593738" y="2514600"/>
            <a:ext cx="2113178" cy="274320"/>
          </a:xfrm>
          <a:prstGeom prst="rect">
            <a:avLst/>
          </a:prstGeom>
          <a:noFill/>
          <a:ln/>
        </p:spPr>
        <p:txBody>
          <a:bodyPr wrap="square" lIns="0" tIns="0" rIns="0" bIns="0" rtlCol="0" anchor="ctr"/>
          <a:lstStyle/>
          <a:p>
            <a:pPr algn="l" indent="0" marL="0">
              <a:buNone/>
            </a:pPr>
            <a:r>
              <a:rPr lang="en-US" sz="1200" b="1" dirty="0">
                <a:solidFill>
                  <a:srgbClr val="88B04B"/>
                </a:solidFill>
                <a:latin typeface="Noto Sans KR" pitchFamily="34" charset="0"/>
                <a:ea typeface="Noto Sans KR" pitchFamily="34" charset="-122"/>
                <a:cs typeface="Noto Sans KR" pitchFamily="34" charset="-120"/>
              </a:rPr>
              <a:t>휠체어 · 시각장애</a:t>
            </a:r>
            <a:endParaRPr lang="en-US" sz="1200" dirty="0"/>
          </a:p>
        </p:txBody>
      </p:sp>
      <p:sp>
        <p:nvSpPr>
          <p:cNvPr id="36" name="Shape 32"/>
          <p:cNvSpPr/>
          <p:nvPr/>
        </p:nvSpPr>
        <p:spPr>
          <a:xfrm>
            <a:off x="6383426" y="2971800"/>
            <a:ext cx="91440" cy="91440"/>
          </a:xfrm>
          <a:prstGeom prst="ellipse">
            <a:avLst/>
          </a:prstGeom>
          <a:solidFill>
            <a:srgbClr val="88B04B"/>
          </a:solidFill>
          <a:ln w="12700">
            <a:solidFill>
              <a:srgbClr val="88B04B"/>
            </a:solidFill>
            <a:prstDash val="solid"/>
          </a:ln>
        </p:spPr>
      </p:sp>
      <p:sp>
        <p:nvSpPr>
          <p:cNvPr id="37" name="Text 33"/>
          <p:cNvSpPr/>
          <p:nvPr/>
        </p:nvSpPr>
        <p:spPr>
          <a:xfrm>
            <a:off x="6548018" y="288036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낮은 화면</a:t>
            </a:r>
            <a:endParaRPr lang="en-US" sz="1050" dirty="0"/>
          </a:p>
        </p:txBody>
      </p:sp>
      <p:sp>
        <p:nvSpPr>
          <p:cNvPr id="38" name="Shape 34"/>
          <p:cNvSpPr/>
          <p:nvPr/>
        </p:nvSpPr>
        <p:spPr>
          <a:xfrm>
            <a:off x="6383426" y="3337560"/>
            <a:ext cx="91440" cy="91440"/>
          </a:xfrm>
          <a:prstGeom prst="ellipse">
            <a:avLst/>
          </a:prstGeom>
          <a:solidFill>
            <a:srgbClr val="88B04B"/>
          </a:solidFill>
          <a:ln w="12700">
            <a:solidFill>
              <a:srgbClr val="88B04B"/>
            </a:solidFill>
            <a:prstDash val="solid"/>
          </a:ln>
        </p:spPr>
      </p:sp>
      <p:sp>
        <p:nvSpPr>
          <p:cNvPr id="39" name="Text 35"/>
          <p:cNvSpPr/>
          <p:nvPr/>
        </p:nvSpPr>
        <p:spPr>
          <a:xfrm>
            <a:off x="6548018" y="324612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점자 · 음성 안내</a:t>
            </a:r>
            <a:endParaRPr lang="en-US" sz="1050" dirty="0"/>
          </a:p>
        </p:txBody>
      </p:sp>
      <p:sp>
        <p:nvSpPr>
          <p:cNvPr id="40" name="Shape 36"/>
          <p:cNvSpPr/>
          <p:nvPr/>
        </p:nvSpPr>
        <p:spPr>
          <a:xfrm>
            <a:off x="6383426" y="3703320"/>
            <a:ext cx="91440" cy="91440"/>
          </a:xfrm>
          <a:prstGeom prst="ellipse">
            <a:avLst/>
          </a:prstGeom>
          <a:solidFill>
            <a:srgbClr val="88B04B"/>
          </a:solidFill>
          <a:ln w="12700">
            <a:solidFill>
              <a:srgbClr val="88B04B"/>
            </a:solidFill>
            <a:prstDash val="solid"/>
          </a:ln>
        </p:spPr>
      </p:sp>
      <p:sp>
        <p:nvSpPr>
          <p:cNvPr id="41" name="Text 37"/>
          <p:cNvSpPr/>
          <p:nvPr/>
        </p:nvSpPr>
        <p:spPr>
          <a:xfrm>
            <a:off x="6548018" y="361188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큰 버튼 · 단순한 흐름</a:t>
            </a:r>
            <a:endParaRPr lang="en-US" sz="1050" dirty="0"/>
          </a:p>
        </p:txBody>
      </p:sp>
      <p:sp>
        <p:nvSpPr>
          <p:cNvPr id="42" name="Shape 38"/>
          <p:cNvSpPr/>
          <p:nvPr/>
        </p:nvSpPr>
        <p:spPr>
          <a:xfrm>
            <a:off x="6383426" y="4069080"/>
            <a:ext cx="91440" cy="91440"/>
          </a:xfrm>
          <a:prstGeom prst="ellipse">
            <a:avLst/>
          </a:prstGeom>
          <a:solidFill>
            <a:srgbClr val="88B04B"/>
          </a:solidFill>
          <a:ln w="12700">
            <a:solidFill>
              <a:srgbClr val="88B04B"/>
            </a:solidFill>
            <a:prstDash val="solid"/>
          </a:ln>
        </p:spPr>
      </p:sp>
      <p:sp>
        <p:nvSpPr>
          <p:cNvPr id="43" name="Text 39"/>
          <p:cNvSpPr/>
          <p:nvPr/>
        </p:nvSpPr>
        <p:spPr>
          <a:xfrm>
            <a:off x="6548018" y="397764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다중 감각 피드백</a:t>
            </a:r>
            <a:endParaRPr lang="en-US" sz="1050" dirty="0"/>
          </a:p>
        </p:txBody>
      </p:sp>
      <p:sp>
        <p:nvSpPr>
          <p:cNvPr id="44" name="Shape 40"/>
          <p:cNvSpPr/>
          <p:nvPr/>
        </p:nvSpPr>
        <p:spPr>
          <a:xfrm>
            <a:off x="8981237" y="1783080"/>
            <a:ext cx="2661818" cy="27432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45" name="Shape 41"/>
          <p:cNvSpPr/>
          <p:nvPr/>
        </p:nvSpPr>
        <p:spPr>
          <a:xfrm>
            <a:off x="8981237" y="1783080"/>
            <a:ext cx="73152" cy="2743200"/>
          </a:xfrm>
          <a:prstGeom prst="rect">
            <a:avLst/>
          </a:prstGeom>
          <a:solidFill>
            <a:srgbClr val="F08B51"/>
          </a:solidFill>
          <a:ln w="12700">
            <a:solidFill>
              <a:srgbClr val="F08B51"/>
            </a:solidFill>
            <a:prstDash val="solid"/>
          </a:ln>
        </p:spPr>
      </p:sp>
      <p:sp>
        <p:nvSpPr>
          <p:cNvPr id="46" name="Shape 42"/>
          <p:cNvSpPr/>
          <p:nvPr/>
        </p:nvSpPr>
        <p:spPr>
          <a:xfrm>
            <a:off x="9054389" y="1783080"/>
            <a:ext cx="2588666" cy="640080"/>
          </a:xfrm>
          <a:prstGeom prst="rect">
            <a:avLst/>
          </a:prstGeom>
          <a:solidFill>
            <a:srgbClr val="FDEAD9"/>
          </a:solidFill>
          <a:ln w="12700">
            <a:solidFill>
              <a:srgbClr val="FDEAD9"/>
            </a:solidFill>
            <a:prstDash val="solid"/>
          </a:ln>
        </p:spPr>
      </p:sp>
      <p:sp>
        <p:nvSpPr>
          <p:cNvPr id="47" name="Text 43"/>
          <p:cNvSpPr/>
          <p:nvPr/>
        </p:nvSpPr>
        <p:spPr>
          <a:xfrm>
            <a:off x="9209837" y="1874520"/>
            <a:ext cx="2341778" cy="27432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음성 주문 AI</a:t>
            </a:r>
            <a:endParaRPr lang="en-US" sz="1300" dirty="0"/>
          </a:p>
        </p:txBody>
      </p:sp>
      <p:sp>
        <p:nvSpPr>
          <p:cNvPr id="48" name="Text 44"/>
          <p:cNvSpPr/>
          <p:nvPr/>
        </p:nvSpPr>
        <p:spPr>
          <a:xfrm>
            <a:off x="9209837" y="2148840"/>
            <a:ext cx="2341778" cy="201168"/>
          </a:xfrm>
          <a:prstGeom prst="rect">
            <a:avLst/>
          </a:prstGeom>
          <a:noFill/>
          <a:ln/>
        </p:spPr>
        <p:txBody>
          <a:bodyPr wrap="square" lIns="0" tIns="0" rIns="0" bIns="0" rtlCol="0" anchor="ctr"/>
          <a:lstStyle/>
          <a:p>
            <a:pPr algn="l" indent="0" marL="0">
              <a:buNone/>
            </a:pPr>
            <a:r>
              <a:rPr lang="en-US" sz="1000" i="1" dirty="0">
                <a:solidFill>
                  <a:srgbClr val="A68474"/>
                </a:solidFill>
                <a:latin typeface="Noto Sans KR" pitchFamily="34" charset="0"/>
                <a:ea typeface="Noto Sans KR" pitchFamily="34" charset="-122"/>
                <a:cs typeface="Noto Sans KR" pitchFamily="34" charset="-120"/>
              </a:rPr>
              <a:t>Voice Ordering AI</a:t>
            </a:r>
            <a:endParaRPr lang="en-US" sz="1000" dirty="0"/>
          </a:p>
        </p:txBody>
      </p:sp>
      <p:sp>
        <p:nvSpPr>
          <p:cNvPr id="49" name="Shape 45"/>
          <p:cNvSpPr/>
          <p:nvPr/>
        </p:nvSpPr>
        <p:spPr>
          <a:xfrm>
            <a:off x="9209837" y="2587752"/>
            <a:ext cx="164592" cy="164592"/>
          </a:xfrm>
          <a:prstGeom prst="rect">
            <a:avLst/>
          </a:prstGeom>
          <a:solidFill>
            <a:srgbClr val="F08B51"/>
          </a:solidFill>
          <a:ln w="12700">
            <a:solidFill>
              <a:srgbClr val="F08B51"/>
            </a:solidFill>
            <a:prstDash val="solid"/>
          </a:ln>
        </p:spPr>
      </p:sp>
      <p:sp>
        <p:nvSpPr>
          <p:cNvPr id="50" name="Text 46"/>
          <p:cNvSpPr/>
          <p:nvPr/>
        </p:nvSpPr>
        <p:spPr>
          <a:xfrm>
            <a:off x="9438437" y="2514600"/>
            <a:ext cx="2113178" cy="274320"/>
          </a:xfrm>
          <a:prstGeom prst="rect">
            <a:avLst/>
          </a:prstGeom>
          <a:noFill/>
          <a:ln/>
        </p:spPr>
        <p:txBody>
          <a:bodyPr wrap="square" lIns="0" tIns="0" rIns="0" bIns="0" rtlCol="0" anchor="ctr"/>
          <a:lstStyle/>
          <a:p>
            <a:pPr algn="l" indent="0" marL="0">
              <a:buNone/>
            </a:pPr>
            <a:r>
              <a:rPr lang="en-US" sz="1200" b="1" dirty="0">
                <a:solidFill>
                  <a:srgbClr val="F08B51"/>
                </a:solidFill>
                <a:latin typeface="Noto Sans KR" pitchFamily="34" charset="0"/>
                <a:ea typeface="Noto Sans KR" pitchFamily="34" charset="-122"/>
                <a:cs typeface="Noto Sans KR" pitchFamily="34" charset="-120"/>
              </a:rPr>
              <a:t>목소리만으로</a:t>
            </a:r>
            <a:endParaRPr lang="en-US" sz="1200" dirty="0"/>
          </a:p>
        </p:txBody>
      </p:sp>
      <p:sp>
        <p:nvSpPr>
          <p:cNvPr id="51" name="Shape 47"/>
          <p:cNvSpPr/>
          <p:nvPr/>
        </p:nvSpPr>
        <p:spPr>
          <a:xfrm>
            <a:off x="9228125" y="2971800"/>
            <a:ext cx="91440" cy="91440"/>
          </a:xfrm>
          <a:prstGeom prst="ellipse">
            <a:avLst/>
          </a:prstGeom>
          <a:solidFill>
            <a:srgbClr val="F08B51"/>
          </a:solidFill>
          <a:ln w="12700">
            <a:solidFill>
              <a:srgbClr val="F08B51"/>
            </a:solidFill>
            <a:prstDash val="solid"/>
          </a:ln>
        </p:spPr>
      </p:sp>
      <p:sp>
        <p:nvSpPr>
          <p:cNvPr id="52" name="Text 48"/>
          <p:cNvSpPr/>
          <p:nvPr/>
        </p:nvSpPr>
        <p:spPr>
          <a:xfrm>
            <a:off x="9392717" y="288036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대화형</a:t>
            </a:r>
            <a:endParaRPr lang="en-US" sz="1050" dirty="0"/>
          </a:p>
        </p:txBody>
      </p:sp>
      <p:sp>
        <p:nvSpPr>
          <p:cNvPr id="53" name="Shape 49"/>
          <p:cNvSpPr/>
          <p:nvPr/>
        </p:nvSpPr>
        <p:spPr>
          <a:xfrm>
            <a:off x="9228125" y="3337560"/>
            <a:ext cx="91440" cy="91440"/>
          </a:xfrm>
          <a:prstGeom prst="ellipse">
            <a:avLst/>
          </a:prstGeom>
          <a:solidFill>
            <a:srgbClr val="F08B51"/>
          </a:solidFill>
          <a:ln w="12700">
            <a:solidFill>
              <a:srgbClr val="F08B51"/>
            </a:solidFill>
            <a:prstDash val="solid"/>
          </a:ln>
        </p:spPr>
      </p:sp>
      <p:sp>
        <p:nvSpPr>
          <p:cNvPr id="54" name="Text 50"/>
          <p:cNvSpPr/>
          <p:nvPr/>
        </p:nvSpPr>
        <p:spPr>
          <a:xfrm>
            <a:off x="9392717" y="324612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청각/언어 중심</a:t>
            </a:r>
            <a:endParaRPr lang="en-US" sz="1050" dirty="0"/>
          </a:p>
        </p:txBody>
      </p:sp>
      <p:sp>
        <p:nvSpPr>
          <p:cNvPr id="55" name="Shape 51"/>
          <p:cNvSpPr/>
          <p:nvPr/>
        </p:nvSpPr>
        <p:spPr>
          <a:xfrm>
            <a:off x="9228125" y="3703320"/>
            <a:ext cx="91440" cy="91440"/>
          </a:xfrm>
          <a:prstGeom prst="ellipse">
            <a:avLst/>
          </a:prstGeom>
          <a:solidFill>
            <a:srgbClr val="F08B51"/>
          </a:solidFill>
          <a:ln w="12700">
            <a:solidFill>
              <a:srgbClr val="F08B51"/>
            </a:solidFill>
            <a:prstDash val="solid"/>
          </a:ln>
        </p:spPr>
      </p:sp>
      <p:sp>
        <p:nvSpPr>
          <p:cNvPr id="56" name="Text 52"/>
          <p:cNvSpPr/>
          <p:nvPr/>
        </p:nvSpPr>
        <p:spPr>
          <a:xfrm>
            <a:off x="9392717" y="361188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순차적 제시</a:t>
            </a:r>
            <a:endParaRPr lang="en-US" sz="1050" dirty="0"/>
          </a:p>
        </p:txBody>
      </p:sp>
      <p:sp>
        <p:nvSpPr>
          <p:cNvPr id="57" name="Shape 53"/>
          <p:cNvSpPr/>
          <p:nvPr/>
        </p:nvSpPr>
        <p:spPr>
          <a:xfrm>
            <a:off x="9228125" y="4069080"/>
            <a:ext cx="91440" cy="91440"/>
          </a:xfrm>
          <a:prstGeom prst="ellipse">
            <a:avLst/>
          </a:prstGeom>
          <a:solidFill>
            <a:srgbClr val="F08B51"/>
          </a:solidFill>
          <a:ln w="12700">
            <a:solidFill>
              <a:srgbClr val="F08B51"/>
            </a:solidFill>
            <a:prstDash val="solid"/>
          </a:ln>
        </p:spPr>
      </p:sp>
      <p:sp>
        <p:nvSpPr>
          <p:cNvPr id="58" name="Text 54"/>
          <p:cNvSpPr/>
          <p:nvPr/>
        </p:nvSpPr>
        <p:spPr>
          <a:xfrm>
            <a:off x="9392717" y="3977640"/>
            <a:ext cx="2113178" cy="274320"/>
          </a:xfrm>
          <a:prstGeom prst="rect">
            <a:avLst/>
          </a:prstGeom>
          <a:noFill/>
          <a:ln/>
        </p:spPr>
        <p:txBody>
          <a:bodyPr wrap="square" lIns="0" tIns="0" rIns="0" bIns="0" rtlCol="0" anchor="t"/>
          <a:lstStyle/>
          <a:p>
            <a:pPr algn="l" indent="0" marL="0">
              <a:buNone/>
            </a:pPr>
            <a:r>
              <a:rPr lang="en-US" sz="1050" dirty="0">
                <a:solidFill>
                  <a:srgbClr val="7E5D4E"/>
                </a:solidFill>
                <a:latin typeface="Noto Sans KR" pitchFamily="34" charset="0"/>
                <a:ea typeface="Noto Sans KR" pitchFamily="34" charset="-122"/>
                <a:cs typeface="Noto Sans KR" pitchFamily="34" charset="-120"/>
              </a:rPr>
              <a:t>확인/정정 루프</a:t>
            </a:r>
            <a:endParaRPr lang="en-US" sz="1050" dirty="0"/>
          </a:p>
        </p:txBody>
      </p:sp>
      <p:sp>
        <p:nvSpPr>
          <p:cNvPr id="59" name="Shape 55"/>
          <p:cNvSpPr/>
          <p:nvPr/>
        </p:nvSpPr>
        <p:spPr>
          <a:xfrm>
            <a:off x="3291840" y="4709160"/>
            <a:ext cx="8351215" cy="685800"/>
          </a:xfrm>
          <a:prstGeom prst="roundRect">
            <a:avLst>
              <a:gd name="adj" fmla="val 10667"/>
            </a:avLst>
          </a:prstGeom>
          <a:solidFill>
            <a:srgbClr val="5C4033"/>
          </a:solidFill>
          <a:ln w="12700">
            <a:solidFill>
              <a:srgbClr val="5C4033"/>
            </a:solidFill>
            <a:prstDash val="solid"/>
          </a:ln>
        </p:spPr>
      </p:sp>
      <p:sp>
        <p:nvSpPr>
          <p:cNvPr id="60" name="Text 56"/>
          <p:cNvSpPr/>
          <p:nvPr/>
        </p:nvSpPr>
        <p:spPr>
          <a:xfrm>
            <a:off x="3566160" y="4709160"/>
            <a:ext cx="7802575" cy="685800"/>
          </a:xfrm>
          <a:prstGeom prst="rect">
            <a:avLst/>
          </a:prstGeom>
          <a:noFill/>
          <a:ln/>
        </p:spPr>
        <p:txBody>
          <a:bodyPr wrap="square" lIns="0" tIns="0" rIns="0" bIns="0" rtlCol="0" anchor="ctr"/>
          <a:lstStyle/>
          <a:p>
            <a:pPr algn="l" indent="0" marL="0">
              <a:buNone/>
            </a:pPr>
            <a:r>
              <a:rPr lang="en-US" sz="1300" b="1" dirty="0">
                <a:solidFill>
                  <a:srgbClr val="F9C7A8"/>
                </a:solidFill>
                <a:latin typeface="Noto Sans KR" pitchFamily="34" charset="0"/>
                <a:ea typeface="Noto Sans KR" pitchFamily="34" charset="-122"/>
                <a:cs typeface="Noto Sans KR" pitchFamily="34" charset="-120"/>
              </a:rPr>
              <a:t>기능은 같다.  </a:t>
            </a:r>
            <a:pPr algn="l" indent="0" marL="0">
              <a:buNone/>
            </a:pPr>
            <a:r>
              <a:rPr lang="en-US" sz="1300" dirty="0">
                <a:solidFill>
                  <a:srgbClr val="FFFFFF"/>
                </a:solidFill>
                <a:latin typeface="Noto Sans KR" pitchFamily="34" charset="0"/>
                <a:ea typeface="Noto Sans KR" pitchFamily="34" charset="-122"/>
                <a:cs typeface="Noto Sans KR" pitchFamily="34" charset="-120"/>
              </a:rPr>
              <a:t>사용자가 다르면 인터페이스가 달라져야 한다.  </a:t>
            </a:r>
            <a:pPr algn="l" indent="0" marL="0">
              <a:buNone/>
            </a:pPr>
            <a:r>
              <a:rPr lang="en-US" sz="1300" b="1" dirty="0">
                <a:solidFill>
                  <a:srgbClr val="F9C7A8"/>
                </a:solidFill>
                <a:latin typeface="Noto Sans KR" pitchFamily="34" charset="0"/>
                <a:ea typeface="Noto Sans KR" pitchFamily="34" charset="-122"/>
                <a:cs typeface="Noto Sans KR" pitchFamily="34" charset="-120"/>
              </a:rPr>
              <a:t>LLM이라는 새로운 사용자에게는? → ACI.</a:t>
            </a:r>
            <a:endParaRPr lang="en-US" sz="1300" dirty="0"/>
          </a:p>
        </p:txBody>
      </p:sp>
      <p:sp>
        <p:nvSpPr>
          <p:cNvPr id="62" name="Text 57"/>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SWE-AGENT · 1/7</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15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ACI — Agent-Computer Interface</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인간을 위한 GUI/CLI가 아닌, LLM을 위한 새로운 인터페이스</a:t>
            </a:r>
            <a:endParaRPr lang="en-US" sz="1800" dirty="0"/>
          </a:p>
        </p:txBody>
      </p:sp>
      <p:sp>
        <p:nvSpPr>
          <p:cNvPr id="7" name="Shape 5"/>
          <p:cNvSpPr/>
          <p:nvPr/>
        </p:nvSpPr>
        <p:spPr>
          <a:xfrm>
            <a:off x="548640" y="1691640"/>
            <a:ext cx="457200" cy="36576"/>
          </a:xfrm>
          <a:prstGeom prst="rect">
            <a:avLst/>
          </a:prstGeom>
          <a:solidFill>
            <a:srgbClr val="F08B51"/>
          </a:solidFill>
          <a:ln w="12700">
            <a:solidFill>
              <a:srgbClr val="F08B51"/>
            </a:solidFill>
            <a:prstDash val="solid"/>
          </a:ln>
        </p:spPr>
      </p:sp>
      <p:sp>
        <p:nvSpPr>
          <p:cNvPr id="8" name="Shape 6"/>
          <p:cNvSpPr/>
          <p:nvPr/>
        </p:nvSpPr>
        <p:spPr>
          <a:xfrm>
            <a:off x="548640" y="2057400"/>
            <a:ext cx="11094415" cy="594360"/>
          </a:xfrm>
          <a:prstGeom prst="roundRect">
            <a:avLst>
              <a:gd name="adj" fmla="val 15385"/>
            </a:avLst>
          </a:prstGeom>
          <a:solidFill>
            <a:srgbClr val="FDEAD9"/>
          </a:solidFill>
          <a:ln w="9525">
            <a:solidFill>
              <a:srgbClr val="F9C7A8"/>
            </a:solidFill>
            <a:prstDash val="solid"/>
          </a:ln>
        </p:spPr>
      </p:sp>
      <p:sp>
        <p:nvSpPr>
          <p:cNvPr id="9" name="Text 7"/>
          <p:cNvSpPr/>
          <p:nvPr/>
        </p:nvSpPr>
        <p:spPr>
          <a:xfrm>
            <a:off x="822960" y="2057400"/>
            <a:ext cx="10545775" cy="594360"/>
          </a:xfrm>
          <a:prstGeom prst="rect">
            <a:avLst/>
          </a:prstGeom>
          <a:noFill/>
          <a:ln/>
        </p:spPr>
        <p:txBody>
          <a:bodyPr wrap="square" lIns="0" tIns="0" rIns="0" bIns="0" rtlCol="0" anchor="ctr"/>
          <a:lstStyle/>
          <a:p>
            <a:pPr algn="l" indent="0" marL="0">
              <a:buNone/>
            </a:pPr>
            <a:r>
              <a:rPr lang="en-US" sz="1100" b="1" spc="100" kern="0" dirty="0">
                <a:solidFill>
                  <a:srgbClr val="F08B51"/>
                </a:solidFill>
                <a:latin typeface="Noto Sans KR" pitchFamily="34" charset="0"/>
                <a:ea typeface="Noto Sans KR" pitchFamily="34" charset="-122"/>
                <a:cs typeface="Noto Sans KR" pitchFamily="34" charset="-120"/>
              </a:rPr>
              <a:t>핵심 통찰 · Core Insight  </a:t>
            </a:r>
            <a:pPr algn="l" indent="0" marL="0">
              <a:buNone/>
            </a:pPr>
            <a:r>
              <a:rPr lang="en-US" sz="1300" dirty="0">
                <a:solidFill>
                  <a:srgbClr val="5C4033"/>
                </a:solidFill>
                <a:latin typeface="Noto Sans KR" pitchFamily="34" charset="0"/>
                <a:ea typeface="Noto Sans KR" pitchFamily="34" charset="-122"/>
                <a:cs typeface="Noto Sans KR" pitchFamily="34" charset="-120"/>
              </a:rPr>
              <a:t>기존 인터페이스는 "인간"을 위해 설계됨. LLM은 "새로운 종류의 사용자"다.</a:t>
            </a:r>
            <a:endParaRPr lang="en-US" sz="1100" dirty="0"/>
          </a:p>
        </p:txBody>
      </p:sp>
      <p:sp>
        <p:nvSpPr>
          <p:cNvPr id="10" name="Shape 8"/>
          <p:cNvSpPr/>
          <p:nvPr/>
        </p:nvSpPr>
        <p:spPr>
          <a:xfrm>
            <a:off x="548640" y="2834640"/>
            <a:ext cx="5364328" cy="32918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1" name="Shape 9"/>
          <p:cNvSpPr/>
          <p:nvPr/>
        </p:nvSpPr>
        <p:spPr>
          <a:xfrm>
            <a:off x="548640" y="2834640"/>
            <a:ext cx="73152" cy="3291840"/>
          </a:xfrm>
          <a:prstGeom prst="rect">
            <a:avLst/>
          </a:prstGeom>
          <a:solidFill>
            <a:srgbClr val="D4B896"/>
          </a:solidFill>
          <a:ln w="12700">
            <a:solidFill>
              <a:srgbClr val="D4B896"/>
            </a:solidFill>
            <a:prstDash val="solid"/>
          </a:ln>
        </p:spPr>
      </p:sp>
      <p:sp>
        <p:nvSpPr>
          <p:cNvPr id="12" name="Shape 10"/>
          <p:cNvSpPr/>
          <p:nvPr/>
        </p:nvSpPr>
        <p:spPr>
          <a:xfrm>
            <a:off x="822960" y="3108960"/>
            <a:ext cx="777240" cy="274320"/>
          </a:xfrm>
          <a:prstGeom prst="roundRect">
            <a:avLst>
              <a:gd name="adj" fmla="val 20000"/>
            </a:avLst>
          </a:prstGeom>
          <a:solidFill>
            <a:srgbClr val="D4B896"/>
          </a:solidFill>
          <a:ln w="12700">
            <a:solidFill>
              <a:srgbClr val="D4B896"/>
            </a:solidFill>
            <a:prstDash val="solid"/>
          </a:ln>
        </p:spPr>
      </p:sp>
      <p:sp>
        <p:nvSpPr>
          <p:cNvPr id="13" name="Text 11"/>
          <p:cNvSpPr/>
          <p:nvPr/>
        </p:nvSpPr>
        <p:spPr>
          <a:xfrm>
            <a:off x="822960" y="3108960"/>
            <a:ext cx="77724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Noto Sans KR" pitchFamily="34" charset="0"/>
                <a:ea typeface="Noto Sans KR" pitchFamily="34" charset="-122"/>
                <a:cs typeface="Noto Sans KR" pitchFamily="34" charset="-120"/>
              </a:rPr>
              <a:t>HUMAN</a:t>
            </a:r>
            <a:endParaRPr lang="en-US" sz="1000" dirty="0"/>
          </a:p>
        </p:txBody>
      </p:sp>
      <p:sp>
        <p:nvSpPr>
          <p:cNvPr id="14" name="Text 12"/>
          <p:cNvSpPr/>
          <p:nvPr/>
        </p:nvSpPr>
        <p:spPr>
          <a:xfrm>
            <a:off x="1691640" y="3035808"/>
            <a:ext cx="3992728" cy="457200"/>
          </a:xfrm>
          <a:prstGeom prst="rect">
            <a:avLst/>
          </a:prstGeom>
          <a:noFill/>
          <a:ln/>
        </p:spPr>
        <p:txBody>
          <a:bodyPr wrap="square" lIns="0" tIns="0" rIns="0" bIns="0" rtlCol="0" anchor="ctr"/>
          <a:lstStyle/>
          <a:p>
            <a:pPr algn="l" indent="0" marL="0">
              <a:buNone/>
            </a:pPr>
            <a:r>
              <a:rPr lang="en-US" sz="2000" b="1" dirty="0">
                <a:solidFill>
                  <a:srgbClr val="5C4033"/>
                </a:solidFill>
                <a:latin typeface="Nanum Myeongjo" pitchFamily="34" charset="0"/>
                <a:ea typeface="Nanum Myeongjo" pitchFamily="34" charset="-122"/>
                <a:cs typeface="Nanum Myeongjo" pitchFamily="34" charset="-120"/>
              </a:rPr>
              <a:t>인간 개발자</a:t>
            </a:r>
            <a:endParaRPr lang="en-US" sz="2000" dirty="0"/>
          </a:p>
        </p:txBody>
      </p:sp>
      <p:sp>
        <p:nvSpPr>
          <p:cNvPr id="15" name="Text 13"/>
          <p:cNvSpPr/>
          <p:nvPr/>
        </p:nvSpPr>
        <p:spPr>
          <a:xfrm>
            <a:off x="822960" y="3566160"/>
            <a:ext cx="4815688" cy="274320"/>
          </a:xfrm>
          <a:prstGeom prst="rect">
            <a:avLst/>
          </a:prstGeom>
          <a:noFill/>
          <a:ln/>
        </p:spPr>
        <p:txBody>
          <a:bodyPr wrap="square" lIns="0" tIns="0" rIns="0" bIns="0" rtlCol="0" anchor="ctr"/>
          <a:lstStyle/>
          <a:p>
            <a:pPr algn="l" indent="0" marL="0">
              <a:buNone/>
            </a:pPr>
            <a:r>
              <a:rPr lang="en-US" sz="1100" i="1" dirty="0">
                <a:solidFill>
                  <a:srgbClr val="A68474"/>
                </a:solidFill>
                <a:latin typeface="Noto Sans KR" pitchFamily="34" charset="0"/>
                <a:ea typeface="Noto Sans KR" pitchFamily="34" charset="-122"/>
                <a:cs typeface="Noto Sans KR" pitchFamily="34" charset="-120"/>
              </a:rPr>
              <a:t>Human Developer · GUI &amp; CLI 사용</a:t>
            </a:r>
            <a:endParaRPr lang="en-US" sz="1100" dirty="0"/>
          </a:p>
        </p:txBody>
      </p:sp>
      <p:sp>
        <p:nvSpPr>
          <p:cNvPr id="16" name="Shape 14"/>
          <p:cNvSpPr/>
          <p:nvPr/>
        </p:nvSpPr>
        <p:spPr>
          <a:xfrm>
            <a:off x="822960" y="4050792"/>
            <a:ext cx="36576" cy="292608"/>
          </a:xfrm>
          <a:prstGeom prst="rect">
            <a:avLst/>
          </a:prstGeom>
          <a:solidFill>
            <a:srgbClr val="D4B896"/>
          </a:solidFill>
          <a:ln w="12700">
            <a:solidFill>
              <a:srgbClr val="D4B896"/>
            </a:solidFill>
            <a:prstDash val="solid"/>
          </a:ln>
        </p:spPr>
      </p:sp>
      <p:sp>
        <p:nvSpPr>
          <p:cNvPr id="17" name="Text 15"/>
          <p:cNvSpPr/>
          <p:nvPr/>
        </p:nvSpPr>
        <p:spPr>
          <a:xfrm>
            <a:off x="960120" y="397764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눈으로 스캔  </a:t>
            </a:r>
            <a:pPr algn="l" indent="0" marL="0">
              <a:buNone/>
            </a:pPr>
            <a:r>
              <a:rPr lang="en-US" sz="1100" dirty="0">
                <a:solidFill>
                  <a:srgbClr val="7E5D4E"/>
                </a:solidFill>
                <a:latin typeface="Noto Sans KR" pitchFamily="34" charset="0"/>
                <a:ea typeface="Noto Sans KR" pitchFamily="34" charset="-122"/>
                <a:cs typeface="Noto Sans KR" pitchFamily="34" charset="-120"/>
              </a:rPr>
              <a:t>10,000줄 파일도 스크롤하며 필요한 부분 찾기</a:t>
            </a:r>
            <a:endParaRPr lang="en-US" sz="1200" dirty="0"/>
          </a:p>
        </p:txBody>
      </p:sp>
      <p:sp>
        <p:nvSpPr>
          <p:cNvPr id="18" name="Shape 16"/>
          <p:cNvSpPr/>
          <p:nvPr/>
        </p:nvSpPr>
        <p:spPr>
          <a:xfrm>
            <a:off x="822960" y="4553712"/>
            <a:ext cx="36576" cy="292608"/>
          </a:xfrm>
          <a:prstGeom prst="rect">
            <a:avLst/>
          </a:prstGeom>
          <a:solidFill>
            <a:srgbClr val="D4B896"/>
          </a:solidFill>
          <a:ln w="12700">
            <a:solidFill>
              <a:srgbClr val="D4B896"/>
            </a:solidFill>
            <a:prstDash val="solid"/>
          </a:ln>
        </p:spPr>
      </p:sp>
      <p:sp>
        <p:nvSpPr>
          <p:cNvPr id="19" name="Text 17"/>
          <p:cNvSpPr/>
          <p:nvPr/>
        </p:nvSpPr>
        <p:spPr>
          <a:xfrm>
            <a:off x="960120" y="448056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추측 기반 디버깅  </a:t>
            </a:r>
            <a:pPr algn="l" indent="0" marL="0">
              <a:buNone/>
            </a:pPr>
            <a:r>
              <a:rPr lang="en-US" sz="1100" dirty="0">
                <a:solidFill>
                  <a:srgbClr val="7E5D4E"/>
                </a:solidFill>
                <a:latin typeface="Noto Sans KR" pitchFamily="34" charset="0"/>
                <a:ea typeface="Noto Sans KR" pitchFamily="34" charset="-122"/>
                <a:cs typeface="Noto Sans KR" pitchFamily="34" charset="-120"/>
              </a:rPr>
              <a:t>에러 메시지 읽고 맥락으로 원인 추론</a:t>
            </a:r>
            <a:endParaRPr lang="en-US" sz="1200" dirty="0"/>
          </a:p>
        </p:txBody>
      </p:sp>
      <p:sp>
        <p:nvSpPr>
          <p:cNvPr id="20" name="Shape 18"/>
          <p:cNvSpPr/>
          <p:nvPr/>
        </p:nvSpPr>
        <p:spPr>
          <a:xfrm>
            <a:off x="822960" y="5056632"/>
            <a:ext cx="36576" cy="292608"/>
          </a:xfrm>
          <a:prstGeom prst="rect">
            <a:avLst/>
          </a:prstGeom>
          <a:solidFill>
            <a:srgbClr val="D4B896"/>
          </a:solidFill>
          <a:ln w="12700">
            <a:solidFill>
              <a:srgbClr val="D4B896"/>
            </a:solidFill>
            <a:prstDash val="solid"/>
          </a:ln>
        </p:spPr>
      </p:sp>
      <p:sp>
        <p:nvSpPr>
          <p:cNvPr id="21" name="Text 19"/>
          <p:cNvSpPr/>
          <p:nvPr/>
        </p:nvSpPr>
        <p:spPr>
          <a:xfrm>
            <a:off x="960120" y="498348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풍부한 UI 선호  </a:t>
            </a:r>
            <a:pPr algn="l" indent="0" marL="0">
              <a:buNone/>
            </a:pPr>
            <a:r>
              <a:rPr lang="en-US" sz="1100" dirty="0">
                <a:solidFill>
                  <a:srgbClr val="7E5D4E"/>
                </a:solidFill>
                <a:latin typeface="Noto Sans KR" pitchFamily="34" charset="0"/>
                <a:ea typeface="Noto Sans KR" pitchFamily="34" charset="-122"/>
                <a:cs typeface="Noto Sans KR" pitchFamily="34" charset="-120"/>
              </a:rPr>
              <a:t>VSCode, 문법 하이라이트, LSP, 자동완성</a:t>
            </a:r>
            <a:endParaRPr lang="en-US" sz="1200" dirty="0"/>
          </a:p>
        </p:txBody>
      </p:sp>
      <p:sp>
        <p:nvSpPr>
          <p:cNvPr id="22" name="Shape 20"/>
          <p:cNvSpPr/>
          <p:nvPr/>
        </p:nvSpPr>
        <p:spPr>
          <a:xfrm>
            <a:off x="822960" y="5559552"/>
            <a:ext cx="36576" cy="292608"/>
          </a:xfrm>
          <a:prstGeom prst="rect">
            <a:avLst/>
          </a:prstGeom>
          <a:solidFill>
            <a:srgbClr val="D4B896"/>
          </a:solidFill>
          <a:ln w="12700">
            <a:solidFill>
              <a:srgbClr val="D4B896"/>
            </a:solidFill>
            <a:prstDash val="solid"/>
          </a:ln>
        </p:spPr>
      </p:sp>
      <p:sp>
        <p:nvSpPr>
          <p:cNvPr id="23" name="Text 21"/>
          <p:cNvSpPr/>
          <p:nvPr/>
        </p:nvSpPr>
        <p:spPr>
          <a:xfrm>
            <a:off x="960120" y="548640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직관적 탐색  </a:t>
            </a:r>
            <a:pPr algn="l" indent="0" marL="0">
              <a:buNone/>
            </a:pPr>
            <a:r>
              <a:rPr lang="en-US" sz="1100" dirty="0">
                <a:solidFill>
                  <a:srgbClr val="7E5D4E"/>
                </a:solidFill>
                <a:latin typeface="Noto Sans KR" pitchFamily="34" charset="0"/>
                <a:ea typeface="Noto Sans KR" pitchFamily="34" charset="-122"/>
                <a:cs typeface="Noto Sans KR" pitchFamily="34" charset="-120"/>
              </a:rPr>
              <a:t>파일 트리, 검색 결과를 눈으로 훑기</a:t>
            </a:r>
            <a:endParaRPr lang="en-US" sz="1200" dirty="0"/>
          </a:p>
        </p:txBody>
      </p:sp>
      <p:sp>
        <p:nvSpPr>
          <p:cNvPr id="24" name="Shape 22"/>
          <p:cNvSpPr/>
          <p:nvPr/>
        </p:nvSpPr>
        <p:spPr>
          <a:xfrm>
            <a:off x="6278728" y="2834640"/>
            <a:ext cx="5364328" cy="32918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5" name="Shape 23"/>
          <p:cNvSpPr/>
          <p:nvPr/>
        </p:nvSpPr>
        <p:spPr>
          <a:xfrm>
            <a:off x="6278728" y="2834640"/>
            <a:ext cx="73152" cy="3291840"/>
          </a:xfrm>
          <a:prstGeom prst="rect">
            <a:avLst/>
          </a:prstGeom>
          <a:solidFill>
            <a:srgbClr val="F08B51"/>
          </a:solidFill>
          <a:ln w="12700">
            <a:solidFill>
              <a:srgbClr val="F08B51"/>
            </a:solidFill>
            <a:prstDash val="solid"/>
          </a:ln>
        </p:spPr>
      </p:sp>
      <p:sp>
        <p:nvSpPr>
          <p:cNvPr id="26" name="Shape 24"/>
          <p:cNvSpPr/>
          <p:nvPr/>
        </p:nvSpPr>
        <p:spPr>
          <a:xfrm>
            <a:off x="6553048" y="3108960"/>
            <a:ext cx="777240" cy="274320"/>
          </a:xfrm>
          <a:prstGeom prst="roundRect">
            <a:avLst>
              <a:gd name="adj" fmla="val 20000"/>
            </a:avLst>
          </a:prstGeom>
          <a:solidFill>
            <a:srgbClr val="F08B51"/>
          </a:solidFill>
          <a:ln w="12700">
            <a:solidFill>
              <a:srgbClr val="F08B51"/>
            </a:solidFill>
            <a:prstDash val="solid"/>
          </a:ln>
        </p:spPr>
      </p:sp>
      <p:sp>
        <p:nvSpPr>
          <p:cNvPr id="27" name="Text 25"/>
          <p:cNvSpPr/>
          <p:nvPr/>
        </p:nvSpPr>
        <p:spPr>
          <a:xfrm>
            <a:off x="6553048" y="3108960"/>
            <a:ext cx="77724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Noto Sans KR" pitchFamily="34" charset="0"/>
                <a:ea typeface="Noto Sans KR" pitchFamily="34" charset="-122"/>
                <a:cs typeface="Noto Sans KR" pitchFamily="34" charset="-120"/>
              </a:rPr>
              <a:t>LLM</a:t>
            </a:r>
            <a:endParaRPr lang="en-US" sz="1000" dirty="0"/>
          </a:p>
        </p:txBody>
      </p:sp>
      <p:sp>
        <p:nvSpPr>
          <p:cNvPr id="28" name="Text 26"/>
          <p:cNvSpPr/>
          <p:nvPr/>
        </p:nvSpPr>
        <p:spPr>
          <a:xfrm>
            <a:off x="7421728" y="3035808"/>
            <a:ext cx="3992728" cy="457200"/>
          </a:xfrm>
          <a:prstGeom prst="rect">
            <a:avLst/>
          </a:prstGeom>
          <a:noFill/>
          <a:ln/>
        </p:spPr>
        <p:txBody>
          <a:bodyPr wrap="square" lIns="0" tIns="0" rIns="0" bIns="0" rtlCol="0" anchor="ctr"/>
          <a:lstStyle/>
          <a:p>
            <a:pPr algn="l" indent="0" marL="0">
              <a:buNone/>
            </a:pPr>
            <a:r>
              <a:rPr lang="en-US" sz="2000" b="1" dirty="0">
                <a:solidFill>
                  <a:srgbClr val="F08B51"/>
                </a:solidFill>
                <a:latin typeface="Nanum Myeongjo" pitchFamily="34" charset="0"/>
                <a:ea typeface="Nanum Myeongjo" pitchFamily="34" charset="-122"/>
                <a:cs typeface="Nanum Myeongjo" pitchFamily="34" charset="-120"/>
              </a:rPr>
              <a:t>LLM 에이전트</a:t>
            </a:r>
            <a:endParaRPr lang="en-US" sz="2000" dirty="0"/>
          </a:p>
        </p:txBody>
      </p:sp>
      <p:sp>
        <p:nvSpPr>
          <p:cNvPr id="29" name="Text 27"/>
          <p:cNvSpPr/>
          <p:nvPr/>
        </p:nvSpPr>
        <p:spPr>
          <a:xfrm>
            <a:off x="6553048" y="3566160"/>
            <a:ext cx="4815688" cy="274320"/>
          </a:xfrm>
          <a:prstGeom prst="rect">
            <a:avLst/>
          </a:prstGeom>
          <a:noFill/>
          <a:ln/>
        </p:spPr>
        <p:txBody>
          <a:bodyPr wrap="square" lIns="0" tIns="0" rIns="0" bIns="0" rtlCol="0" anchor="ctr"/>
          <a:lstStyle/>
          <a:p>
            <a:pPr algn="l" indent="0" marL="0">
              <a:buNone/>
            </a:pPr>
            <a:r>
              <a:rPr lang="en-US" sz="1100" i="1" dirty="0">
                <a:solidFill>
                  <a:srgbClr val="A68474"/>
                </a:solidFill>
                <a:latin typeface="Noto Sans KR" pitchFamily="34" charset="0"/>
                <a:ea typeface="Noto Sans KR" pitchFamily="34" charset="-122"/>
                <a:cs typeface="Noto Sans KR" pitchFamily="34" charset="-120"/>
              </a:rPr>
              <a:t>LLM Agent · ACI 필요</a:t>
            </a:r>
            <a:endParaRPr lang="en-US" sz="1100" dirty="0"/>
          </a:p>
        </p:txBody>
      </p:sp>
      <p:sp>
        <p:nvSpPr>
          <p:cNvPr id="30" name="Shape 28"/>
          <p:cNvSpPr/>
          <p:nvPr/>
        </p:nvSpPr>
        <p:spPr>
          <a:xfrm>
            <a:off x="6553048" y="4050792"/>
            <a:ext cx="36576" cy="292608"/>
          </a:xfrm>
          <a:prstGeom prst="rect">
            <a:avLst/>
          </a:prstGeom>
          <a:solidFill>
            <a:srgbClr val="F08B51"/>
          </a:solidFill>
          <a:ln w="12700">
            <a:solidFill>
              <a:srgbClr val="F08B51"/>
            </a:solidFill>
            <a:prstDash val="solid"/>
          </a:ln>
        </p:spPr>
      </p:sp>
      <p:sp>
        <p:nvSpPr>
          <p:cNvPr id="31" name="Text 29"/>
          <p:cNvSpPr/>
          <p:nvPr/>
        </p:nvSpPr>
        <p:spPr>
          <a:xfrm>
            <a:off x="6690208" y="397764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컨텍스트 제한  </a:t>
            </a:r>
            <a:pPr algn="l" indent="0" marL="0">
              <a:buNone/>
            </a:pPr>
            <a:r>
              <a:rPr lang="en-US" sz="1100" dirty="0">
                <a:solidFill>
                  <a:srgbClr val="7E5D4E"/>
                </a:solidFill>
                <a:latin typeface="Noto Sans KR" pitchFamily="34" charset="0"/>
                <a:ea typeface="Noto Sans KR" pitchFamily="34" charset="-122"/>
                <a:cs typeface="Noto Sans KR" pitchFamily="34" charset="-120"/>
              </a:rPr>
              <a:t>100K 토큰도 비용·노이즈 측면에서 귀함</a:t>
            </a:r>
            <a:endParaRPr lang="en-US" sz="1200" dirty="0"/>
          </a:p>
        </p:txBody>
      </p:sp>
      <p:sp>
        <p:nvSpPr>
          <p:cNvPr id="32" name="Shape 30"/>
          <p:cNvSpPr/>
          <p:nvPr/>
        </p:nvSpPr>
        <p:spPr>
          <a:xfrm>
            <a:off x="6553048" y="4553712"/>
            <a:ext cx="36576" cy="292608"/>
          </a:xfrm>
          <a:prstGeom prst="rect">
            <a:avLst/>
          </a:prstGeom>
          <a:solidFill>
            <a:srgbClr val="F08B51"/>
          </a:solidFill>
          <a:ln w="12700">
            <a:solidFill>
              <a:srgbClr val="F08B51"/>
            </a:solidFill>
            <a:prstDash val="solid"/>
          </a:ln>
        </p:spPr>
      </p:sp>
      <p:sp>
        <p:nvSpPr>
          <p:cNvPr id="33" name="Text 31"/>
          <p:cNvSpPr/>
          <p:nvPr/>
        </p:nvSpPr>
        <p:spPr>
          <a:xfrm>
            <a:off x="6690208" y="448056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패턴 매칭 추론  </a:t>
            </a:r>
            <a:pPr algn="l" indent="0" marL="0">
              <a:buNone/>
            </a:pPr>
            <a:r>
              <a:rPr lang="en-US" sz="1100" dirty="0">
                <a:solidFill>
                  <a:srgbClr val="7E5D4E"/>
                </a:solidFill>
                <a:latin typeface="Noto Sans KR" pitchFamily="34" charset="0"/>
                <a:ea typeface="Noto Sans KR" pitchFamily="34" charset="-122"/>
                <a:cs typeface="Noto Sans KR" pitchFamily="34" charset="-120"/>
              </a:rPr>
              <a:t>구조화된 입력에서 일관된 출력 생성</a:t>
            </a:r>
            <a:endParaRPr lang="en-US" sz="1200" dirty="0"/>
          </a:p>
        </p:txBody>
      </p:sp>
      <p:sp>
        <p:nvSpPr>
          <p:cNvPr id="34" name="Shape 32"/>
          <p:cNvSpPr/>
          <p:nvPr/>
        </p:nvSpPr>
        <p:spPr>
          <a:xfrm>
            <a:off x="6553048" y="5056632"/>
            <a:ext cx="36576" cy="292608"/>
          </a:xfrm>
          <a:prstGeom prst="rect">
            <a:avLst/>
          </a:prstGeom>
          <a:solidFill>
            <a:srgbClr val="F08B51"/>
          </a:solidFill>
          <a:ln w="12700">
            <a:solidFill>
              <a:srgbClr val="F08B51"/>
            </a:solidFill>
            <a:prstDash val="solid"/>
          </a:ln>
        </p:spPr>
      </p:sp>
      <p:sp>
        <p:nvSpPr>
          <p:cNvPr id="35" name="Text 33"/>
          <p:cNvSpPr/>
          <p:nvPr/>
        </p:nvSpPr>
        <p:spPr>
          <a:xfrm>
            <a:off x="6690208" y="498348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정보 과부하에 취약  </a:t>
            </a:r>
            <a:pPr algn="l" indent="0" marL="0">
              <a:buNone/>
            </a:pPr>
            <a:r>
              <a:rPr lang="en-US" sz="1100" dirty="0">
                <a:solidFill>
                  <a:srgbClr val="7E5D4E"/>
                </a:solidFill>
                <a:latin typeface="Noto Sans KR" pitchFamily="34" charset="0"/>
                <a:ea typeface="Noto Sans KR" pitchFamily="34" charset="-122"/>
                <a:cs typeface="Noto Sans KR" pitchFamily="34" charset="-120"/>
              </a:rPr>
              <a:t>너무 많은 결과 → 어디서 시작해야 할지 혼란</a:t>
            </a:r>
            <a:endParaRPr lang="en-US" sz="1200" dirty="0"/>
          </a:p>
        </p:txBody>
      </p:sp>
      <p:sp>
        <p:nvSpPr>
          <p:cNvPr id="36" name="Shape 34"/>
          <p:cNvSpPr/>
          <p:nvPr/>
        </p:nvSpPr>
        <p:spPr>
          <a:xfrm>
            <a:off x="6553048" y="5559552"/>
            <a:ext cx="36576" cy="292608"/>
          </a:xfrm>
          <a:prstGeom prst="rect">
            <a:avLst/>
          </a:prstGeom>
          <a:solidFill>
            <a:srgbClr val="F08B51"/>
          </a:solidFill>
          <a:ln w="12700">
            <a:solidFill>
              <a:srgbClr val="F08B51"/>
            </a:solidFill>
            <a:prstDash val="solid"/>
          </a:ln>
        </p:spPr>
      </p:sp>
      <p:sp>
        <p:nvSpPr>
          <p:cNvPr id="37" name="Text 35"/>
          <p:cNvSpPr/>
          <p:nvPr/>
        </p:nvSpPr>
        <p:spPr>
          <a:xfrm>
            <a:off x="6690208" y="5486400"/>
            <a:ext cx="4815688" cy="457200"/>
          </a:xfrm>
          <a:prstGeom prst="rect">
            <a:avLst/>
          </a:prstGeom>
          <a:noFill/>
          <a:ln/>
        </p:spPr>
        <p:txBody>
          <a:bodyPr wrap="square" lIns="0" tIns="0" rIns="0" bIns="0" rtlCol="0" anchor="t"/>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일관된 템플릿 선호  </a:t>
            </a:r>
            <a:pPr algn="l" indent="0" marL="0">
              <a:buNone/>
            </a:pPr>
            <a:r>
              <a:rPr lang="en-US" sz="1100" dirty="0">
                <a:solidFill>
                  <a:srgbClr val="7E5D4E"/>
                </a:solidFill>
                <a:latin typeface="Noto Sans KR" pitchFamily="34" charset="0"/>
                <a:ea typeface="Noto Sans KR" pitchFamily="34" charset="-122"/>
                <a:cs typeface="Noto Sans KR" pitchFamily="34" charset="-120"/>
              </a:rPr>
              <a:t>모든 명령 결과가 같은 포맷이면 파싱 쉬움</a:t>
            </a:r>
            <a:endParaRPr lang="en-US" sz="1200" dirty="0"/>
          </a:p>
        </p:txBody>
      </p:sp>
      <p:sp>
        <p:nvSpPr>
          <p:cNvPr id="39" name="Text 36"/>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SWE-AGENT · 2/7</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16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File Viewer — 100줄 윈도우</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cat 대신 뷰어 기반 — "뷔페 한 접시 전부"가 아닌 "코스 요리 한 접시씩"</a:t>
            </a:r>
            <a:endParaRPr lang="en-US" sz="1800" dirty="0"/>
          </a:p>
        </p:txBody>
      </p:sp>
      <p:sp>
        <p:nvSpPr>
          <p:cNvPr id="7" name="Shape 5"/>
          <p:cNvSpPr/>
          <p:nvPr/>
        </p:nvSpPr>
        <p:spPr>
          <a:xfrm>
            <a:off x="548640" y="1691640"/>
            <a:ext cx="457200" cy="36576"/>
          </a:xfrm>
          <a:prstGeom prst="rect">
            <a:avLst/>
          </a:prstGeom>
          <a:solidFill>
            <a:srgbClr val="F08B51"/>
          </a:solidFill>
          <a:ln w="12700">
            <a:solidFill>
              <a:srgbClr val="F08B51"/>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08B51"/>
          </a:solidFill>
          <a:ln w="12700">
            <a:solidFill>
              <a:srgbClr val="F08B51"/>
            </a:solidFill>
            <a:prstDash val="solid"/>
          </a:ln>
        </p:spPr>
      </p:sp>
      <p:sp>
        <p:nvSpPr>
          <p:cNvPr id="10" name="Shape 8"/>
          <p:cNvSpPr/>
          <p:nvPr/>
        </p:nvSpPr>
        <p:spPr>
          <a:xfrm>
            <a:off x="822960" y="2240280"/>
            <a:ext cx="1371600" cy="320040"/>
          </a:xfrm>
          <a:prstGeom prst="roundRect">
            <a:avLst>
              <a:gd name="adj" fmla="val 48571"/>
            </a:avLst>
          </a:prstGeom>
          <a:solidFill>
            <a:srgbClr val="FDEAD9"/>
          </a:solidFill>
          <a:ln w="12700">
            <a:solidFill>
              <a:srgbClr val="FDEAD9"/>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08B51"/>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윈도우 기반인가?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cat으로 10,000줄 파일을 출력하면 컨텍스트 윈도우가 폭발한다. LLM은 정작 필요한 부분을 찾지 못하고, 토큰 비용만 폭증. 뷔페 식당에 가서 모든 음식을 한 접시에 담으려 하면 아무것도 제대로 못 먹는 것과 같다.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100줄 윈도우로 필요한 부분에 집중. goto·scroll·search_file로 탐색. 라인 번호가 모든 출력에 표시되어 edit 명령과 즉시 연동. 하이퍼파라미터 스윕 결과 100줄이 sweet spot으로 확인됨.</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DEAD9"/>
          </a:solidFill>
          <a:ln w="12700">
            <a:solidFill>
              <a:srgbClr val="F08B51"/>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윈도우 제한 (100 lines)</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컨텍스트 낭비 방지, 필요한 부분만 집중 표시</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DEAD9"/>
          </a:solidFill>
          <a:ln w="12700">
            <a:solidFill>
              <a:srgbClr val="F08B51"/>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라인 번호 표시</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edit 명령에서 정확한 위치를 지정할 수 있게 함</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DEAD9"/>
          </a:solidFill>
          <a:ln w="12700">
            <a:solidFill>
              <a:srgbClr val="F08B51"/>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탐색 명령</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goto · scroll_up · scroll_down · search_file</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SWE-AGENT · 3/7</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17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Search — 50개 제한의 역설</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"더 많은 정보 = 더 좋은 결과"가 아니다. 제한이 검색 품질을 높인다</a:t>
            </a:r>
            <a:endParaRPr lang="en-US" sz="1800" dirty="0"/>
          </a:p>
        </p:txBody>
      </p:sp>
      <p:sp>
        <p:nvSpPr>
          <p:cNvPr id="7" name="Shape 5"/>
          <p:cNvSpPr/>
          <p:nvPr/>
        </p:nvSpPr>
        <p:spPr>
          <a:xfrm>
            <a:off x="548640" y="1691640"/>
            <a:ext cx="457200" cy="36576"/>
          </a:xfrm>
          <a:prstGeom prst="rect">
            <a:avLst/>
          </a:prstGeom>
          <a:solidFill>
            <a:srgbClr val="F08B51"/>
          </a:solidFill>
          <a:ln w="12700">
            <a:solidFill>
              <a:srgbClr val="F08B51"/>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08B51"/>
          </a:solidFill>
          <a:ln w="12700">
            <a:solidFill>
              <a:srgbClr val="F08B51"/>
            </a:solidFill>
            <a:prstDash val="solid"/>
          </a:ln>
        </p:spPr>
      </p:sp>
      <p:sp>
        <p:nvSpPr>
          <p:cNvPr id="10" name="Shape 8"/>
          <p:cNvSpPr/>
          <p:nvPr/>
        </p:nvSpPr>
        <p:spPr>
          <a:xfrm>
            <a:off x="822960" y="2240280"/>
            <a:ext cx="1371600" cy="320040"/>
          </a:xfrm>
          <a:prstGeom prst="roundRect">
            <a:avLst>
              <a:gd name="adj" fmla="val 48571"/>
            </a:avLst>
          </a:prstGeom>
          <a:solidFill>
            <a:srgbClr val="FDEAD9"/>
          </a:solidFill>
          <a:ln w="12700">
            <a:solidFill>
              <a:srgbClr val="FDEAD9"/>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08B51"/>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결과를 제한하는가?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grep -r "error" .를 실행하면 수천 개의 결과가 쏟아진다. LLM은 어디서부터 봐야 할지 모른 채 노이즈에 파묻힌다. 도서관에 가서 "소설"로 검색하면 수만 권이 나오는 것과 같다.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결과 50개 초과 시 "Please refine your query" 메시지. 에이전트는 자연히 더 구체적인 쿼리를 작성한다 ("error" → "ValueError in models"). 노이즈 제거가 신호를 살리는 가장 확실한 방법.</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DEAD9"/>
          </a:solidFill>
          <a:ln w="12700">
            <a:solidFill>
              <a:srgbClr val="F08B51"/>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결과 50개 제한</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초과 시 재검색 유도 → 쿼리가 자연히 정교해짐</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DEAD9"/>
          </a:solidFill>
          <a:ln w="12700">
            <a:solidFill>
              <a:srgbClr val="F08B51"/>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3가지 검색 범위</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find_file (파일명) · search_dir · search_file</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DEAD9"/>
          </a:solidFill>
          <a:ln w="12700">
            <a:solidFill>
              <a:srgbClr val="F08B51"/>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요약된 출력</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경로 · 라인번호 · 매칭 스니펫만 표시</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SWE-AGENT · 4/7</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18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Edit — 라인 범위 기반 편집</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"읽기 → 찾기 → 전체 다시 쓰기 → 확인" 4단계를 1단계로</a:t>
            </a:r>
            <a:endParaRPr lang="en-US" sz="1800" dirty="0"/>
          </a:p>
        </p:txBody>
      </p:sp>
      <p:sp>
        <p:nvSpPr>
          <p:cNvPr id="7" name="Shape 5"/>
          <p:cNvSpPr/>
          <p:nvPr/>
        </p:nvSpPr>
        <p:spPr>
          <a:xfrm>
            <a:off x="548640" y="1691640"/>
            <a:ext cx="457200" cy="36576"/>
          </a:xfrm>
          <a:prstGeom prst="rect">
            <a:avLst/>
          </a:prstGeom>
          <a:solidFill>
            <a:srgbClr val="F08B51"/>
          </a:solidFill>
          <a:ln w="12700">
            <a:solidFill>
              <a:srgbClr val="F08B51"/>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08B51"/>
          </a:solidFill>
          <a:ln w="12700">
            <a:solidFill>
              <a:srgbClr val="F08B51"/>
            </a:solidFill>
            <a:prstDash val="solid"/>
          </a:ln>
        </p:spPr>
      </p:sp>
      <p:sp>
        <p:nvSpPr>
          <p:cNvPr id="10" name="Shape 8"/>
          <p:cNvSpPr/>
          <p:nvPr/>
        </p:nvSpPr>
        <p:spPr>
          <a:xfrm>
            <a:off x="822960" y="2240280"/>
            <a:ext cx="1371600" cy="320040"/>
          </a:xfrm>
          <a:prstGeom prst="roundRect">
            <a:avLst>
              <a:gd name="adj" fmla="val 48571"/>
            </a:avLst>
          </a:prstGeom>
          <a:solidFill>
            <a:srgbClr val="FDEAD9"/>
          </a:solidFill>
          <a:ln w="12700">
            <a:solidFill>
              <a:srgbClr val="FDEAD9"/>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08B51"/>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라인 범위 편집인가?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기존 편집은 파일 전체 읽기 → 수정할 부분 찾기 → 전체 다시 쓰기 → 변경 확인을 위해 다시 읽기. 4단계로 비효율적이고, 뭐가 실제로 바뀌었는지 불분명.</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edit 404:407 … end_of_edit 한 번이면 끝. 편집 직후 해당 영역이 자동으로 뷰어에 표시되어 결과를 즉시 확인. File Viewer와의 긴밀한 연동이 피드백 루프를 짧게 만든다.</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DEAD9"/>
          </a:solidFill>
          <a:ln w="12700">
            <a:solidFill>
              <a:srgbClr val="F08B51"/>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라인 범위 지정</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edit 404:407 처럼 정확한 위치에 수정</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DEAD9"/>
          </a:solidFill>
          <a:ln w="12700">
            <a:solidFill>
              <a:srgbClr val="F08B51"/>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변경 내용 즉시 표시</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편집 후 before/after를 자동으로 보여줌</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DEAD9"/>
          </a:solidFill>
          <a:ln w="12700">
            <a:solidFill>
              <a:srgbClr val="F08B51"/>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뷰어와 연동</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편집 후 File Viewer가 해당 위치로 이동</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SWE-AGENT · 5/7</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19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Linter Guard — 가장 큰 단일 기여</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잘못된 코드가 저장되는 것 자체를 막는다 — Ablation 결과 1위</a:t>
            </a:r>
            <a:endParaRPr lang="en-US" sz="1800" dirty="0"/>
          </a:p>
        </p:txBody>
      </p:sp>
      <p:sp>
        <p:nvSpPr>
          <p:cNvPr id="7" name="Shape 5"/>
          <p:cNvSpPr/>
          <p:nvPr/>
        </p:nvSpPr>
        <p:spPr>
          <a:xfrm>
            <a:off x="548640" y="1691640"/>
            <a:ext cx="457200" cy="36576"/>
          </a:xfrm>
          <a:prstGeom prst="rect">
            <a:avLst/>
          </a:prstGeom>
          <a:solidFill>
            <a:srgbClr val="F08B51"/>
          </a:solidFill>
          <a:ln w="12700">
            <a:solidFill>
              <a:srgbClr val="F08B51"/>
            </a:solidFill>
            <a:prstDash val="solid"/>
          </a:ln>
        </p:spPr>
      </p:sp>
      <p:sp>
        <p:nvSpPr>
          <p:cNvPr id="8" name="Shape 6"/>
          <p:cNvSpPr/>
          <p:nvPr/>
        </p:nvSpPr>
        <p:spPr>
          <a:xfrm>
            <a:off x="548640" y="2011680"/>
            <a:ext cx="548640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08B51"/>
          </a:solidFill>
          <a:ln w="12700">
            <a:solidFill>
              <a:srgbClr val="F08B51"/>
            </a:solidFill>
            <a:prstDash val="solid"/>
          </a:ln>
        </p:spPr>
      </p:sp>
      <p:sp>
        <p:nvSpPr>
          <p:cNvPr id="10" name="Shape 8"/>
          <p:cNvSpPr/>
          <p:nvPr/>
        </p:nvSpPr>
        <p:spPr>
          <a:xfrm>
            <a:off x="822960" y="2240280"/>
            <a:ext cx="1371600" cy="320040"/>
          </a:xfrm>
          <a:prstGeom prst="roundRect">
            <a:avLst>
              <a:gd name="adj" fmla="val 48571"/>
            </a:avLst>
          </a:prstGeom>
          <a:solidFill>
            <a:srgbClr val="FDEAD9"/>
          </a:solidFill>
          <a:ln w="12700">
            <a:solidFill>
              <a:srgbClr val="FDEAD9"/>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08B51"/>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493776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잘못된 상태를 아예 만들지 않는다</a:t>
            </a:r>
            <a:endParaRPr lang="en-US" sz="1600" dirty="0"/>
          </a:p>
        </p:txBody>
      </p:sp>
      <p:sp>
        <p:nvSpPr>
          <p:cNvPr id="13" name="Text 11"/>
          <p:cNvSpPr/>
          <p:nvPr/>
        </p:nvSpPr>
        <p:spPr>
          <a:xfrm>
            <a:off x="822960" y="3200400"/>
            <a:ext cx="4937760" cy="1371600"/>
          </a:xfrm>
          <a:prstGeom prst="rect">
            <a:avLst/>
          </a:prstGeom>
          <a:noFill/>
          <a:ln/>
        </p:spPr>
        <p:txBody>
          <a:bodyPr wrap="square" lIns="0" tIns="0" rIns="0" bIns="0" rtlCol="0" anchor="t"/>
          <a:lstStyle/>
          <a:p>
            <a:pPr algn="l" indent="0" marL="0">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buNone/>
            </a:pPr>
            <a:r>
              <a:rPr lang="en-US" sz="1200" dirty="0">
                <a:solidFill>
                  <a:srgbClr val="7E5D4E"/>
                </a:solidFill>
                <a:latin typeface="Noto Sans KR" pitchFamily="34" charset="0"/>
                <a:ea typeface="Noto Sans KR" pitchFamily="34" charset="-122"/>
                <a:cs typeface="Noto Sans KR" pitchFamily="34" charset="-120"/>
              </a:rPr>
              <a:t>구문 오류가 포함된 편집이 그대로 저장되면, 이후 모든 작업이 깨진 코드 위에서 진행된다. 테스트가 왜 실패하는지도 알기 어려워지는 "좌초(stranding)" 상태. 오타 있는 설계도로 집 짓기 시작하면 나중에 허물어야 하는 것과 같다.</a:t>
            </a:r>
            <a:endParaRPr lang="en-US" sz="1000" dirty="0"/>
          </a:p>
        </p:txBody>
      </p:sp>
      <p:sp>
        <p:nvSpPr>
          <p:cNvPr id="14" name="Text 12"/>
          <p:cNvSpPr/>
          <p:nvPr/>
        </p:nvSpPr>
        <p:spPr>
          <a:xfrm>
            <a:off x="822960" y="4663440"/>
            <a:ext cx="4937760" cy="274320"/>
          </a:xfrm>
          <a:prstGeom prst="rect">
            <a:avLst/>
          </a:prstGeom>
          <a:noFill/>
          <a:ln/>
        </p:spPr>
        <p:txBody>
          <a:bodyPr wrap="square" lIns="0" tIns="0" rIns="0" bIns="0" rtlCol="0" anchor="ctr"/>
          <a:lstStyle/>
          <a:p>
            <a:pPr algn="ctr" indent="0" marL="0">
              <a:buNone/>
            </a:pPr>
            <a:r>
              <a:rPr lang="en-US" sz="1400" b="1"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983480"/>
            <a:ext cx="4937760" cy="1188720"/>
          </a:xfrm>
          <a:prstGeom prst="rect">
            <a:avLst/>
          </a:prstGeom>
          <a:noFill/>
          <a:ln/>
        </p:spPr>
        <p:txBody>
          <a:bodyPr wrap="square" lIns="0" tIns="0" rIns="0" bIns="0" rtlCol="0" anchor="t"/>
          <a:lstStyle/>
          <a:p>
            <a:pPr algn="l" indent="0" marL="0">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buNone/>
            </a:pPr>
            <a:r>
              <a:rPr lang="en-US" sz="1200" dirty="0">
                <a:solidFill>
                  <a:srgbClr val="5C4033"/>
                </a:solidFill>
                <a:latin typeface="Noto Sans KR" pitchFamily="34" charset="0"/>
                <a:ea typeface="Noto Sans KR" pitchFamily="34" charset="-122"/>
                <a:cs typeface="Noto Sans KR" pitchFamily="34" charset="-120"/>
              </a:rPr>
              <a:t>편집 전 린터 검사. 구문 오류가 감지되면 Edit을 REJECT. 에러 위치 + before/after 스니펫을 반환하여 에이전트가 바로 고칠 수 있게 한다. 잘못된 코드가 디스크에 닿을 일이 없다.</a:t>
            </a:r>
            <a:endParaRPr lang="en-US" sz="1000" dirty="0"/>
          </a:p>
        </p:txBody>
      </p:sp>
      <p:sp>
        <p:nvSpPr>
          <p:cNvPr id="16" name="Text 14"/>
          <p:cNvSpPr/>
          <p:nvPr/>
        </p:nvSpPr>
        <p:spPr>
          <a:xfrm>
            <a:off x="6355080" y="1965960"/>
            <a:ext cx="528797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Ablation · SWE-bench Lite (300 tasks)</a:t>
            </a:r>
            <a:endParaRPr lang="en-US" sz="1100" dirty="0"/>
          </a:p>
        </p:txBody>
      </p:sp>
      <p:sp>
        <p:nvSpPr>
          <p:cNvPr id="17" name="Text 15"/>
          <p:cNvSpPr/>
          <p:nvPr/>
        </p:nvSpPr>
        <p:spPr>
          <a:xfrm>
            <a:off x="6355080" y="2377440"/>
            <a:ext cx="5287975"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Baseline (shell only)</a:t>
            </a:r>
            <a:endParaRPr lang="en-US" sz="1150" dirty="0"/>
          </a:p>
        </p:txBody>
      </p:sp>
      <p:sp>
        <p:nvSpPr>
          <p:cNvPr id="18" name="Shape 16"/>
          <p:cNvSpPr/>
          <p:nvPr/>
        </p:nvSpPr>
        <p:spPr>
          <a:xfrm>
            <a:off x="6355080" y="2651760"/>
            <a:ext cx="1200790" cy="256032"/>
          </a:xfrm>
          <a:prstGeom prst="rect">
            <a:avLst/>
          </a:prstGeom>
          <a:solidFill>
            <a:srgbClr val="C7BDB1"/>
          </a:solidFill>
          <a:ln w="12700">
            <a:solidFill>
              <a:srgbClr val="C7BDB1"/>
            </a:solidFill>
            <a:prstDash val="solid"/>
          </a:ln>
        </p:spPr>
      </p:sp>
      <p:sp>
        <p:nvSpPr>
          <p:cNvPr id="19" name="Text 17"/>
          <p:cNvSpPr/>
          <p:nvPr/>
        </p:nvSpPr>
        <p:spPr>
          <a:xfrm>
            <a:off x="7647310" y="2651760"/>
            <a:ext cx="914400"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7.3%</a:t>
            </a:r>
            <a:endParaRPr lang="en-US" sz="1150" dirty="0"/>
          </a:p>
        </p:txBody>
      </p:sp>
      <p:sp>
        <p:nvSpPr>
          <p:cNvPr id="20" name="Text 18"/>
          <p:cNvSpPr/>
          <p:nvPr/>
        </p:nvSpPr>
        <p:spPr>
          <a:xfrm>
            <a:off x="6355080" y="3017520"/>
            <a:ext cx="5287975"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 File Viewer</a:t>
            </a:r>
            <a:endParaRPr lang="en-US" sz="1150" dirty="0"/>
          </a:p>
        </p:txBody>
      </p:sp>
      <p:sp>
        <p:nvSpPr>
          <p:cNvPr id="21" name="Shape 19"/>
          <p:cNvSpPr/>
          <p:nvPr/>
        </p:nvSpPr>
        <p:spPr>
          <a:xfrm>
            <a:off x="6355080" y="3291840"/>
            <a:ext cx="1651086" cy="256032"/>
          </a:xfrm>
          <a:prstGeom prst="rect">
            <a:avLst/>
          </a:prstGeom>
          <a:solidFill>
            <a:srgbClr val="D4B896"/>
          </a:solidFill>
          <a:ln w="12700">
            <a:solidFill>
              <a:srgbClr val="D4B896"/>
            </a:solidFill>
            <a:prstDash val="solid"/>
          </a:ln>
        </p:spPr>
      </p:sp>
      <p:sp>
        <p:nvSpPr>
          <p:cNvPr id="22" name="Text 20"/>
          <p:cNvSpPr/>
          <p:nvPr/>
        </p:nvSpPr>
        <p:spPr>
          <a:xfrm>
            <a:off x="8097606" y="3291840"/>
            <a:ext cx="914400"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10.0%</a:t>
            </a:r>
            <a:endParaRPr lang="en-US" sz="1150" dirty="0"/>
          </a:p>
        </p:txBody>
      </p:sp>
      <p:sp>
        <p:nvSpPr>
          <p:cNvPr id="23" name="Text 21"/>
          <p:cNvSpPr/>
          <p:nvPr/>
        </p:nvSpPr>
        <p:spPr>
          <a:xfrm>
            <a:off x="6355080" y="3657600"/>
            <a:ext cx="5287975"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 Search</a:t>
            </a:r>
            <a:endParaRPr lang="en-US" sz="1150" dirty="0"/>
          </a:p>
        </p:txBody>
      </p:sp>
      <p:sp>
        <p:nvSpPr>
          <p:cNvPr id="24" name="Shape 22"/>
          <p:cNvSpPr/>
          <p:nvPr/>
        </p:nvSpPr>
        <p:spPr>
          <a:xfrm>
            <a:off x="6355080" y="3931920"/>
            <a:ext cx="2101383" cy="256032"/>
          </a:xfrm>
          <a:prstGeom prst="rect">
            <a:avLst/>
          </a:prstGeom>
          <a:solidFill>
            <a:srgbClr val="D4B896"/>
          </a:solidFill>
          <a:ln w="12700">
            <a:solidFill>
              <a:srgbClr val="D4B896"/>
            </a:solidFill>
            <a:prstDash val="solid"/>
          </a:ln>
        </p:spPr>
      </p:sp>
      <p:sp>
        <p:nvSpPr>
          <p:cNvPr id="25" name="Text 23"/>
          <p:cNvSpPr/>
          <p:nvPr/>
        </p:nvSpPr>
        <p:spPr>
          <a:xfrm>
            <a:off x="8547903" y="3931920"/>
            <a:ext cx="914400"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12.7%</a:t>
            </a:r>
            <a:endParaRPr lang="en-US" sz="1150" dirty="0"/>
          </a:p>
        </p:txBody>
      </p:sp>
      <p:sp>
        <p:nvSpPr>
          <p:cNvPr id="26" name="Text 24"/>
          <p:cNvSpPr/>
          <p:nvPr/>
        </p:nvSpPr>
        <p:spPr>
          <a:xfrm>
            <a:off x="6355080" y="4297680"/>
            <a:ext cx="5287975"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 Edit</a:t>
            </a:r>
            <a:endParaRPr lang="en-US" sz="1150" dirty="0"/>
          </a:p>
        </p:txBody>
      </p:sp>
      <p:sp>
        <p:nvSpPr>
          <p:cNvPr id="27" name="Shape 25"/>
          <p:cNvSpPr/>
          <p:nvPr/>
        </p:nvSpPr>
        <p:spPr>
          <a:xfrm>
            <a:off x="6355080" y="4572000"/>
            <a:ext cx="2431600" cy="256032"/>
          </a:xfrm>
          <a:prstGeom prst="rect">
            <a:avLst/>
          </a:prstGeom>
          <a:solidFill>
            <a:srgbClr val="F9C7A8"/>
          </a:solidFill>
          <a:ln w="12700">
            <a:solidFill>
              <a:srgbClr val="F9C7A8"/>
            </a:solidFill>
            <a:prstDash val="solid"/>
          </a:ln>
        </p:spPr>
      </p:sp>
      <p:sp>
        <p:nvSpPr>
          <p:cNvPr id="28" name="Text 26"/>
          <p:cNvSpPr/>
          <p:nvPr/>
        </p:nvSpPr>
        <p:spPr>
          <a:xfrm>
            <a:off x="8878120" y="4572000"/>
            <a:ext cx="914400" cy="256032"/>
          </a:xfrm>
          <a:prstGeom prst="rect">
            <a:avLst/>
          </a:prstGeom>
          <a:noFill/>
          <a:ln/>
        </p:spPr>
        <p:txBody>
          <a:bodyPr wrap="square" lIns="0" tIns="0" rIns="0" bIns="0" rtlCol="0" anchor="ctr"/>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14.7%</a:t>
            </a:r>
            <a:endParaRPr lang="en-US" sz="1150" dirty="0"/>
          </a:p>
        </p:txBody>
      </p:sp>
      <p:sp>
        <p:nvSpPr>
          <p:cNvPr id="29" name="Text 27"/>
          <p:cNvSpPr/>
          <p:nvPr/>
        </p:nvSpPr>
        <p:spPr>
          <a:xfrm>
            <a:off x="6355080" y="4937760"/>
            <a:ext cx="5287975" cy="256032"/>
          </a:xfrm>
          <a:prstGeom prst="rect">
            <a:avLst/>
          </a:prstGeom>
          <a:noFill/>
          <a:ln/>
        </p:spPr>
        <p:txBody>
          <a:bodyPr wrap="square" lIns="0" tIns="0" rIns="0" bIns="0" rtlCol="0" anchor="ctr"/>
          <a:lstStyle/>
          <a:p>
            <a:pPr algn="l" indent="0" marL="0">
              <a:buNone/>
            </a:pPr>
            <a:r>
              <a:rPr lang="en-US" sz="1150" b="1" dirty="0">
                <a:solidFill>
                  <a:srgbClr val="5C4033"/>
                </a:solidFill>
                <a:latin typeface="Noto Sans KR" pitchFamily="34" charset="0"/>
                <a:ea typeface="Noto Sans KR" pitchFamily="34" charset="-122"/>
                <a:cs typeface="Noto Sans KR" pitchFamily="34" charset="-120"/>
              </a:rPr>
              <a:t>+ Linter Guard</a:t>
            </a:r>
            <a:endParaRPr lang="en-US" sz="1150" dirty="0"/>
          </a:p>
        </p:txBody>
      </p:sp>
      <p:sp>
        <p:nvSpPr>
          <p:cNvPr id="30" name="Shape 28"/>
          <p:cNvSpPr/>
          <p:nvPr/>
        </p:nvSpPr>
        <p:spPr>
          <a:xfrm>
            <a:off x="6355080" y="5212080"/>
            <a:ext cx="3001975" cy="256032"/>
          </a:xfrm>
          <a:prstGeom prst="rect">
            <a:avLst/>
          </a:prstGeom>
          <a:solidFill>
            <a:srgbClr val="F08B51"/>
          </a:solidFill>
          <a:ln w="12700">
            <a:solidFill>
              <a:srgbClr val="F08B51"/>
            </a:solidFill>
            <a:prstDash val="solid"/>
          </a:ln>
        </p:spPr>
      </p:sp>
      <p:sp>
        <p:nvSpPr>
          <p:cNvPr id="31" name="Text 29"/>
          <p:cNvSpPr/>
          <p:nvPr/>
        </p:nvSpPr>
        <p:spPr>
          <a:xfrm>
            <a:off x="9448495" y="5212080"/>
            <a:ext cx="914400" cy="256032"/>
          </a:xfrm>
          <a:prstGeom prst="rect">
            <a:avLst/>
          </a:prstGeom>
          <a:noFill/>
          <a:ln/>
        </p:spPr>
        <p:txBody>
          <a:bodyPr wrap="square" lIns="0" tIns="0" rIns="0" bIns="0" rtlCol="0" anchor="ctr"/>
          <a:lstStyle/>
          <a:p>
            <a:pPr algn="l" indent="0" marL="0">
              <a:buNone/>
            </a:pPr>
            <a:r>
              <a:rPr lang="en-US" sz="1150" b="1" dirty="0">
                <a:solidFill>
                  <a:srgbClr val="F08B51"/>
                </a:solidFill>
                <a:latin typeface="Noto Sans KR" pitchFamily="34" charset="0"/>
                <a:ea typeface="Noto Sans KR" pitchFamily="34" charset="-122"/>
                <a:cs typeface="Noto Sans KR" pitchFamily="34" charset="-120"/>
              </a:rPr>
              <a:t>18.0%</a:t>
            </a:r>
            <a:endParaRPr lang="en-US" sz="1150" dirty="0"/>
          </a:p>
        </p:txBody>
      </p:sp>
      <p:sp>
        <p:nvSpPr>
          <p:cNvPr id="32" name="Shape 30"/>
          <p:cNvSpPr/>
          <p:nvPr/>
        </p:nvSpPr>
        <p:spPr>
          <a:xfrm>
            <a:off x="6355080" y="5669280"/>
            <a:ext cx="5287975" cy="685800"/>
          </a:xfrm>
          <a:prstGeom prst="roundRect">
            <a:avLst>
              <a:gd name="adj" fmla="val 10667"/>
            </a:avLst>
          </a:prstGeom>
          <a:solidFill>
            <a:srgbClr val="FDEAD9"/>
          </a:solidFill>
          <a:ln w="9525">
            <a:solidFill>
              <a:srgbClr val="F08B51"/>
            </a:solidFill>
            <a:prstDash val="solid"/>
          </a:ln>
        </p:spPr>
      </p:sp>
      <p:sp>
        <p:nvSpPr>
          <p:cNvPr id="33" name="Text 31"/>
          <p:cNvSpPr/>
          <p:nvPr/>
        </p:nvSpPr>
        <p:spPr>
          <a:xfrm>
            <a:off x="6537960" y="5669280"/>
            <a:ext cx="4922215" cy="685800"/>
          </a:xfrm>
          <a:prstGeom prst="rect">
            <a:avLst/>
          </a:prstGeom>
          <a:noFill/>
          <a:ln/>
        </p:spPr>
        <p:txBody>
          <a:bodyPr wrap="square" lIns="0" tIns="0" rIns="0" bIns="0" rtlCol="0" anchor="ctr"/>
          <a:lstStyle/>
          <a:p>
            <a:pPr algn="l" indent="0" marL="0">
              <a:buNone/>
            </a:pPr>
            <a:r>
              <a:rPr lang="en-US" sz="2000" b="1" dirty="0">
                <a:solidFill>
                  <a:srgbClr val="F08B51"/>
                </a:solidFill>
                <a:latin typeface="Noto Sans KR" pitchFamily="34" charset="0"/>
                <a:ea typeface="Noto Sans KR" pitchFamily="34" charset="-122"/>
                <a:cs typeface="Noto Sans KR" pitchFamily="34" charset="-120"/>
              </a:rPr>
              <a:t>+3.3pp</a:t>
            </a:r>
            <a:pPr algn="l" indent="0" marL="0">
              <a:buNone/>
            </a:pPr>
            <a:r>
              <a:rPr lang="en-US" sz="1400" dirty="0">
                <a:solidFill>
                  <a:srgbClr val="A68474"/>
                </a:solidFill>
                <a:latin typeface="Noto Sans KR" pitchFamily="34" charset="0"/>
                <a:ea typeface="Noto Sans KR" pitchFamily="34" charset="-122"/>
                <a:cs typeface="Noto Sans KR" pitchFamily="34" charset="-120"/>
              </a:rPr>
              <a:t>  ·  </a:t>
            </a:r>
            <a:pPr algn="l" indent="0" marL="0">
              <a:buNone/>
            </a:pPr>
            <a:r>
              <a:rPr lang="en-US" sz="1200" dirty="0">
                <a:solidFill>
                  <a:srgbClr val="5C4033"/>
                </a:solidFill>
                <a:latin typeface="Noto Sans KR" pitchFamily="34" charset="0"/>
                <a:ea typeface="Noto Sans KR" pitchFamily="34" charset="-122"/>
                <a:cs typeface="Noto Sans KR" pitchFamily="34" charset="-120"/>
              </a:rPr>
              <a:t>단일 컴포넌트로 가장 큰 기여. 에이전트가 "실수 못하게" 막는 것이 "더 나은 도구"보다 효과적.</a:t>
            </a:r>
            <a:endParaRPr lang="en-US" sz="2000" dirty="0"/>
          </a:p>
        </p:txBody>
      </p:sp>
      <p:sp>
        <p:nvSpPr>
          <p:cNvPr id="35" name="Text 32"/>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SWE-AGENT · 6/7</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20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Context Management — 히스토리 압축</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과거의 실패가 컨텍스트를 차지하지 않도록 — 일관된 템플릿으로 파싱 부담도 제거</a:t>
            </a:r>
            <a:endParaRPr lang="en-US" sz="1800" dirty="0"/>
          </a:p>
        </p:txBody>
      </p:sp>
      <p:sp>
        <p:nvSpPr>
          <p:cNvPr id="7" name="Shape 5"/>
          <p:cNvSpPr/>
          <p:nvPr/>
        </p:nvSpPr>
        <p:spPr>
          <a:xfrm>
            <a:off x="548640" y="1691640"/>
            <a:ext cx="457200" cy="36576"/>
          </a:xfrm>
          <a:prstGeom prst="rect">
            <a:avLst/>
          </a:prstGeom>
          <a:solidFill>
            <a:srgbClr val="F08B51"/>
          </a:solidFill>
          <a:ln w="12700">
            <a:solidFill>
              <a:srgbClr val="F08B51"/>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08B51"/>
          </a:solidFill>
          <a:ln w="12700">
            <a:solidFill>
              <a:srgbClr val="F08B51"/>
            </a:solidFill>
            <a:prstDash val="solid"/>
          </a:ln>
        </p:spPr>
      </p:sp>
      <p:sp>
        <p:nvSpPr>
          <p:cNvPr id="10" name="Shape 8"/>
          <p:cNvSpPr/>
          <p:nvPr/>
        </p:nvSpPr>
        <p:spPr>
          <a:xfrm>
            <a:off x="822960" y="2240280"/>
            <a:ext cx="1371600" cy="320040"/>
          </a:xfrm>
          <a:prstGeom prst="roundRect">
            <a:avLst>
              <a:gd name="adj" fmla="val 48571"/>
            </a:avLst>
          </a:prstGeom>
          <a:solidFill>
            <a:srgbClr val="FDEAD9"/>
          </a:solidFill>
          <a:ln w="12700">
            <a:solidFill>
              <a:srgbClr val="FDEAD9"/>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08B51"/>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히스토리를 압축하는가?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에이전트가 오래 실행되면 과거 에러 메시지, 재시도 로그가 컨텍스트를 계속 차지한다. 정작 중요한 최근 정보가 밀려나고, LLM은 오래된 실패에 집착하여 판단이 흐려진다.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성공한 명령만 유지, 과거 에러는 최초 1개만 남기고 생략. 출력이 없으면 "Your command ran successfully"로 치환. 모든 명령 결과를 동일 템플릿으로 통일해 파싱 부담까지 제거.</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DEAD9"/>
          </a:solidFill>
          <a:ln w="12700">
            <a:solidFill>
              <a:srgbClr val="F08B51"/>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히스토리 압축 (Compression)</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과거 에러 메시지 생략, 중요한 것만 유지</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DEAD9"/>
          </a:solidFill>
          <a:ln w="12700">
            <a:solidFill>
              <a:srgbClr val="F08B51"/>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일관된 출력 템플릿</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모든 명령 결과를 같은 형식으로 통일</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DEAD9"/>
          </a:solidFill>
          <a:ln w="12700">
            <a:solidFill>
              <a:srgbClr val="F08B51"/>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no-output 처리</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출력 없으면 "ran successfully" 문장으로 치환</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08B51"/>
          </a:solidFill>
          <a:ln w="12700">
            <a:solidFill>
              <a:srgbClr val="F08B51"/>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SWE-AGENT · 7/7</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21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ReAct Loop — Thought + Single Command</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왜 그 명령을 내리는지 먼저 말하라. 한 번에 하나씩 내려라</a:t>
            </a:r>
            <a:endParaRPr lang="en-US" sz="1800" dirty="0"/>
          </a:p>
        </p:txBody>
      </p:sp>
      <p:sp>
        <p:nvSpPr>
          <p:cNvPr id="7" name="Shape 5"/>
          <p:cNvSpPr/>
          <p:nvPr/>
        </p:nvSpPr>
        <p:spPr>
          <a:xfrm>
            <a:off x="548640" y="1691640"/>
            <a:ext cx="457200" cy="36576"/>
          </a:xfrm>
          <a:prstGeom prst="rect">
            <a:avLst/>
          </a:prstGeom>
          <a:solidFill>
            <a:srgbClr val="F08B51"/>
          </a:solidFill>
          <a:ln w="12700">
            <a:solidFill>
              <a:srgbClr val="F08B51"/>
            </a:solidFill>
            <a:prstDash val="solid"/>
          </a:ln>
        </p:spPr>
      </p:sp>
      <p:sp>
        <p:nvSpPr>
          <p:cNvPr id="8" name="Shape 6"/>
          <p:cNvSpPr/>
          <p:nvPr/>
        </p:nvSpPr>
        <p:spPr>
          <a:xfrm>
            <a:off x="548640" y="2011680"/>
            <a:ext cx="5852160" cy="42062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011680"/>
            <a:ext cx="73152" cy="4206240"/>
          </a:xfrm>
          <a:prstGeom prst="rect">
            <a:avLst/>
          </a:prstGeom>
          <a:solidFill>
            <a:srgbClr val="F08B51"/>
          </a:solidFill>
          <a:ln w="12700">
            <a:solidFill>
              <a:srgbClr val="F08B51"/>
            </a:solidFill>
            <a:prstDash val="solid"/>
          </a:ln>
        </p:spPr>
      </p:sp>
      <p:sp>
        <p:nvSpPr>
          <p:cNvPr id="10" name="Shape 8"/>
          <p:cNvSpPr/>
          <p:nvPr/>
        </p:nvSpPr>
        <p:spPr>
          <a:xfrm>
            <a:off x="822960" y="2240280"/>
            <a:ext cx="1371600" cy="320040"/>
          </a:xfrm>
          <a:prstGeom prst="roundRect">
            <a:avLst>
              <a:gd name="adj" fmla="val 48571"/>
            </a:avLst>
          </a:prstGeom>
          <a:solidFill>
            <a:srgbClr val="FDEAD9"/>
          </a:solidFill>
          <a:ln w="12700">
            <a:solidFill>
              <a:srgbClr val="FDEAD9"/>
            </a:solidFill>
            <a:prstDash val="solid"/>
          </a:ln>
        </p:spPr>
      </p:sp>
      <p:sp>
        <p:nvSpPr>
          <p:cNvPr id="11" name="Text 9"/>
          <p:cNvSpPr/>
          <p:nvPr/>
        </p:nvSpPr>
        <p:spPr>
          <a:xfrm>
            <a:off x="822960" y="2240280"/>
            <a:ext cx="1371600" cy="320040"/>
          </a:xfrm>
          <a:prstGeom prst="rect">
            <a:avLst/>
          </a:prstGeom>
          <a:noFill/>
          <a:ln/>
        </p:spPr>
        <p:txBody>
          <a:bodyPr wrap="square" lIns="0" tIns="0" rIns="0" bIns="0" rtlCol="0" anchor="ctr"/>
          <a:lstStyle/>
          <a:p>
            <a:pPr algn="ctr" indent="0" marL="0">
              <a:buNone/>
            </a:pPr>
            <a:r>
              <a:rPr lang="en-US" sz="1000" b="1" spc="200" kern="0" dirty="0">
                <a:solidFill>
                  <a:srgbClr val="F08B51"/>
                </a:solidFill>
                <a:latin typeface="Noto Sans KR" pitchFamily="34" charset="0"/>
                <a:ea typeface="Noto Sans KR" pitchFamily="34" charset="-122"/>
                <a:cs typeface="Noto Sans KR" pitchFamily="34" charset="-120"/>
              </a:rPr>
              <a:t>WHY ?</a:t>
            </a:r>
            <a:endParaRPr lang="en-US" sz="1000" dirty="0"/>
          </a:p>
        </p:txBody>
      </p:sp>
      <p:sp>
        <p:nvSpPr>
          <p:cNvPr id="12" name="Text 10"/>
          <p:cNvSpPr/>
          <p:nvPr/>
        </p:nvSpPr>
        <p:spPr>
          <a:xfrm>
            <a:off x="822960" y="2697480"/>
            <a:ext cx="5303520"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anum Myeongjo" pitchFamily="34" charset="0"/>
                <a:ea typeface="Nanum Myeongjo" pitchFamily="34" charset="-122"/>
                <a:cs typeface="Nanum Myeongjo" pitchFamily="34" charset="-120"/>
              </a:rPr>
              <a:t>왜 Thought을 강제하는가?</a:t>
            </a:r>
            <a:endParaRPr lang="en-US" sz="1600" dirty="0"/>
          </a:p>
        </p:txBody>
      </p:sp>
      <p:sp>
        <p:nvSpPr>
          <p:cNvPr id="13" name="Text 11"/>
          <p:cNvSpPr/>
          <p:nvPr/>
        </p:nvSpPr>
        <p:spPr>
          <a:xfrm>
            <a:off x="822960" y="3200400"/>
            <a:ext cx="5303520" cy="118872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F08B51"/>
                </a:solidFill>
                <a:latin typeface="Noto Sans KR" pitchFamily="34" charset="0"/>
                <a:ea typeface="Noto Sans KR" pitchFamily="34" charset="-122"/>
                <a:cs typeface="Noto Sans KR" pitchFamily="34" charset="-120"/>
              </a:rPr>
              <a:t>문제 · Problem
</a:t>
            </a:r>
            <a:pPr algn="l" indent="0" marL="0">
              <a:spcAft>
                <a:spcPts val="300"/>
              </a:spcAft>
              <a:buNone/>
            </a:pPr>
            <a:r>
              <a:rPr lang="en-US" sz="1200" dirty="0">
                <a:solidFill>
                  <a:srgbClr val="7E5D4E"/>
                </a:solidFill>
                <a:latin typeface="Noto Sans KR" pitchFamily="34" charset="0"/>
                <a:ea typeface="Noto Sans KR" pitchFamily="34" charset="-122"/>
                <a:cs typeface="Noto Sans KR" pitchFamily="34" charset="-120"/>
              </a:rPr>
              <a:t>LLM이 바로 명령만 출력하면 왜 그렇게 했는지 추적할 수 없다. 디버깅이 불가능하고, 계획 없이 즉흥적으로 명령을 내려 잘못된 경로로 빠지기 쉽다.</a:t>
            </a:r>
            <a:endParaRPr lang="en-US" sz="1000" dirty="0"/>
          </a:p>
        </p:txBody>
      </p:sp>
      <p:sp>
        <p:nvSpPr>
          <p:cNvPr id="14" name="Text 12"/>
          <p:cNvSpPr/>
          <p:nvPr/>
        </p:nvSpPr>
        <p:spPr>
          <a:xfrm>
            <a:off x="822960" y="4434840"/>
            <a:ext cx="5303520" cy="274320"/>
          </a:xfrm>
          <a:prstGeom prst="rect">
            <a:avLst/>
          </a:prstGeom>
          <a:noFill/>
          <a:ln/>
        </p:spPr>
        <p:txBody>
          <a:bodyPr wrap="square" lIns="0" tIns="0" rIns="0" bIns="0" rtlCol="0" anchor="ctr"/>
          <a:lstStyle/>
          <a:p>
            <a:pPr algn="ctr" indent="0" marL="0">
              <a:buNone/>
            </a:pPr>
            <a:r>
              <a:rPr lang="en-US" sz="1400" b="1"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15" name="Text 13"/>
          <p:cNvSpPr/>
          <p:nvPr/>
        </p:nvSpPr>
        <p:spPr>
          <a:xfrm>
            <a:off x="822960" y="4754880"/>
            <a:ext cx="5303520" cy="1371600"/>
          </a:xfrm>
          <a:prstGeom prst="rect">
            <a:avLst/>
          </a:prstGeom>
          <a:noFill/>
          <a:ln/>
        </p:spPr>
        <p:txBody>
          <a:bodyPr wrap="square" lIns="0" tIns="0" rIns="0" bIns="0" rtlCol="0" anchor="t"/>
          <a:lstStyle/>
          <a:p>
            <a:pPr algn="l" indent="0" marL="0">
              <a:spcAft>
                <a:spcPts val="300"/>
              </a:spcAft>
              <a:buNone/>
            </a:pPr>
            <a:r>
              <a:rPr lang="en-US" sz="1000" b="1" spc="100" kern="0" dirty="0">
                <a:solidFill>
                  <a:srgbClr val="88B04B"/>
                </a:solidFill>
                <a:latin typeface="Noto Sans KR" pitchFamily="34" charset="0"/>
                <a:ea typeface="Noto Sans KR" pitchFamily="34" charset="-122"/>
                <a:cs typeface="Noto Sans KR" pitchFamily="34" charset="-120"/>
              </a:rPr>
              <a:t>해결 · Solution
</a:t>
            </a:r>
            <a:pPr algn="l" indent="0" marL="0">
              <a:spcAft>
                <a:spcPts val="300"/>
              </a:spcAft>
              <a:buNone/>
            </a:pPr>
            <a:r>
              <a:rPr lang="en-US" sz="1200" dirty="0">
                <a:solidFill>
                  <a:srgbClr val="5C4033"/>
                </a:solidFill>
                <a:latin typeface="Noto Sans KR" pitchFamily="34" charset="0"/>
                <a:ea typeface="Noto Sans KR" pitchFamily="34" charset="-122"/>
                <a:cs typeface="Noto Sans KR" pitchFamily="34" charset="-120"/>
              </a:rPr>
              <a:t>Thought(이유·계획) + Command(실행) 쌍으로 강제. 매 스텝에 하나의 명령만 실행 — 결과를 확인한 후 다음을 결정하므로 실패해도 즉시 대응 가능. 복잡도가 통제되고 추론이 명시적이 된다.</a:t>
            </a:r>
            <a:endParaRPr lang="en-US" sz="1000" dirty="0"/>
          </a:p>
        </p:txBody>
      </p:sp>
      <p:sp>
        <p:nvSpPr>
          <p:cNvPr id="16" name="Text 14"/>
          <p:cNvSpPr/>
          <p:nvPr/>
        </p:nvSpPr>
        <p:spPr>
          <a:xfrm>
            <a:off x="6720840" y="1965960"/>
            <a:ext cx="4922215" cy="320040"/>
          </a:xfrm>
          <a:prstGeom prst="rect">
            <a:avLst/>
          </a:prstGeom>
          <a:noFill/>
          <a:ln/>
        </p:spPr>
        <p:txBody>
          <a:bodyPr wrap="square" lIns="0" tIns="0" rIns="0" bIns="0" rtlCol="0" anchor="ctr"/>
          <a:lstStyle/>
          <a:p>
            <a:pPr algn="l" indent="0" marL="0">
              <a:buNone/>
            </a:pPr>
            <a:r>
              <a:rPr lang="en-US" sz="1100" b="1" spc="100" kern="0" dirty="0">
                <a:solidFill>
                  <a:srgbClr val="7E5D4E"/>
                </a:solidFill>
                <a:latin typeface="Noto Sans KR" pitchFamily="34" charset="0"/>
                <a:ea typeface="Noto Sans KR" pitchFamily="34" charset="-122"/>
                <a:cs typeface="Noto Sans KR" pitchFamily="34" charset="-120"/>
              </a:rPr>
              <a:t>핵심 기능 · Key Capabilities</a:t>
            </a:r>
            <a:endParaRPr lang="en-US" sz="1100" dirty="0"/>
          </a:p>
        </p:txBody>
      </p:sp>
      <p:sp>
        <p:nvSpPr>
          <p:cNvPr id="17" name="Shape 15"/>
          <p:cNvSpPr/>
          <p:nvPr/>
        </p:nvSpPr>
        <p:spPr>
          <a:xfrm>
            <a:off x="6720840" y="23317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995160" y="2606040"/>
            <a:ext cx="457200" cy="457200"/>
          </a:xfrm>
          <a:prstGeom prst="ellipse">
            <a:avLst/>
          </a:prstGeom>
          <a:solidFill>
            <a:srgbClr val="FDEAD9"/>
          </a:solidFill>
          <a:ln w="12700">
            <a:solidFill>
              <a:srgbClr val="F08B51"/>
            </a:solidFill>
            <a:prstDash val="solid"/>
          </a:ln>
        </p:spPr>
      </p:sp>
      <p:sp>
        <p:nvSpPr>
          <p:cNvPr id="19" name="Text 17"/>
          <p:cNvSpPr/>
          <p:nvPr/>
        </p:nvSpPr>
        <p:spPr>
          <a:xfrm>
            <a:off x="6995160" y="26060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1</a:t>
            </a:r>
            <a:endParaRPr lang="en-US" sz="1400" dirty="0"/>
          </a:p>
        </p:txBody>
      </p:sp>
      <p:sp>
        <p:nvSpPr>
          <p:cNvPr id="20" name="Text 18"/>
          <p:cNvSpPr/>
          <p:nvPr/>
        </p:nvSpPr>
        <p:spPr>
          <a:xfrm>
            <a:off x="7589520" y="26060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Thought 강제</a:t>
            </a:r>
            <a:endParaRPr lang="en-US" sz="1400" dirty="0"/>
          </a:p>
        </p:txBody>
      </p:sp>
      <p:sp>
        <p:nvSpPr>
          <p:cNvPr id="21" name="Text 19"/>
          <p:cNvSpPr/>
          <p:nvPr/>
        </p:nvSpPr>
        <p:spPr>
          <a:xfrm>
            <a:off x="7589520" y="29718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명령 전 반드시 이유/계획 작성</a:t>
            </a:r>
            <a:endParaRPr lang="en-US" sz="1150" dirty="0"/>
          </a:p>
        </p:txBody>
      </p:sp>
      <p:sp>
        <p:nvSpPr>
          <p:cNvPr id="22" name="Shape 20"/>
          <p:cNvSpPr/>
          <p:nvPr/>
        </p:nvSpPr>
        <p:spPr>
          <a:xfrm>
            <a:off x="6720840" y="37033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6995160" y="3977640"/>
            <a:ext cx="457200" cy="457200"/>
          </a:xfrm>
          <a:prstGeom prst="ellipse">
            <a:avLst/>
          </a:prstGeom>
          <a:solidFill>
            <a:srgbClr val="FDEAD9"/>
          </a:solidFill>
          <a:ln w="12700">
            <a:solidFill>
              <a:srgbClr val="F08B51"/>
            </a:solidFill>
            <a:prstDash val="solid"/>
          </a:ln>
        </p:spPr>
      </p:sp>
      <p:sp>
        <p:nvSpPr>
          <p:cNvPr id="24" name="Text 22"/>
          <p:cNvSpPr/>
          <p:nvPr/>
        </p:nvSpPr>
        <p:spPr>
          <a:xfrm>
            <a:off x="6995160" y="39776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2</a:t>
            </a:r>
            <a:endParaRPr lang="en-US" sz="1400" dirty="0"/>
          </a:p>
        </p:txBody>
      </p:sp>
      <p:sp>
        <p:nvSpPr>
          <p:cNvPr id="25" name="Text 23"/>
          <p:cNvSpPr/>
          <p:nvPr/>
        </p:nvSpPr>
        <p:spPr>
          <a:xfrm>
            <a:off x="7589520" y="39776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단일 명령 (one at a time)</a:t>
            </a:r>
            <a:endParaRPr lang="en-US" sz="1400" dirty="0"/>
          </a:p>
        </p:txBody>
      </p:sp>
      <p:sp>
        <p:nvSpPr>
          <p:cNvPr id="26" name="Text 24"/>
          <p:cNvSpPr/>
          <p:nvPr/>
        </p:nvSpPr>
        <p:spPr>
          <a:xfrm>
            <a:off x="7589520" y="43434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매 스텝 하나의 명령 → 단순하고 예측 가능</a:t>
            </a:r>
            <a:endParaRPr lang="en-US" sz="1150" dirty="0"/>
          </a:p>
        </p:txBody>
      </p:sp>
      <p:sp>
        <p:nvSpPr>
          <p:cNvPr id="27" name="Shape 25"/>
          <p:cNvSpPr/>
          <p:nvPr/>
        </p:nvSpPr>
        <p:spPr>
          <a:xfrm>
            <a:off x="6720840" y="5074920"/>
            <a:ext cx="4922215" cy="128016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8" name="Shape 26"/>
          <p:cNvSpPr/>
          <p:nvPr/>
        </p:nvSpPr>
        <p:spPr>
          <a:xfrm>
            <a:off x="6995160" y="5349240"/>
            <a:ext cx="457200" cy="457200"/>
          </a:xfrm>
          <a:prstGeom prst="ellipse">
            <a:avLst/>
          </a:prstGeom>
          <a:solidFill>
            <a:srgbClr val="FDEAD9"/>
          </a:solidFill>
          <a:ln w="12700">
            <a:solidFill>
              <a:srgbClr val="F08B51"/>
            </a:solidFill>
            <a:prstDash val="solid"/>
          </a:ln>
        </p:spPr>
      </p:sp>
      <p:sp>
        <p:nvSpPr>
          <p:cNvPr id="29" name="Text 27"/>
          <p:cNvSpPr/>
          <p:nvPr/>
        </p:nvSpPr>
        <p:spPr>
          <a:xfrm>
            <a:off x="6995160" y="5349240"/>
            <a:ext cx="457200" cy="45720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3</a:t>
            </a:r>
            <a:endParaRPr lang="en-US" sz="1400" dirty="0"/>
          </a:p>
        </p:txBody>
      </p:sp>
      <p:sp>
        <p:nvSpPr>
          <p:cNvPr id="30" name="Text 28"/>
          <p:cNvSpPr/>
          <p:nvPr/>
        </p:nvSpPr>
        <p:spPr>
          <a:xfrm>
            <a:off x="7589520" y="5349240"/>
            <a:ext cx="3870655" cy="365760"/>
          </a:xfrm>
          <a:prstGeom prst="rect">
            <a:avLst/>
          </a:prstGeom>
          <a:noFill/>
          <a:ln/>
        </p:spPr>
        <p:txBody>
          <a:bodyPr wrap="square" lIns="0" tIns="0" rIns="0" bIns="0" rtlCol="0" anchor="ctr"/>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Malformed 처리</a:t>
            </a:r>
            <a:endParaRPr lang="en-US" sz="1400" dirty="0"/>
          </a:p>
        </p:txBody>
      </p:sp>
      <p:sp>
        <p:nvSpPr>
          <p:cNvPr id="31" name="Text 29"/>
          <p:cNvSpPr/>
          <p:nvPr/>
        </p:nvSpPr>
        <p:spPr>
          <a:xfrm>
            <a:off x="7589520" y="5715000"/>
            <a:ext cx="3870655" cy="548640"/>
          </a:xfrm>
          <a:prstGeom prst="rect">
            <a:avLst/>
          </a:prstGeom>
          <a:noFill/>
          <a:ln/>
        </p:spPr>
        <p:txBody>
          <a:bodyPr wrap="square" lIns="0" tIns="0" rIns="0" bIns="0" rtlCol="0" anchor="t"/>
          <a:lstStyle/>
          <a:p>
            <a:pPr algn="l" indent="0" marL="0">
              <a:buNone/>
            </a:pPr>
            <a:r>
              <a:rPr lang="en-US" sz="1150" dirty="0">
                <a:solidFill>
                  <a:srgbClr val="7E5D4E"/>
                </a:solidFill>
                <a:latin typeface="Noto Sans KR" pitchFamily="34" charset="0"/>
                <a:ea typeface="Noto Sans KR" pitchFamily="34" charset="-122"/>
                <a:cs typeface="Noto Sans KR" pitchFamily="34" charset="-120"/>
              </a:rPr>
              <a:t>형식 오류 시 재시도 요청 (복구 메커니즘)</a:t>
            </a:r>
            <a:endParaRPr lang="en-US" sz="115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EFE5"/>
        </a:solidFill>
      </p:bgPr>
    </p:bg>
    <p:spTree>
      <p:nvGrpSpPr>
        <p:cNvPr id="1" name=""/>
        <p:cNvGrpSpPr/>
        <p:nvPr/>
      </p:nvGrpSpPr>
      <p:grpSpPr>
        <a:xfrm>
          <a:off x="0" y="0"/>
          <a:ext cx="0" cy="0"/>
          <a:chOff x="0" y="0"/>
          <a:chExt cx="0" cy="0"/>
        </a:xfrm>
      </p:grpSpPr>
      <p:pic>
        <p:nvPicPr>
          <p:cNvPr id="2" name="Image 0" descr="/sessions/optimistic-amazing-goldberg/presentation/assets/blossom-pink.png">    </p:cNvPr>
          <p:cNvPicPr>
            <a:picLocks noChangeAspect="1"/>
          </p:cNvPicPr>
          <p:nvPr/>
        </p:nvPicPr>
        <p:blipFill>
          <a:blip r:embed="rId1">
            <a:alphaModFix amt="30000"/>
          </a:blip>
          <a:stretch>
            <a:fillRect/>
          </a:stretch>
        </p:blipFill>
        <p:spPr>
          <a:xfrm>
            <a:off x="-1371600" y="-1371600"/>
            <a:ext cx="4114800" cy="4114800"/>
          </a:xfrm>
          <a:prstGeom prst="rect">
            <a:avLst/>
          </a:prstGeom>
        </p:spPr>
      </p:pic>
      <p:pic>
        <p:nvPicPr>
          <p:cNvPr id="3" name="Image 1" descr="/sessions/optimistic-amazing-goldberg/presentation/assets/blossom-orange.png">    </p:cNvPr>
          <p:cNvPicPr>
            <a:picLocks noChangeAspect="1"/>
          </p:cNvPicPr>
          <p:nvPr/>
        </p:nvPicPr>
        <p:blipFill>
          <a:blip r:embed="rId2">
            <a:alphaModFix amt="30000"/>
          </a:blip>
          <a:stretch>
            <a:fillRect/>
          </a:stretch>
        </p:blipFill>
        <p:spPr>
          <a:xfrm>
            <a:off x="8991295" y="3657600"/>
            <a:ext cx="4114800" cy="4114800"/>
          </a:xfrm>
          <a:prstGeom prst="rect">
            <a:avLst/>
          </a:prstGeom>
        </p:spPr>
      </p:pic>
      <p:pic>
        <p:nvPicPr>
          <p:cNvPr id="4" name="Image 2" descr="/sessions/optimistic-amazing-goldberg/presentation/assets/blossom-pink.png">    </p:cNvPr>
          <p:cNvPicPr>
            <a:picLocks noChangeAspect="1"/>
          </p:cNvPicPr>
          <p:nvPr/>
        </p:nvPicPr>
        <p:blipFill>
          <a:blip r:embed="rId3">
            <a:alphaModFix amt="20000"/>
          </a:blip>
          <a:stretch>
            <a:fillRect/>
          </a:stretch>
        </p:blipFill>
        <p:spPr>
          <a:xfrm>
            <a:off x="914400" y="4846320"/>
            <a:ext cx="1371600" cy="1371600"/>
          </a:xfrm>
          <a:prstGeom prst="rect">
            <a:avLst/>
          </a:prstGeom>
        </p:spPr>
      </p:pic>
      <p:pic>
        <p:nvPicPr>
          <p:cNvPr id="5" name="Image 3" descr="/sessions/optimistic-amazing-goldberg/presentation/assets/blossom-orange.png">    </p:cNvPr>
          <p:cNvPicPr>
            <a:picLocks noChangeAspect="1"/>
          </p:cNvPicPr>
          <p:nvPr/>
        </p:nvPicPr>
        <p:blipFill>
          <a:blip r:embed="rId4">
            <a:alphaModFix amt="20000"/>
          </a:blip>
          <a:stretch>
            <a:fillRect/>
          </a:stretch>
        </p:blipFill>
        <p:spPr>
          <a:xfrm>
            <a:off x="10180015" y="914400"/>
            <a:ext cx="1188720" cy="1188720"/>
          </a:xfrm>
          <a:prstGeom prst="rect">
            <a:avLst/>
          </a:prstGeom>
        </p:spPr>
      </p:pic>
      <p:sp>
        <p:nvSpPr>
          <p:cNvPr id="6" name="Shape 0"/>
          <p:cNvSpPr/>
          <p:nvPr/>
        </p:nvSpPr>
        <p:spPr>
          <a:xfrm>
            <a:off x="4998568" y="1645920"/>
            <a:ext cx="2194560" cy="365760"/>
          </a:xfrm>
          <a:prstGeom prst="roundRect">
            <a:avLst>
              <a:gd name="adj" fmla="val 50000"/>
            </a:avLst>
          </a:prstGeom>
          <a:solidFill>
            <a:srgbClr val="FFFFFF"/>
          </a:solidFill>
          <a:ln w="9525">
            <a:solidFill>
              <a:srgbClr val="D4B896"/>
            </a:solidFill>
            <a:prstDash val="solid"/>
          </a:ln>
        </p:spPr>
      </p:sp>
      <p:sp>
        <p:nvSpPr>
          <p:cNvPr id="7" name="Text 1"/>
          <p:cNvSpPr/>
          <p:nvPr/>
        </p:nvSpPr>
        <p:spPr>
          <a:xfrm>
            <a:off x="4998568" y="1645920"/>
            <a:ext cx="2194560" cy="365760"/>
          </a:xfrm>
          <a:prstGeom prst="rect">
            <a:avLst/>
          </a:prstGeom>
          <a:noFill/>
          <a:ln/>
        </p:spPr>
        <p:txBody>
          <a:bodyPr wrap="square" lIns="0" tIns="0" rIns="0" bIns="0" rtlCol="0" anchor="ctr"/>
          <a:lstStyle/>
          <a:p>
            <a:pPr algn="ctr" indent="0" marL="0">
              <a:buNone/>
            </a:pPr>
            <a:r>
              <a:rPr lang="en-US" sz="1200" b="1" spc="400" kern="0" dirty="0">
                <a:solidFill>
                  <a:srgbClr val="7E5D4E"/>
                </a:solidFill>
                <a:latin typeface="Noto Sans KR" pitchFamily="34" charset="0"/>
                <a:ea typeface="Noto Sans KR" pitchFamily="34" charset="-122"/>
                <a:cs typeface="Noto Sans KR" pitchFamily="34" charset="-120"/>
              </a:rPr>
              <a:t>PART 3</a:t>
            </a:r>
            <a:endParaRPr lang="en-US" sz="1200" dirty="0"/>
          </a:p>
        </p:txBody>
      </p:sp>
      <p:sp>
        <p:nvSpPr>
          <p:cNvPr id="8" name="Text 2"/>
          <p:cNvSpPr/>
          <p:nvPr/>
        </p:nvSpPr>
        <p:spPr>
          <a:xfrm>
            <a:off x="548640" y="2286000"/>
            <a:ext cx="11094415" cy="1097280"/>
          </a:xfrm>
          <a:prstGeom prst="rect">
            <a:avLst/>
          </a:prstGeom>
          <a:noFill/>
          <a:ln/>
        </p:spPr>
        <p:txBody>
          <a:bodyPr wrap="square" lIns="0" tIns="0" rIns="0" bIns="0" rtlCol="0" anchor="ctr"/>
          <a:lstStyle/>
          <a:p>
            <a:pPr algn="ctr" indent="0" marL="0">
              <a:buNone/>
            </a:pPr>
            <a:r>
              <a:rPr lang="en-US" sz="4800" b="1" dirty="0">
                <a:solidFill>
                  <a:srgbClr val="5C4033"/>
                </a:solidFill>
                <a:latin typeface="Nanum Myeongjo" pitchFamily="34" charset="0"/>
                <a:ea typeface="Nanum Myeongjo" pitchFamily="34" charset="-122"/>
                <a:cs typeface="Nanum Myeongjo" pitchFamily="34" charset="-120"/>
              </a:rPr>
              <a:t>DeerFlow  vs  SWE-Agent</a:t>
            </a:r>
            <a:endParaRPr lang="en-US" sz="4800" dirty="0"/>
          </a:p>
        </p:txBody>
      </p:sp>
      <p:sp>
        <p:nvSpPr>
          <p:cNvPr id="9" name="Text 3"/>
          <p:cNvSpPr/>
          <p:nvPr/>
        </p:nvSpPr>
        <p:spPr>
          <a:xfrm>
            <a:off x="548640" y="3566160"/>
            <a:ext cx="11094415" cy="457200"/>
          </a:xfrm>
          <a:prstGeom prst="rect">
            <a:avLst/>
          </a:prstGeom>
          <a:noFill/>
          <a:ln/>
        </p:spPr>
        <p:txBody>
          <a:bodyPr wrap="square" lIns="0" tIns="0" rIns="0" bIns="0" rtlCol="0" anchor="ctr"/>
          <a:lstStyle/>
          <a:p>
            <a:pPr algn="ctr" indent="0" marL="0">
              <a:buNone/>
            </a:pPr>
            <a:r>
              <a:rPr lang="en-US" sz="2000" dirty="0">
                <a:solidFill>
                  <a:srgbClr val="7E5D4E"/>
                </a:solidFill>
                <a:latin typeface="Noto Sans KR" pitchFamily="34" charset="0"/>
                <a:ea typeface="Noto Sans KR" pitchFamily="34" charset="-122"/>
                <a:cs typeface="Noto Sans KR" pitchFamily="34" charset="-120"/>
              </a:rPr>
              <a:t>두 설계 철학, 같은 목표, 다른 접근</a:t>
            </a:r>
            <a:endParaRPr lang="en-US" sz="2000" dirty="0"/>
          </a:p>
        </p:txBody>
      </p:sp>
      <p:sp>
        <p:nvSpPr>
          <p:cNvPr id="10" name="Shape 4"/>
          <p:cNvSpPr/>
          <p:nvPr/>
        </p:nvSpPr>
        <p:spPr>
          <a:xfrm>
            <a:off x="3078328" y="4480560"/>
            <a:ext cx="2377440" cy="457200"/>
          </a:xfrm>
          <a:prstGeom prst="roundRect">
            <a:avLst>
              <a:gd name="adj" fmla="val 50000"/>
            </a:avLst>
          </a:prstGeom>
          <a:solidFill>
            <a:srgbClr val="FBE9EF"/>
          </a:solidFill>
          <a:ln w="12700">
            <a:solidFill>
              <a:srgbClr val="F4A6B8"/>
            </a:solidFill>
            <a:prstDash val="solid"/>
          </a:ln>
        </p:spPr>
      </p:sp>
      <p:sp>
        <p:nvSpPr>
          <p:cNvPr id="11" name="Text 5"/>
          <p:cNvSpPr/>
          <p:nvPr/>
        </p:nvSpPr>
        <p:spPr>
          <a:xfrm>
            <a:off x="3078328" y="4480560"/>
            <a:ext cx="2377440" cy="457200"/>
          </a:xfrm>
          <a:prstGeom prst="rect">
            <a:avLst/>
          </a:prstGeom>
          <a:noFill/>
          <a:ln/>
        </p:spPr>
        <p:txBody>
          <a:bodyPr wrap="square" lIns="0" tIns="0" rIns="0" bIns="0" rtlCol="0" anchor="ctr"/>
          <a:lstStyle/>
          <a:p>
            <a:pPr algn="ctr" indent="0" marL="0">
              <a:buNone/>
            </a:pPr>
            <a:r>
              <a:rPr lang="en-US" sz="1300" b="1" dirty="0">
                <a:solidFill>
                  <a:srgbClr val="F4A6B8"/>
                </a:solidFill>
                <a:latin typeface="Noto Sans KR" pitchFamily="34" charset="0"/>
                <a:ea typeface="Noto Sans KR" pitchFamily="34" charset="-122"/>
                <a:cs typeface="Noto Sans KR" pitchFamily="34" charset="-120"/>
              </a:rPr>
              <a:t>많은 손, 하나의 하네스</a:t>
            </a:r>
            <a:endParaRPr lang="en-US" sz="1300" dirty="0"/>
          </a:p>
        </p:txBody>
      </p:sp>
      <p:sp>
        <p:nvSpPr>
          <p:cNvPr id="12" name="Text 6"/>
          <p:cNvSpPr/>
          <p:nvPr/>
        </p:nvSpPr>
        <p:spPr>
          <a:xfrm>
            <a:off x="5730088" y="4480560"/>
            <a:ext cx="731520" cy="457200"/>
          </a:xfrm>
          <a:prstGeom prst="rect">
            <a:avLst/>
          </a:prstGeom>
          <a:noFill/>
          <a:ln/>
        </p:spPr>
        <p:txBody>
          <a:bodyPr wrap="square" lIns="0" tIns="0" rIns="0" bIns="0" rtlCol="0" anchor="ctr"/>
          <a:lstStyle/>
          <a:p>
            <a:pPr algn="ctr" indent="0" marL="0">
              <a:buNone/>
            </a:pPr>
            <a:r>
              <a:rPr lang="en-US" sz="1800" b="1" dirty="0">
                <a:solidFill>
                  <a:srgbClr val="5C4033"/>
                </a:solidFill>
                <a:latin typeface="Nanum Myeongjo" pitchFamily="34" charset="0"/>
                <a:ea typeface="Nanum Myeongjo" pitchFamily="34" charset="-122"/>
                <a:cs typeface="Nanum Myeongjo" pitchFamily="34" charset="-120"/>
              </a:rPr>
              <a:t>VS</a:t>
            </a:r>
            <a:endParaRPr lang="en-US" sz="1800" dirty="0"/>
          </a:p>
        </p:txBody>
      </p:sp>
      <p:sp>
        <p:nvSpPr>
          <p:cNvPr id="13" name="Shape 7"/>
          <p:cNvSpPr/>
          <p:nvPr/>
        </p:nvSpPr>
        <p:spPr>
          <a:xfrm>
            <a:off x="6735928" y="4480560"/>
            <a:ext cx="2377440" cy="457200"/>
          </a:xfrm>
          <a:prstGeom prst="roundRect">
            <a:avLst>
              <a:gd name="adj" fmla="val 50000"/>
            </a:avLst>
          </a:prstGeom>
          <a:solidFill>
            <a:srgbClr val="FDEAD9"/>
          </a:solidFill>
          <a:ln w="12700">
            <a:solidFill>
              <a:srgbClr val="F08B51"/>
            </a:solidFill>
            <a:prstDash val="solid"/>
          </a:ln>
        </p:spPr>
      </p:sp>
      <p:sp>
        <p:nvSpPr>
          <p:cNvPr id="14" name="Text 8"/>
          <p:cNvSpPr/>
          <p:nvPr/>
        </p:nvSpPr>
        <p:spPr>
          <a:xfrm>
            <a:off x="6735928" y="4480560"/>
            <a:ext cx="2377440" cy="457200"/>
          </a:xfrm>
          <a:prstGeom prst="rect">
            <a:avLst/>
          </a:prstGeom>
          <a:noFill/>
          <a:ln/>
        </p:spPr>
        <p:txBody>
          <a:bodyPr wrap="square" lIns="0" tIns="0" rIns="0" bIns="0" rtlCol="0" anchor="ctr"/>
          <a:lstStyle/>
          <a:p>
            <a:pPr algn="ctr" indent="0" marL="0">
              <a:buNone/>
            </a:pPr>
            <a:r>
              <a:rPr lang="en-US" sz="1300" b="1" dirty="0">
                <a:solidFill>
                  <a:srgbClr val="F08B51"/>
                </a:solidFill>
                <a:latin typeface="Noto Sans KR" pitchFamily="34" charset="0"/>
                <a:ea typeface="Noto Sans KR" pitchFamily="34" charset="-122"/>
                <a:cs typeface="Noto Sans KR" pitchFamily="34" charset="-120"/>
              </a:rPr>
              <a:t>하나의 손, 최적의 도구</a:t>
            </a:r>
            <a:endParaRPr lang="en-US" sz="1300" dirty="0"/>
          </a:p>
        </p:txBody>
      </p:sp>
      <p:sp>
        <p:nvSpPr>
          <p:cNvPr id="15" name="Text 9"/>
          <p:cNvSpPr/>
          <p:nvPr/>
        </p:nvSpPr>
        <p:spPr>
          <a:xfrm>
            <a:off x="548640" y="5486400"/>
            <a:ext cx="11094415" cy="365760"/>
          </a:xfrm>
          <a:prstGeom prst="rect">
            <a:avLst/>
          </a:prstGeom>
          <a:noFill/>
          <a:ln/>
        </p:spPr>
        <p:txBody>
          <a:bodyPr wrap="square" lIns="0" tIns="0" rIns="0" bIns="0" rtlCol="0" anchor="ctr"/>
          <a:lstStyle/>
          <a:p>
            <a:pPr algn="ctr" indent="0" marL="0">
              <a:buNone/>
            </a:pPr>
            <a:r>
              <a:rPr lang="en-US" sz="1300" i="1" spc="200" kern="0" dirty="0">
                <a:solidFill>
                  <a:srgbClr val="A68474"/>
                </a:solidFill>
                <a:latin typeface="Noto Sans KR" pitchFamily="34" charset="0"/>
                <a:ea typeface="Noto Sans KR" pitchFamily="34" charset="-122"/>
                <a:cs typeface="Noto Sans KR" pitchFamily="34" charset="-120"/>
              </a:rPr>
              <a:t>철학 대비 · 구조 매핑 · 핵심 차이점 · 선택 기준</a:t>
            </a:r>
            <a:endParaRPr lang="en-US" sz="1300" dirty="0"/>
          </a:p>
        </p:txBody>
      </p:sp>
      <p:sp>
        <p:nvSpPr>
          <p:cNvPr id="16" name="Text 10"/>
          <p:cNvSpPr/>
          <p:nvPr/>
        </p:nvSpPr>
        <p:spPr>
          <a:xfrm>
            <a:off x="548640" y="5943600"/>
            <a:ext cx="11094415" cy="320040"/>
          </a:xfrm>
          <a:prstGeom prst="rect">
            <a:avLst/>
          </a:prstGeom>
          <a:noFill/>
          <a:ln/>
        </p:spPr>
        <p:txBody>
          <a:bodyPr wrap="square" lIns="0" tIns="0" rIns="0" bIns="0" rtlCol="0" anchor="ctr"/>
          <a:lstStyle/>
          <a:p>
            <a:pPr algn="ctr" indent="0" marL="0">
              <a:buNone/>
            </a:pPr>
            <a:r>
              <a:rPr lang="en-US" sz="1100" dirty="0">
                <a:solidFill>
                  <a:srgbClr val="A68474"/>
                </a:solidFill>
                <a:latin typeface="Noto Sans KR" pitchFamily="34" charset="0"/>
                <a:ea typeface="Noto Sans KR" pitchFamily="34" charset="-122"/>
                <a:cs typeface="Noto Sans KR" pitchFamily="34" charset="-120"/>
              </a:rPr>
              <a:t>5 slides   ·   페이지 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D4B896"/>
          </a:solidFill>
          <a:ln w="12700">
            <a:solidFill>
              <a:srgbClr val="D4B896"/>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COMPARISON  ·  1/4</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23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설계 철학 대비</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두 시스템은 같은 문제를 완전히 다른 방향에서 공격한다</a:t>
            </a:r>
            <a:endParaRPr lang="en-US" sz="1800" dirty="0"/>
          </a:p>
        </p:txBody>
      </p:sp>
      <p:sp>
        <p:nvSpPr>
          <p:cNvPr id="7" name="Shape 5"/>
          <p:cNvSpPr/>
          <p:nvPr/>
        </p:nvSpPr>
        <p:spPr>
          <a:xfrm>
            <a:off x="548640" y="1691640"/>
            <a:ext cx="457200" cy="36576"/>
          </a:xfrm>
          <a:prstGeom prst="rect">
            <a:avLst/>
          </a:prstGeom>
          <a:solidFill>
            <a:srgbClr val="D4B896"/>
          </a:solidFill>
          <a:ln w="12700">
            <a:solidFill>
              <a:srgbClr val="D4B896"/>
            </a:solidFill>
            <a:prstDash val="solid"/>
          </a:ln>
        </p:spPr>
      </p:sp>
      <p:sp>
        <p:nvSpPr>
          <p:cNvPr id="8" name="Shape 6"/>
          <p:cNvSpPr/>
          <p:nvPr/>
        </p:nvSpPr>
        <p:spPr>
          <a:xfrm>
            <a:off x="548640" y="2103120"/>
            <a:ext cx="5318608" cy="41148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103120"/>
            <a:ext cx="73152" cy="4114800"/>
          </a:xfrm>
          <a:prstGeom prst="rect">
            <a:avLst/>
          </a:prstGeom>
          <a:solidFill>
            <a:srgbClr val="F4A6B8"/>
          </a:solidFill>
          <a:ln w="12700">
            <a:solidFill>
              <a:srgbClr val="F4A6B8"/>
            </a:solidFill>
            <a:prstDash val="solid"/>
          </a:ln>
        </p:spPr>
      </p:sp>
      <p:sp>
        <p:nvSpPr>
          <p:cNvPr id="10" name="Text 8"/>
          <p:cNvSpPr/>
          <p:nvPr/>
        </p:nvSpPr>
        <p:spPr>
          <a:xfrm>
            <a:off x="822960" y="2331720"/>
            <a:ext cx="4952848" cy="457200"/>
          </a:xfrm>
          <a:prstGeom prst="rect">
            <a:avLst/>
          </a:prstGeom>
          <a:noFill/>
          <a:ln/>
        </p:spPr>
        <p:txBody>
          <a:bodyPr wrap="square" lIns="0" tIns="0" rIns="0" bIns="0" rtlCol="0" anchor="ctr"/>
          <a:lstStyle/>
          <a:p>
            <a:pPr algn="l" indent="0" marL="0">
              <a:buNone/>
            </a:pPr>
            <a:r>
              <a:rPr lang="en-US" sz="2600" b="1" dirty="0">
                <a:solidFill>
                  <a:srgbClr val="F4A6B8"/>
                </a:solidFill>
                <a:latin typeface="Nanum Myeongjo" pitchFamily="34" charset="0"/>
                <a:ea typeface="Nanum Myeongjo" pitchFamily="34" charset="-122"/>
                <a:cs typeface="Nanum Myeongjo" pitchFamily="34" charset="-120"/>
              </a:rPr>
              <a:t>DeerFlow</a:t>
            </a:r>
            <a:endParaRPr lang="en-US" sz="2600" dirty="0"/>
          </a:p>
        </p:txBody>
      </p:sp>
      <p:sp>
        <p:nvSpPr>
          <p:cNvPr id="11" name="Text 9"/>
          <p:cNvSpPr/>
          <p:nvPr/>
        </p:nvSpPr>
        <p:spPr>
          <a:xfrm>
            <a:off x="822960" y="2880360"/>
            <a:ext cx="4952848" cy="365760"/>
          </a:xfrm>
          <a:prstGeom prst="rect">
            <a:avLst/>
          </a:prstGeom>
          <a:noFill/>
          <a:ln/>
        </p:spPr>
        <p:txBody>
          <a:bodyPr wrap="square" lIns="0" tIns="0" rIns="0" bIns="0" rtlCol="0" anchor="ctr"/>
          <a:lstStyle/>
          <a:p>
            <a:pPr algn="l" indent="0" marL="0">
              <a:buNone/>
            </a:pPr>
            <a:r>
              <a:rPr lang="en-US" sz="1400" i="1" dirty="0">
                <a:solidFill>
                  <a:srgbClr val="7E5D4E"/>
                </a:solidFill>
                <a:latin typeface="Noto Sans KR" pitchFamily="34" charset="0"/>
                <a:ea typeface="Noto Sans KR" pitchFamily="34" charset="-122"/>
                <a:cs typeface="Noto Sans KR" pitchFamily="34" charset="-120"/>
              </a:rPr>
              <a:t>“환경을 완전히 통제”</a:t>
            </a:r>
            <a:endParaRPr lang="en-US" sz="1400" dirty="0"/>
          </a:p>
        </p:txBody>
      </p:sp>
      <p:sp>
        <p:nvSpPr>
          <p:cNvPr id="12" name="Shape 10"/>
          <p:cNvSpPr/>
          <p:nvPr/>
        </p:nvSpPr>
        <p:spPr>
          <a:xfrm>
            <a:off x="822960" y="3337560"/>
            <a:ext cx="457200" cy="27432"/>
          </a:xfrm>
          <a:prstGeom prst="rect">
            <a:avLst/>
          </a:prstGeom>
          <a:solidFill>
            <a:srgbClr val="F4A6B8"/>
          </a:solidFill>
          <a:ln w="12700">
            <a:solidFill>
              <a:srgbClr val="F4A6B8"/>
            </a:solidFill>
            <a:prstDash val="solid"/>
          </a:ln>
        </p:spPr>
      </p:sp>
      <p:sp>
        <p:nvSpPr>
          <p:cNvPr id="13" name="Text 11"/>
          <p:cNvSpPr/>
          <p:nvPr/>
        </p:nvSpPr>
        <p:spPr>
          <a:xfrm>
            <a:off x="822960" y="3611880"/>
            <a:ext cx="274320" cy="365760"/>
          </a:xfrm>
          <a:prstGeom prst="rect">
            <a:avLst/>
          </a:prstGeom>
          <a:noFill/>
          <a:ln/>
        </p:spPr>
        <p:txBody>
          <a:bodyPr wrap="square" lIns="0" tIns="0" rIns="0" bIns="0" rtlCol="0" anchor="t"/>
          <a:lstStyle/>
          <a:p>
            <a:pPr algn="l" indent="0" marL="0">
              <a:buNone/>
            </a:pPr>
            <a:r>
              <a:rPr lang="en-US" sz="1400"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4" name="Text 12"/>
          <p:cNvSpPr/>
          <p:nvPr/>
        </p:nvSpPr>
        <p:spPr>
          <a:xfrm>
            <a:off x="1097280" y="361188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8개 구조</a:t>
            </a:r>
            <a:pPr algn="l" indent="0" marL="0">
              <a:buNone/>
            </a:pPr>
            <a:r>
              <a:rPr lang="en-US" sz="1300" dirty="0">
                <a:solidFill>
                  <a:srgbClr val="7E5D4E"/>
                </a:solidFill>
                <a:latin typeface="Noto Sans KR" pitchFamily="34" charset="0"/>
                <a:ea typeface="Noto Sans KR" pitchFamily="34" charset="-122"/>
                <a:cs typeface="Noto Sans KR" pitchFamily="34" charset="-120"/>
              </a:rPr>
              <a:t>로 전체 환경 구성</a:t>
            </a:r>
            <a:endParaRPr lang="en-US" sz="1400" dirty="0"/>
          </a:p>
        </p:txBody>
      </p:sp>
      <p:sp>
        <p:nvSpPr>
          <p:cNvPr id="15" name="Text 13"/>
          <p:cNvSpPr/>
          <p:nvPr/>
        </p:nvSpPr>
        <p:spPr>
          <a:xfrm>
            <a:off x="822960" y="4114800"/>
            <a:ext cx="274320" cy="365760"/>
          </a:xfrm>
          <a:prstGeom prst="rect">
            <a:avLst/>
          </a:prstGeom>
          <a:noFill/>
          <a:ln/>
        </p:spPr>
        <p:txBody>
          <a:bodyPr wrap="square" lIns="0" tIns="0" rIns="0" bIns="0" rtlCol="0" anchor="t"/>
          <a:lstStyle/>
          <a:p>
            <a:pPr algn="l" indent="0" marL="0">
              <a:buNone/>
            </a:pPr>
            <a:r>
              <a:rPr lang="en-US" sz="1400"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6" name="Text 14"/>
          <p:cNvSpPr/>
          <p:nvPr/>
        </p:nvSpPr>
        <p:spPr>
          <a:xfrm>
            <a:off x="1097280" y="411480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Subagent</a:t>
            </a:r>
            <a:pPr algn="l" indent="0" marL="0">
              <a:buNone/>
            </a:pPr>
            <a:r>
              <a:rPr lang="en-US" sz="1300" dirty="0">
                <a:solidFill>
                  <a:srgbClr val="7E5D4E"/>
                </a:solidFill>
                <a:latin typeface="Noto Sans KR" pitchFamily="34" charset="0"/>
                <a:ea typeface="Noto Sans KR" pitchFamily="34" charset="-122"/>
                <a:cs typeface="Noto Sans KR" pitchFamily="34" charset="-120"/>
              </a:rPr>
              <a:t>로 작업 분산 (최대 3개 병렬)</a:t>
            </a:r>
            <a:endParaRPr lang="en-US" sz="1400" dirty="0"/>
          </a:p>
        </p:txBody>
      </p:sp>
      <p:sp>
        <p:nvSpPr>
          <p:cNvPr id="17" name="Text 15"/>
          <p:cNvSpPr/>
          <p:nvPr/>
        </p:nvSpPr>
        <p:spPr>
          <a:xfrm>
            <a:off x="822960" y="4617720"/>
            <a:ext cx="274320" cy="365760"/>
          </a:xfrm>
          <a:prstGeom prst="rect">
            <a:avLst/>
          </a:prstGeom>
          <a:noFill/>
          <a:ln/>
        </p:spPr>
        <p:txBody>
          <a:bodyPr wrap="square" lIns="0" tIns="0" rIns="0" bIns="0" rtlCol="0" anchor="t"/>
          <a:lstStyle/>
          <a:p>
            <a:pPr algn="l" indent="0" marL="0">
              <a:buNone/>
            </a:pPr>
            <a:r>
              <a:rPr lang="en-US" sz="1400"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18" name="Text 16"/>
          <p:cNvSpPr/>
          <p:nvPr/>
        </p:nvSpPr>
        <p:spPr>
          <a:xfrm>
            <a:off x="1097280" y="461772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Memory</a:t>
            </a:r>
            <a:pPr algn="l" indent="0" marL="0">
              <a:buNone/>
            </a:pPr>
            <a:r>
              <a:rPr lang="en-US" sz="1300" dirty="0">
                <a:solidFill>
                  <a:srgbClr val="7E5D4E"/>
                </a:solidFill>
                <a:latin typeface="Noto Sans KR" pitchFamily="34" charset="0"/>
                <a:ea typeface="Noto Sans KR" pitchFamily="34" charset="-122"/>
                <a:cs typeface="Noto Sans KR" pitchFamily="34" charset="-120"/>
              </a:rPr>
              <a:t>로 장기 기억 (세션 간 유지)</a:t>
            </a:r>
            <a:endParaRPr lang="en-US" sz="1400" dirty="0"/>
          </a:p>
        </p:txBody>
      </p:sp>
      <p:sp>
        <p:nvSpPr>
          <p:cNvPr id="19" name="Text 17"/>
          <p:cNvSpPr/>
          <p:nvPr/>
        </p:nvSpPr>
        <p:spPr>
          <a:xfrm>
            <a:off x="822960" y="5120640"/>
            <a:ext cx="274320" cy="365760"/>
          </a:xfrm>
          <a:prstGeom prst="rect">
            <a:avLst/>
          </a:prstGeom>
          <a:noFill/>
          <a:ln/>
        </p:spPr>
        <p:txBody>
          <a:bodyPr wrap="square" lIns="0" tIns="0" rIns="0" bIns="0" rtlCol="0" anchor="t"/>
          <a:lstStyle/>
          <a:p>
            <a:pPr algn="l" indent="0" marL="0">
              <a:buNone/>
            </a:pPr>
            <a:r>
              <a:rPr lang="en-US" sz="1400" dirty="0">
                <a:solidFill>
                  <a:srgbClr val="F4A6B8"/>
                </a:solidFill>
                <a:latin typeface="Noto Sans KR" pitchFamily="34" charset="0"/>
                <a:ea typeface="Noto Sans KR" pitchFamily="34" charset="-122"/>
                <a:cs typeface="Noto Sans KR" pitchFamily="34" charset="-120"/>
              </a:rPr>
              <a:t>●</a:t>
            </a:r>
            <a:endParaRPr lang="en-US" sz="1400" dirty="0"/>
          </a:p>
        </p:txBody>
      </p:sp>
      <p:sp>
        <p:nvSpPr>
          <p:cNvPr id="20" name="Text 18"/>
          <p:cNvSpPr/>
          <p:nvPr/>
        </p:nvSpPr>
        <p:spPr>
          <a:xfrm>
            <a:off x="1097280" y="512064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Middleware</a:t>
            </a:r>
            <a:pPr algn="l" indent="0" marL="0">
              <a:buNone/>
            </a:pPr>
            <a:r>
              <a:rPr lang="en-US" sz="1300" dirty="0">
                <a:solidFill>
                  <a:srgbClr val="7E5D4E"/>
                </a:solidFill>
                <a:latin typeface="Noto Sans KR" pitchFamily="34" charset="0"/>
                <a:ea typeface="Noto Sans KR" pitchFamily="34" charset="-122"/>
                <a:cs typeface="Noto Sans KR" pitchFamily="34" charset="-120"/>
              </a:rPr>
              <a:t>체인으로 모든 호출 제어</a:t>
            </a:r>
            <a:endParaRPr lang="en-US" sz="1400" dirty="0"/>
          </a:p>
        </p:txBody>
      </p:sp>
      <p:sp>
        <p:nvSpPr>
          <p:cNvPr id="21" name="Shape 19"/>
          <p:cNvSpPr/>
          <p:nvPr/>
        </p:nvSpPr>
        <p:spPr>
          <a:xfrm>
            <a:off x="822960" y="5486400"/>
            <a:ext cx="4769968" cy="502920"/>
          </a:xfrm>
          <a:prstGeom prst="roundRect">
            <a:avLst>
              <a:gd name="adj" fmla="val 14545"/>
            </a:avLst>
          </a:prstGeom>
          <a:solidFill>
            <a:srgbClr val="FBE9EF"/>
          </a:solidFill>
          <a:ln w="9525">
            <a:solidFill>
              <a:srgbClr val="FADCE3"/>
            </a:solidFill>
            <a:prstDash val="solid"/>
          </a:ln>
        </p:spPr>
      </p:sp>
      <p:sp>
        <p:nvSpPr>
          <p:cNvPr id="22" name="Text 20"/>
          <p:cNvSpPr/>
          <p:nvPr/>
        </p:nvSpPr>
        <p:spPr>
          <a:xfrm>
            <a:off x="822960" y="5486400"/>
            <a:ext cx="4769968" cy="502920"/>
          </a:xfrm>
          <a:prstGeom prst="rect">
            <a:avLst/>
          </a:prstGeom>
          <a:noFill/>
          <a:ln/>
        </p:spPr>
        <p:txBody>
          <a:bodyPr wrap="square" lIns="0" tIns="0" rIns="0" bIns="0" rtlCol="0" anchor="ctr"/>
          <a:lstStyle/>
          <a:p>
            <a:pPr algn="ctr" indent="0" marL="0">
              <a:buNone/>
            </a:pPr>
            <a:r>
              <a:rPr lang="en-US" sz="1400" b="1" dirty="0">
                <a:solidFill>
                  <a:srgbClr val="F4A6B8"/>
                </a:solidFill>
                <a:latin typeface="Nanum Myeongjo" pitchFamily="34" charset="0"/>
                <a:ea typeface="Nanum Myeongjo" pitchFamily="34" charset="-122"/>
                <a:cs typeface="Nanum Myeongjo" pitchFamily="34" charset="-120"/>
              </a:rPr>
              <a:t>“많은 손, 하나의 하네스”</a:t>
            </a:r>
            <a:endParaRPr lang="en-US" sz="1400" dirty="0"/>
          </a:p>
        </p:txBody>
      </p:sp>
      <p:sp>
        <p:nvSpPr>
          <p:cNvPr id="23" name="Shape 21"/>
          <p:cNvSpPr/>
          <p:nvPr/>
        </p:nvSpPr>
        <p:spPr>
          <a:xfrm>
            <a:off x="6324448" y="2103120"/>
            <a:ext cx="5318608" cy="41148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4" name="Shape 22"/>
          <p:cNvSpPr/>
          <p:nvPr/>
        </p:nvSpPr>
        <p:spPr>
          <a:xfrm>
            <a:off x="6324448" y="2103120"/>
            <a:ext cx="73152" cy="4114800"/>
          </a:xfrm>
          <a:prstGeom prst="rect">
            <a:avLst/>
          </a:prstGeom>
          <a:solidFill>
            <a:srgbClr val="F08B51"/>
          </a:solidFill>
          <a:ln w="12700">
            <a:solidFill>
              <a:srgbClr val="F08B51"/>
            </a:solidFill>
            <a:prstDash val="solid"/>
          </a:ln>
        </p:spPr>
      </p:sp>
      <p:sp>
        <p:nvSpPr>
          <p:cNvPr id="25" name="Text 23"/>
          <p:cNvSpPr/>
          <p:nvPr/>
        </p:nvSpPr>
        <p:spPr>
          <a:xfrm>
            <a:off x="6598768" y="2331720"/>
            <a:ext cx="4952848" cy="457200"/>
          </a:xfrm>
          <a:prstGeom prst="rect">
            <a:avLst/>
          </a:prstGeom>
          <a:noFill/>
          <a:ln/>
        </p:spPr>
        <p:txBody>
          <a:bodyPr wrap="square" lIns="0" tIns="0" rIns="0" bIns="0" rtlCol="0" anchor="ctr"/>
          <a:lstStyle/>
          <a:p>
            <a:pPr algn="l" indent="0" marL="0">
              <a:buNone/>
            </a:pPr>
            <a:r>
              <a:rPr lang="en-US" sz="2600" b="1" dirty="0">
                <a:solidFill>
                  <a:srgbClr val="F08B51"/>
                </a:solidFill>
                <a:latin typeface="Nanum Myeongjo" pitchFamily="34" charset="0"/>
                <a:ea typeface="Nanum Myeongjo" pitchFamily="34" charset="-122"/>
                <a:cs typeface="Nanum Myeongjo" pitchFamily="34" charset="-120"/>
              </a:rPr>
              <a:t>SWE-Agent</a:t>
            </a:r>
            <a:endParaRPr lang="en-US" sz="2600" dirty="0"/>
          </a:p>
        </p:txBody>
      </p:sp>
      <p:sp>
        <p:nvSpPr>
          <p:cNvPr id="26" name="Text 24"/>
          <p:cNvSpPr/>
          <p:nvPr/>
        </p:nvSpPr>
        <p:spPr>
          <a:xfrm>
            <a:off x="6598768" y="2880360"/>
            <a:ext cx="4952848" cy="365760"/>
          </a:xfrm>
          <a:prstGeom prst="rect">
            <a:avLst/>
          </a:prstGeom>
          <a:noFill/>
          <a:ln/>
        </p:spPr>
        <p:txBody>
          <a:bodyPr wrap="square" lIns="0" tIns="0" rIns="0" bIns="0" rtlCol="0" anchor="ctr"/>
          <a:lstStyle/>
          <a:p>
            <a:pPr algn="l" indent="0" marL="0">
              <a:buNone/>
            </a:pPr>
            <a:r>
              <a:rPr lang="en-US" sz="1400" i="1" dirty="0">
                <a:solidFill>
                  <a:srgbClr val="7E5D4E"/>
                </a:solidFill>
                <a:latin typeface="Noto Sans KR" pitchFamily="34" charset="0"/>
                <a:ea typeface="Noto Sans KR" pitchFamily="34" charset="-122"/>
                <a:cs typeface="Noto Sans KR" pitchFamily="34" charset="-120"/>
              </a:rPr>
              <a:t>“인터페이스를 정밀 설계”</a:t>
            </a:r>
            <a:endParaRPr lang="en-US" sz="1400" dirty="0"/>
          </a:p>
        </p:txBody>
      </p:sp>
      <p:sp>
        <p:nvSpPr>
          <p:cNvPr id="27" name="Shape 25"/>
          <p:cNvSpPr/>
          <p:nvPr/>
        </p:nvSpPr>
        <p:spPr>
          <a:xfrm>
            <a:off x="6598768" y="3337560"/>
            <a:ext cx="457200" cy="27432"/>
          </a:xfrm>
          <a:prstGeom prst="rect">
            <a:avLst/>
          </a:prstGeom>
          <a:solidFill>
            <a:srgbClr val="F08B51"/>
          </a:solidFill>
          <a:ln w="12700">
            <a:solidFill>
              <a:srgbClr val="F08B51"/>
            </a:solidFill>
            <a:prstDash val="solid"/>
          </a:ln>
        </p:spPr>
      </p:sp>
      <p:sp>
        <p:nvSpPr>
          <p:cNvPr id="28" name="Text 26"/>
          <p:cNvSpPr/>
          <p:nvPr/>
        </p:nvSpPr>
        <p:spPr>
          <a:xfrm>
            <a:off x="6598768" y="3611880"/>
            <a:ext cx="274320" cy="365760"/>
          </a:xfrm>
          <a:prstGeom prst="rect">
            <a:avLst/>
          </a:prstGeom>
          <a:noFill/>
          <a:ln/>
        </p:spPr>
        <p:txBody>
          <a:bodyPr wrap="square" lIns="0" tIns="0" rIns="0" bIns="0" rtlCol="0" anchor="t"/>
          <a:lstStyle/>
          <a:p>
            <a:pPr algn="l" indent="0" marL="0">
              <a:buNone/>
            </a:pPr>
            <a:r>
              <a:rPr lang="en-US" sz="1400"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29" name="Text 27"/>
          <p:cNvSpPr/>
          <p:nvPr/>
        </p:nvSpPr>
        <p:spPr>
          <a:xfrm>
            <a:off x="6873088" y="361188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7개 ACI 컴포넌트</a:t>
            </a:r>
            <a:pPr algn="l" indent="0" marL="0">
              <a:buNone/>
            </a:pPr>
            <a:r>
              <a:rPr lang="en-US" sz="1300" dirty="0">
                <a:solidFill>
                  <a:srgbClr val="7E5D4E"/>
                </a:solidFill>
                <a:latin typeface="Noto Sans KR" pitchFamily="34" charset="0"/>
                <a:ea typeface="Noto Sans KR" pitchFamily="34" charset="-122"/>
                <a:cs typeface="Noto Sans KR" pitchFamily="34" charset="-120"/>
              </a:rPr>
              <a:t>로 인터페이스 최적화</a:t>
            </a:r>
            <a:endParaRPr lang="en-US" sz="1400" dirty="0"/>
          </a:p>
        </p:txBody>
      </p:sp>
      <p:sp>
        <p:nvSpPr>
          <p:cNvPr id="30" name="Text 28"/>
          <p:cNvSpPr/>
          <p:nvPr/>
        </p:nvSpPr>
        <p:spPr>
          <a:xfrm>
            <a:off x="6598768" y="4114800"/>
            <a:ext cx="274320" cy="365760"/>
          </a:xfrm>
          <a:prstGeom prst="rect">
            <a:avLst/>
          </a:prstGeom>
          <a:noFill/>
          <a:ln/>
        </p:spPr>
        <p:txBody>
          <a:bodyPr wrap="square" lIns="0" tIns="0" rIns="0" bIns="0" rtlCol="0" anchor="t"/>
          <a:lstStyle/>
          <a:p>
            <a:pPr algn="l" indent="0" marL="0">
              <a:buNone/>
            </a:pPr>
            <a:r>
              <a:rPr lang="en-US" sz="1400"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31" name="Text 29"/>
          <p:cNvSpPr/>
          <p:nvPr/>
        </p:nvSpPr>
        <p:spPr>
          <a:xfrm>
            <a:off x="6873088" y="411480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단일 에이전트</a:t>
            </a:r>
            <a:pPr algn="l" indent="0" marL="0">
              <a:buNone/>
            </a:pPr>
            <a:r>
              <a:rPr lang="en-US" sz="1300" dirty="0">
                <a:solidFill>
                  <a:srgbClr val="7E5D4E"/>
                </a:solidFill>
                <a:latin typeface="Noto Sans KR" pitchFamily="34" charset="0"/>
                <a:ea typeface="Noto Sans KR" pitchFamily="34" charset="-122"/>
                <a:cs typeface="Noto Sans KR" pitchFamily="34" charset="-120"/>
              </a:rPr>
              <a:t> 집중 (분산 없음)</a:t>
            </a:r>
            <a:endParaRPr lang="en-US" sz="1400" dirty="0"/>
          </a:p>
        </p:txBody>
      </p:sp>
      <p:sp>
        <p:nvSpPr>
          <p:cNvPr id="32" name="Text 30"/>
          <p:cNvSpPr/>
          <p:nvPr/>
        </p:nvSpPr>
        <p:spPr>
          <a:xfrm>
            <a:off x="6598768" y="4617720"/>
            <a:ext cx="274320" cy="365760"/>
          </a:xfrm>
          <a:prstGeom prst="rect">
            <a:avLst/>
          </a:prstGeom>
          <a:noFill/>
          <a:ln/>
        </p:spPr>
        <p:txBody>
          <a:bodyPr wrap="square" lIns="0" tIns="0" rIns="0" bIns="0" rtlCol="0" anchor="t"/>
          <a:lstStyle/>
          <a:p>
            <a:pPr algn="l" indent="0" marL="0">
              <a:buNone/>
            </a:pPr>
            <a:r>
              <a:rPr lang="en-US" sz="1400"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33" name="Text 31"/>
          <p:cNvSpPr/>
          <p:nvPr/>
        </p:nvSpPr>
        <p:spPr>
          <a:xfrm>
            <a:off x="6873088" y="461772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가드레일</a:t>
            </a:r>
            <a:pPr algn="l" indent="0" marL="0">
              <a:buNone/>
            </a:pPr>
            <a:r>
              <a:rPr lang="en-US" sz="1300" dirty="0">
                <a:solidFill>
                  <a:srgbClr val="7E5D4E"/>
                </a:solidFill>
                <a:latin typeface="Noto Sans KR" pitchFamily="34" charset="0"/>
                <a:ea typeface="Noto Sans KR" pitchFamily="34" charset="-122"/>
                <a:cs typeface="Noto Sans KR" pitchFamily="34" charset="-120"/>
              </a:rPr>
              <a:t>로 실수 방지 (린터 거부)</a:t>
            </a:r>
            <a:endParaRPr lang="en-US" sz="1400" dirty="0"/>
          </a:p>
        </p:txBody>
      </p:sp>
      <p:sp>
        <p:nvSpPr>
          <p:cNvPr id="34" name="Text 32"/>
          <p:cNvSpPr/>
          <p:nvPr/>
        </p:nvSpPr>
        <p:spPr>
          <a:xfrm>
            <a:off x="6598768" y="5120640"/>
            <a:ext cx="274320" cy="365760"/>
          </a:xfrm>
          <a:prstGeom prst="rect">
            <a:avLst/>
          </a:prstGeom>
          <a:noFill/>
          <a:ln/>
        </p:spPr>
        <p:txBody>
          <a:bodyPr wrap="square" lIns="0" tIns="0" rIns="0" bIns="0" rtlCol="0" anchor="t"/>
          <a:lstStyle/>
          <a:p>
            <a:pPr algn="l" indent="0" marL="0">
              <a:buNone/>
            </a:pPr>
            <a:r>
              <a:rPr lang="en-US" sz="1400" dirty="0">
                <a:solidFill>
                  <a:srgbClr val="F08B51"/>
                </a:solidFill>
                <a:latin typeface="Noto Sans KR" pitchFamily="34" charset="0"/>
                <a:ea typeface="Noto Sans KR" pitchFamily="34" charset="-122"/>
                <a:cs typeface="Noto Sans KR" pitchFamily="34" charset="-120"/>
              </a:rPr>
              <a:t>●</a:t>
            </a:r>
            <a:endParaRPr lang="en-US" sz="1400" dirty="0"/>
          </a:p>
        </p:txBody>
      </p:sp>
      <p:sp>
        <p:nvSpPr>
          <p:cNvPr id="35" name="Text 33"/>
          <p:cNvSpPr/>
          <p:nvPr/>
        </p:nvSpPr>
        <p:spPr>
          <a:xfrm>
            <a:off x="6873088" y="5120640"/>
            <a:ext cx="4495648" cy="457200"/>
          </a:xfrm>
          <a:prstGeom prst="rect">
            <a:avLst/>
          </a:prstGeom>
          <a:noFill/>
          <a:ln/>
        </p:spPr>
        <p:txBody>
          <a:bodyPr wrap="square" lIns="0" tIns="0" rIns="0" bIns="0" rtlCol="0" anchor="t"/>
          <a:lstStyle/>
          <a:p>
            <a:pPr algn="l" indent="0" marL="0">
              <a:buNone/>
            </a:pPr>
            <a:r>
              <a:rPr lang="en-US" sz="1400" b="1" dirty="0">
                <a:solidFill>
                  <a:srgbClr val="5C4033"/>
                </a:solidFill>
                <a:latin typeface="Noto Sans KR" pitchFamily="34" charset="0"/>
                <a:ea typeface="Noto Sans KR" pitchFamily="34" charset="-122"/>
                <a:cs typeface="Noto Sans KR" pitchFamily="34" charset="-120"/>
              </a:rPr>
              <a:t>제한</a:t>
            </a:r>
            <a:pPr algn="l" indent="0" marL="0">
              <a:buNone/>
            </a:pPr>
            <a:r>
              <a:rPr lang="en-US" sz="1300" dirty="0">
                <a:solidFill>
                  <a:srgbClr val="7E5D4E"/>
                </a:solidFill>
                <a:latin typeface="Noto Sans KR" pitchFamily="34" charset="0"/>
                <a:ea typeface="Noto Sans KR" pitchFamily="34" charset="-122"/>
                <a:cs typeface="Noto Sans KR" pitchFamily="34" charset="-120"/>
              </a:rPr>
              <a:t>으로 노이즈 제거 (50/100)</a:t>
            </a:r>
            <a:endParaRPr lang="en-US" sz="1400" dirty="0"/>
          </a:p>
        </p:txBody>
      </p:sp>
      <p:sp>
        <p:nvSpPr>
          <p:cNvPr id="36" name="Shape 34"/>
          <p:cNvSpPr/>
          <p:nvPr/>
        </p:nvSpPr>
        <p:spPr>
          <a:xfrm>
            <a:off x="6598768" y="5486400"/>
            <a:ext cx="4769968" cy="502920"/>
          </a:xfrm>
          <a:prstGeom prst="roundRect">
            <a:avLst>
              <a:gd name="adj" fmla="val 14545"/>
            </a:avLst>
          </a:prstGeom>
          <a:solidFill>
            <a:srgbClr val="FDEAD9"/>
          </a:solidFill>
          <a:ln w="9525">
            <a:solidFill>
              <a:srgbClr val="F9C7A8"/>
            </a:solidFill>
            <a:prstDash val="solid"/>
          </a:ln>
        </p:spPr>
      </p:sp>
      <p:sp>
        <p:nvSpPr>
          <p:cNvPr id="37" name="Text 35"/>
          <p:cNvSpPr/>
          <p:nvPr/>
        </p:nvSpPr>
        <p:spPr>
          <a:xfrm>
            <a:off x="6598768" y="5486400"/>
            <a:ext cx="4769968" cy="502920"/>
          </a:xfrm>
          <a:prstGeom prst="rect">
            <a:avLst/>
          </a:prstGeom>
          <a:noFill/>
          <a:ln/>
        </p:spPr>
        <p:txBody>
          <a:bodyPr wrap="square" lIns="0" tIns="0" rIns="0" bIns="0" rtlCol="0" anchor="ctr"/>
          <a:lstStyle/>
          <a:p>
            <a:pPr algn="ctr" indent="0" marL="0">
              <a:buNone/>
            </a:pPr>
            <a:r>
              <a:rPr lang="en-US" sz="1400" b="1" dirty="0">
                <a:solidFill>
                  <a:srgbClr val="F08B51"/>
                </a:solidFill>
                <a:latin typeface="Nanum Myeongjo" pitchFamily="34" charset="0"/>
                <a:ea typeface="Nanum Myeongjo" pitchFamily="34" charset="-122"/>
                <a:cs typeface="Nanum Myeongjo" pitchFamily="34" charset="-120"/>
              </a:rPr>
              <a:t>“하나의 손, 최적의 도구”</a:t>
            </a:r>
            <a:endParaRPr lang="en-US" sz="1400" dirty="0"/>
          </a:p>
        </p:txBody>
      </p:sp>
      <p:sp>
        <p:nvSpPr>
          <p:cNvPr id="39" name="Text 36"/>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D4B896"/>
          </a:solidFill>
          <a:ln w="12700">
            <a:solidFill>
              <a:srgbClr val="D4B896"/>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COMPARISON  ·  2/4</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24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구조 매핑</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어떤 기능이 어느 쪽에만 있는가 — 컴포넌트별 1:1 대응</a:t>
            </a:r>
            <a:endParaRPr lang="en-US" sz="1800" dirty="0"/>
          </a:p>
        </p:txBody>
      </p:sp>
      <p:sp>
        <p:nvSpPr>
          <p:cNvPr id="7" name="Shape 5"/>
          <p:cNvSpPr/>
          <p:nvPr/>
        </p:nvSpPr>
        <p:spPr>
          <a:xfrm>
            <a:off x="548640" y="1691640"/>
            <a:ext cx="457200" cy="36576"/>
          </a:xfrm>
          <a:prstGeom prst="rect">
            <a:avLst/>
          </a:prstGeom>
          <a:solidFill>
            <a:srgbClr val="D4B896"/>
          </a:solidFill>
          <a:ln w="12700">
            <a:solidFill>
              <a:srgbClr val="D4B896"/>
            </a:solidFill>
            <a:prstDash val="solid"/>
          </a:ln>
        </p:spPr>
      </p:sp>
      <p:sp>
        <p:nvSpPr>
          <p:cNvPr id="8" name="Shape 6"/>
          <p:cNvSpPr/>
          <p:nvPr/>
        </p:nvSpPr>
        <p:spPr>
          <a:xfrm>
            <a:off x="548640" y="2103120"/>
            <a:ext cx="11094415" cy="411480"/>
          </a:xfrm>
          <a:prstGeom prst="rect">
            <a:avLst/>
          </a:prstGeom>
          <a:solidFill>
            <a:srgbClr val="5C4033"/>
          </a:solidFill>
          <a:ln w="12700">
            <a:solidFill>
              <a:srgbClr val="5C4033"/>
            </a:solidFill>
            <a:prstDash val="solid"/>
          </a:ln>
        </p:spPr>
      </p:sp>
      <p:sp>
        <p:nvSpPr>
          <p:cNvPr id="9" name="Text 7"/>
          <p:cNvSpPr/>
          <p:nvPr/>
        </p:nvSpPr>
        <p:spPr>
          <a:xfrm>
            <a:off x="731520" y="2103120"/>
            <a:ext cx="3291840"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KR" pitchFamily="34" charset="0"/>
                <a:ea typeface="Noto Sans KR" pitchFamily="34" charset="-122"/>
                <a:cs typeface="Noto Sans KR" pitchFamily="34" charset="-120"/>
              </a:rPr>
              <a:t>DeerFlow</a:t>
            </a:r>
            <a:endParaRPr lang="en-US" sz="1300" dirty="0"/>
          </a:p>
        </p:txBody>
      </p:sp>
      <p:sp>
        <p:nvSpPr>
          <p:cNvPr id="10" name="Text 8"/>
          <p:cNvSpPr/>
          <p:nvPr/>
        </p:nvSpPr>
        <p:spPr>
          <a:xfrm>
            <a:off x="4206240" y="2103120"/>
            <a:ext cx="3291840"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KR" pitchFamily="34" charset="0"/>
                <a:ea typeface="Noto Sans KR" pitchFamily="34" charset="-122"/>
                <a:cs typeface="Noto Sans KR" pitchFamily="34" charset="-120"/>
              </a:rPr>
              <a:t>SWE-Agent</a:t>
            </a:r>
            <a:endParaRPr lang="en-US" sz="1300" dirty="0"/>
          </a:p>
        </p:txBody>
      </p:sp>
      <p:sp>
        <p:nvSpPr>
          <p:cNvPr id="11" name="Text 9"/>
          <p:cNvSpPr/>
          <p:nvPr/>
        </p:nvSpPr>
        <p:spPr>
          <a:xfrm>
            <a:off x="7680960" y="2103120"/>
            <a:ext cx="3962095"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KR" pitchFamily="34" charset="0"/>
                <a:ea typeface="Noto Sans KR" pitchFamily="34" charset="-122"/>
                <a:cs typeface="Noto Sans KR" pitchFamily="34" charset="-120"/>
              </a:rPr>
              <a:t>비고  ·  Note</a:t>
            </a:r>
            <a:endParaRPr lang="en-US" sz="1300" dirty="0"/>
          </a:p>
        </p:txBody>
      </p:sp>
      <p:sp>
        <p:nvSpPr>
          <p:cNvPr id="12" name="Shape 10"/>
          <p:cNvSpPr/>
          <p:nvPr/>
        </p:nvSpPr>
        <p:spPr>
          <a:xfrm>
            <a:off x="548640" y="2514600"/>
            <a:ext cx="11094415" cy="292608"/>
          </a:xfrm>
          <a:prstGeom prst="rect">
            <a:avLst/>
          </a:prstGeom>
          <a:solidFill>
            <a:srgbClr val="F7EFE5"/>
          </a:solidFill>
          <a:ln w="12700">
            <a:solidFill>
              <a:srgbClr val="F7EFE5"/>
            </a:solidFill>
            <a:prstDash val="solid"/>
          </a:ln>
        </p:spPr>
      </p:sp>
      <p:sp>
        <p:nvSpPr>
          <p:cNvPr id="13" name="Shape 11"/>
          <p:cNvSpPr/>
          <p:nvPr/>
        </p:nvSpPr>
        <p:spPr>
          <a:xfrm>
            <a:off x="594360" y="2587752"/>
            <a:ext cx="146304" cy="146304"/>
          </a:xfrm>
          <a:prstGeom prst="ellipse">
            <a:avLst/>
          </a:prstGeom>
          <a:solidFill>
            <a:srgbClr val="F4A6B8"/>
          </a:solidFill>
          <a:ln w="12700">
            <a:solidFill>
              <a:srgbClr val="F4A6B8"/>
            </a:solidFill>
            <a:prstDash val="solid"/>
          </a:ln>
        </p:spPr>
      </p:sp>
      <p:sp>
        <p:nvSpPr>
          <p:cNvPr id="14" name="Text 12"/>
          <p:cNvSpPr/>
          <p:nvPr/>
        </p:nvSpPr>
        <p:spPr>
          <a:xfrm>
            <a:off x="822960" y="2514600"/>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Nginx</a:t>
            </a:r>
            <a:endParaRPr lang="en-US" sz="1200" dirty="0"/>
          </a:p>
        </p:txBody>
      </p:sp>
      <p:sp>
        <p:nvSpPr>
          <p:cNvPr id="15" name="Text 13"/>
          <p:cNvSpPr/>
          <p:nvPr/>
        </p:nvSpPr>
        <p:spPr>
          <a:xfrm>
            <a:off x="4206240" y="2514600"/>
            <a:ext cx="329184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16" name="Text 14"/>
          <p:cNvSpPr/>
          <p:nvPr/>
        </p:nvSpPr>
        <p:spPr>
          <a:xfrm>
            <a:off x="7680960" y="2514600"/>
            <a:ext cx="3962095" cy="292608"/>
          </a:xfrm>
          <a:prstGeom prst="rect">
            <a:avLst/>
          </a:prstGeom>
          <a:noFill/>
          <a:ln/>
        </p:spPr>
        <p:txBody>
          <a:bodyPr wrap="square" lIns="0" tIns="0" rIns="0" bIns="0" rtlCol="0" anchor="ctr"/>
          <a:lstStyle/>
          <a:p>
            <a:pPr algn="l" indent="0" marL="0">
              <a:buNone/>
            </a:pPr>
            <a:r>
              <a:rPr lang="en-US" sz="1100" b="1" dirty="0">
                <a:solidFill>
                  <a:srgbClr val="F4A6B8"/>
                </a:solidFill>
                <a:latin typeface="Noto Sans KR" pitchFamily="34" charset="0"/>
                <a:ea typeface="Noto Sans KR" pitchFamily="34" charset="-122"/>
                <a:cs typeface="Noto Sans KR" pitchFamily="34" charset="-120"/>
              </a:rPr>
              <a:t>DeerFlow만</a:t>
            </a:r>
            <a:endParaRPr lang="en-US" sz="1100" dirty="0"/>
          </a:p>
        </p:txBody>
      </p:sp>
      <p:sp>
        <p:nvSpPr>
          <p:cNvPr id="17" name="Shape 15"/>
          <p:cNvSpPr/>
          <p:nvPr/>
        </p:nvSpPr>
        <p:spPr>
          <a:xfrm>
            <a:off x="594360" y="2880360"/>
            <a:ext cx="146304" cy="146304"/>
          </a:xfrm>
          <a:prstGeom prst="ellipse">
            <a:avLst/>
          </a:prstGeom>
          <a:solidFill>
            <a:srgbClr val="D4B896"/>
          </a:solidFill>
          <a:ln w="12700">
            <a:solidFill>
              <a:srgbClr val="D4B896"/>
            </a:solidFill>
            <a:prstDash val="solid"/>
          </a:ln>
        </p:spPr>
      </p:sp>
      <p:sp>
        <p:nvSpPr>
          <p:cNvPr id="18" name="Text 16"/>
          <p:cNvSpPr/>
          <p:nvPr/>
        </p:nvSpPr>
        <p:spPr>
          <a:xfrm>
            <a:off x="822960" y="2807208"/>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LangGraph</a:t>
            </a:r>
            <a:endParaRPr lang="en-US" sz="1200" dirty="0"/>
          </a:p>
        </p:txBody>
      </p:sp>
      <p:sp>
        <p:nvSpPr>
          <p:cNvPr id="19" name="Text 17"/>
          <p:cNvSpPr/>
          <p:nvPr/>
        </p:nvSpPr>
        <p:spPr>
          <a:xfrm>
            <a:off x="4206240" y="2807208"/>
            <a:ext cx="329184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ReAct Loop</a:t>
            </a:r>
            <a:endParaRPr lang="en-US" sz="1200" dirty="0"/>
          </a:p>
        </p:txBody>
      </p:sp>
      <p:sp>
        <p:nvSpPr>
          <p:cNvPr id="20" name="Text 18"/>
          <p:cNvSpPr/>
          <p:nvPr/>
        </p:nvSpPr>
        <p:spPr>
          <a:xfrm>
            <a:off x="7680960" y="2807208"/>
            <a:ext cx="3962095" cy="292608"/>
          </a:xfrm>
          <a:prstGeom prst="rect">
            <a:avLst/>
          </a:prstGeom>
          <a:noFill/>
          <a:ln/>
        </p:spPr>
        <p:txBody>
          <a:bodyPr wrap="square" lIns="0" tIns="0" rIns="0" bIns="0" rtlCol="0" anchor="ctr"/>
          <a:lstStyle/>
          <a:p>
            <a:pPr algn="l" indent="0" marL="0">
              <a:buNone/>
            </a:pPr>
            <a:r>
              <a:rPr lang="en-US" sz="1100" b="1" dirty="0">
                <a:solidFill>
                  <a:srgbClr val="88B04B"/>
                </a:solidFill>
                <a:latin typeface="Noto Sans KR" pitchFamily="34" charset="0"/>
                <a:ea typeface="Noto Sans KR" pitchFamily="34" charset="-122"/>
                <a:cs typeface="Noto Sans KR" pitchFamily="34" charset="-120"/>
              </a:rPr>
              <a:t>유사 ✓</a:t>
            </a:r>
            <a:endParaRPr lang="en-US" sz="1100" dirty="0"/>
          </a:p>
        </p:txBody>
      </p:sp>
      <p:sp>
        <p:nvSpPr>
          <p:cNvPr id="21" name="Shape 19"/>
          <p:cNvSpPr/>
          <p:nvPr/>
        </p:nvSpPr>
        <p:spPr>
          <a:xfrm>
            <a:off x="548640" y="3099816"/>
            <a:ext cx="11094415" cy="292608"/>
          </a:xfrm>
          <a:prstGeom prst="rect">
            <a:avLst/>
          </a:prstGeom>
          <a:solidFill>
            <a:srgbClr val="F7EFE5"/>
          </a:solidFill>
          <a:ln w="12700">
            <a:solidFill>
              <a:srgbClr val="F7EFE5"/>
            </a:solidFill>
            <a:prstDash val="solid"/>
          </a:ln>
        </p:spPr>
      </p:sp>
      <p:sp>
        <p:nvSpPr>
          <p:cNvPr id="22" name="Shape 20"/>
          <p:cNvSpPr/>
          <p:nvPr/>
        </p:nvSpPr>
        <p:spPr>
          <a:xfrm>
            <a:off x="594360" y="3172968"/>
            <a:ext cx="146304" cy="146304"/>
          </a:xfrm>
          <a:prstGeom prst="ellipse">
            <a:avLst/>
          </a:prstGeom>
          <a:solidFill>
            <a:srgbClr val="F4A6B8"/>
          </a:solidFill>
          <a:ln w="12700">
            <a:solidFill>
              <a:srgbClr val="F4A6B8"/>
            </a:solidFill>
            <a:prstDash val="solid"/>
          </a:ln>
        </p:spPr>
      </p:sp>
      <p:sp>
        <p:nvSpPr>
          <p:cNvPr id="23" name="Text 21"/>
          <p:cNvSpPr/>
          <p:nvPr/>
        </p:nvSpPr>
        <p:spPr>
          <a:xfrm>
            <a:off x="822960" y="3099816"/>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Gateway</a:t>
            </a:r>
            <a:endParaRPr lang="en-US" sz="1200" dirty="0"/>
          </a:p>
        </p:txBody>
      </p:sp>
      <p:sp>
        <p:nvSpPr>
          <p:cNvPr id="24" name="Text 22"/>
          <p:cNvSpPr/>
          <p:nvPr/>
        </p:nvSpPr>
        <p:spPr>
          <a:xfrm>
            <a:off x="4206240" y="3099816"/>
            <a:ext cx="329184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25" name="Text 23"/>
          <p:cNvSpPr/>
          <p:nvPr/>
        </p:nvSpPr>
        <p:spPr>
          <a:xfrm>
            <a:off x="7680960" y="3099816"/>
            <a:ext cx="3962095" cy="292608"/>
          </a:xfrm>
          <a:prstGeom prst="rect">
            <a:avLst/>
          </a:prstGeom>
          <a:noFill/>
          <a:ln/>
        </p:spPr>
        <p:txBody>
          <a:bodyPr wrap="square" lIns="0" tIns="0" rIns="0" bIns="0" rtlCol="0" anchor="ctr"/>
          <a:lstStyle/>
          <a:p>
            <a:pPr algn="l" indent="0" marL="0">
              <a:buNone/>
            </a:pPr>
            <a:r>
              <a:rPr lang="en-US" sz="1100" b="1" dirty="0">
                <a:solidFill>
                  <a:srgbClr val="F4A6B8"/>
                </a:solidFill>
                <a:latin typeface="Noto Sans KR" pitchFamily="34" charset="0"/>
                <a:ea typeface="Noto Sans KR" pitchFamily="34" charset="-122"/>
                <a:cs typeface="Noto Sans KR" pitchFamily="34" charset="-120"/>
              </a:rPr>
              <a:t>DeerFlow만</a:t>
            </a:r>
            <a:endParaRPr lang="en-US" sz="1100" dirty="0"/>
          </a:p>
        </p:txBody>
      </p:sp>
      <p:sp>
        <p:nvSpPr>
          <p:cNvPr id="26" name="Shape 24"/>
          <p:cNvSpPr/>
          <p:nvPr/>
        </p:nvSpPr>
        <p:spPr>
          <a:xfrm>
            <a:off x="594360" y="3465576"/>
            <a:ext cx="146304" cy="146304"/>
          </a:xfrm>
          <a:prstGeom prst="ellipse">
            <a:avLst/>
          </a:prstGeom>
          <a:solidFill>
            <a:srgbClr val="D4B896"/>
          </a:solidFill>
          <a:ln w="12700">
            <a:solidFill>
              <a:srgbClr val="D4B896"/>
            </a:solidFill>
            <a:prstDash val="solid"/>
          </a:ln>
        </p:spPr>
      </p:sp>
      <p:sp>
        <p:nvSpPr>
          <p:cNvPr id="27" name="Text 25"/>
          <p:cNvSpPr/>
          <p:nvPr/>
        </p:nvSpPr>
        <p:spPr>
          <a:xfrm>
            <a:off x="822960" y="3392424"/>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Middleware 11개</a:t>
            </a:r>
            <a:endParaRPr lang="en-US" sz="1200" dirty="0"/>
          </a:p>
        </p:txBody>
      </p:sp>
      <p:sp>
        <p:nvSpPr>
          <p:cNvPr id="28" name="Text 26"/>
          <p:cNvSpPr/>
          <p:nvPr/>
        </p:nvSpPr>
        <p:spPr>
          <a:xfrm>
            <a:off x="4206240" y="3392424"/>
            <a:ext cx="329184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Linter + Context</a:t>
            </a:r>
            <a:endParaRPr lang="en-US" sz="1200" dirty="0"/>
          </a:p>
        </p:txBody>
      </p:sp>
      <p:sp>
        <p:nvSpPr>
          <p:cNvPr id="29" name="Text 27"/>
          <p:cNvSpPr/>
          <p:nvPr/>
        </p:nvSpPr>
        <p:spPr>
          <a:xfrm>
            <a:off x="7680960" y="3392424"/>
            <a:ext cx="3962095" cy="292608"/>
          </a:xfrm>
          <a:prstGeom prst="rect">
            <a:avLst/>
          </a:prstGeom>
          <a:noFill/>
          <a:ln/>
        </p:spPr>
        <p:txBody>
          <a:bodyPr wrap="square" lIns="0" tIns="0" rIns="0" bIns="0" rtlCol="0" anchor="ctr"/>
          <a:lstStyle/>
          <a:p>
            <a:pPr algn="l" indent="0" marL="0">
              <a:buNone/>
            </a:pPr>
            <a:r>
              <a:rPr lang="en-US" sz="1100" b="1" dirty="0">
                <a:solidFill>
                  <a:srgbClr val="88B04B"/>
                </a:solidFill>
                <a:latin typeface="Noto Sans KR" pitchFamily="34" charset="0"/>
                <a:ea typeface="Noto Sans KR" pitchFamily="34" charset="-122"/>
                <a:cs typeface="Noto Sans KR" pitchFamily="34" charset="-120"/>
              </a:rPr>
              <a:t>유사 ✓</a:t>
            </a:r>
            <a:endParaRPr lang="en-US" sz="1100" dirty="0"/>
          </a:p>
        </p:txBody>
      </p:sp>
      <p:sp>
        <p:nvSpPr>
          <p:cNvPr id="30" name="Shape 28"/>
          <p:cNvSpPr/>
          <p:nvPr/>
        </p:nvSpPr>
        <p:spPr>
          <a:xfrm>
            <a:off x="548640" y="3685032"/>
            <a:ext cx="11094415" cy="292608"/>
          </a:xfrm>
          <a:prstGeom prst="rect">
            <a:avLst/>
          </a:prstGeom>
          <a:solidFill>
            <a:srgbClr val="F7EFE5"/>
          </a:solidFill>
          <a:ln w="12700">
            <a:solidFill>
              <a:srgbClr val="F7EFE5"/>
            </a:solidFill>
            <a:prstDash val="solid"/>
          </a:ln>
        </p:spPr>
      </p:sp>
      <p:sp>
        <p:nvSpPr>
          <p:cNvPr id="31" name="Shape 29"/>
          <p:cNvSpPr/>
          <p:nvPr/>
        </p:nvSpPr>
        <p:spPr>
          <a:xfrm>
            <a:off x="594360" y="3758184"/>
            <a:ext cx="146304" cy="146304"/>
          </a:xfrm>
          <a:prstGeom prst="ellipse">
            <a:avLst/>
          </a:prstGeom>
          <a:solidFill>
            <a:srgbClr val="F4A6B8"/>
          </a:solidFill>
          <a:ln w="12700">
            <a:solidFill>
              <a:srgbClr val="F4A6B8"/>
            </a:solidFill>
            <a:prstDash val="solid"/>
          </a:ln>
        </p:spPr>
      </p:sp>
      <p:sp>
        <p:nvSpPr>
          <p:cNvPr id="32" name="Text 30"/>
          <p:cNvSpPr/>
          <p:nvPr/>
        </p:nvSpPr>
        <p:spPr>
          <a:xfrm>
            <a:off x="822960" y="3685032"/>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Subagent</a:t>
            </a:r>
            <a:endParaRPr lang="en-US" sz="1200" dirty="0"/>
          </a:p>
        </p:txBody>
      </p:sp>
      <p:sp>
        <p:nvSpPr>
          <p:cNvPr id="33" name="Text 31"/>
          <p:cNvSpPr/>
          <p:nvPr/>
        </p:nvSpPr>
        <p:spPr>
          <a:xfrm>
            <a:off x="4206240" y="3685032"/>
            <a:ext cx="329184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34" name="Text 32"/>
          <p:cNvSpPr/>
          <p:nvPr/>
        </p:nvSpPr>
        <p:spPr>
          <a:xfrm>
            <a:off x="7680960" y="3685032"/>
            <a:ext cx="3962095" cy="292608"/>
          </a:xfrm>
          <a:prstGeom prst="rect">
            <a:avLst/>
          </a:prstGeom>
          <a:noFill/>
          <a:ln/>
        </p:spPr>
        <p:txBody>
          <a:bodyPr wrap="square" lIns="0" tIns="0" rIns="0" bIns="0" rtlCol="0" anchor="ctr"/>
          <a:lstStyle/>
          <a:p>
            <a:pPr algn="l" indent="0" marL="0">
              <a:buNone/>
            </a:pPr>
            <a:r>
              <a:rPr lang="en-US" sz="1100" b="1" dirty="0">
                <a:solidFill>
                  <a:srgbClr val="F4A6B8"/>
                </a:solidFill>
                <a:latin typeface="Noto Sans KR" pitchFamily="34" charset="0"/>
                <a:ea typeface="Noto Sans KR" pitchFamily="34" charset="-122"/>
                <a:cs typeface="Noto Sans KR" pitchFamily="34" charset="-120"/>
              </a:rPr>
              <a:t>DeerFlow만</a:t>
            </a:r>
            <a:endParaRPr lang="en-US" sz="1100" dirty="0"/>
          </a:p>
        </p:txBody>
      </p:sp>
      <p:sp>
        <p:nvSpPr>
          <p:cNvPr id="35" name="Shape 33"/>
          <p:cNvSpPr/>
          <p:nvPr/>
        </p:nvSpPr>
        <p:spPr>
          <a:xfrm>
            <a:off x="594360" y="4050792"/>
            <a:ext cx="146304" cy="146304"/>
          </a:xfrm>
          <a:prstGeom prst="ellipse">
            <a:avLst/>
          </a:prstGeom>
          <a:solidFill>
            <a:srgbClr val="D4B896"/>
          </a:solidFill>
          <a:ln w="12700">
            <a:solidFill>
              <a:srgbClr val="D4B896"/>
            </a:solidFill>
            <a:prstDash val="solid"/>
          </a:ln>
        </p:spPr>
      </p:sp>
      <p:sp>
        <p:nvSpPr>
          <p:cNvPr id="36" name="Text 34"/>
          <p:cNvSpPr/>
          <p:nvPr/>
        </p:nvSpPr>
        <p:spPr>
          <a:xfrm>
            <a:off x="822960" y="3977640"/>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Sandbox</a:t>
            </a:r>
            <a:endParaRPr lang="en-US" sz="1200" dirty="0"/>
          </a:p>
        </p:txBody>
      </p:sp>
      <p:sp>
        <p:nvSpPr>
          <p:cNvPr id="37" name="Text 35"/>
          <p:cNvSpPr/>
          <p:nvPr/>
        </p:nvSpPr>
        <p:spPr>
          <a:xfrm>
            <a:off x="4206240" y="3977640"/>
            <a:ext cx="329184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Docker</a:t>
            </a:r>
            <a:endParaRPr lang="en-US" sz="1200" dirty="0"/>
          </a:p>
        </p:txBody>
      </p:sp>
      <p:sp>
        <p:nvSpPr>
          <p:cNvPr id="38" name="Text 36"/>
          <p:cNvSpPr/>
          <p:nvPr/>
        </p:nvSpPr>
        <p:spPr>
          <a:xfrm>
            <a:off x="7680960" y="3977640"/>
            <a:ext cx="3962095" cy="292608"/>
          </a:xfrm>
          <a:prstGeom prst="rect">
            <a:avLst/>
          </a:prstGeom>
          <a:noFill/>
          <a:ln/>
        </p:spPr>
        <p:txBody>
          <a:bodyPr wrap="square" lIns="0" tIns="0" rIns="0" bIns="0" rtlCol="0" anchor="ctr"/>
          <a:lstStyle/>
          <a:p>
            <a:pPr algn="l" indent="0" marL="0">
              <a:buNone/>
            </a:pPr>
            <a:r>
              <a:rPr lang="en-US" sz="1100" b="1" dirty="0">
                <a:solidFill>
                  <a:srgbClr val="88B04B"/>
                </a:solidFill>
                <a:latin typeface="Noto Sans KR" pitchFamily="34" charset="0"/>
                <a:ea typeface="Noto Sans KR" pitchFamily="34" charset="-122"/>
                <a:cs typeface="Noto Sans KR" pitchFamily="34" charset="-120"/>
              </a:rPr>
              <a:t>유사 ✓</a:t>
            </a:r>
            <a:endParaRPr lang="en-US" sz="1100" dirty="0"/>
          </a:p>
        </p:txBody>
      </p:sp>
      <p:sp>
        <p:nvSpPr>
          <p:cNvPr id="39" name="Shape 37"/>
          <p:cNvSpPr/>
          <p:nvPr/>
        </p:nvSpPr>
        <p:spPr>
          <a:xfrm>
            <a:off x="548640" y="4270248"/>
            <a:ext cx="11094415" cy="292608"/>
          </a:xfrm>
          <a:prstGeom prst="rect">
            <a:avLst/>
          </a:prstGeom>
          <a:solidFill>
            <a:srgbClr val="F7EFE5"/>
          </a:solidFill>
          <a:ln w="12700">
            <a:solidFill>
              <a:srgbClr val="F7EFE5"/>
            </a:solidFill>
            <a:prstDash val="solid"/>
          </a:ln>
        </p:spPr>
      </p:sp>
      <p:sp>
        <p:nvSpPr>
          <p:cNvPr id="40" name="Shape 38"/>
          <p:cNvSpPr/>
          <p:nvPr/>
        </p:nvSpPr>
        <p:spPr>
          <a:xfrm>
            <a:off x="594360" y="4343400"/>
            <a:ext cx="146304" cy="146304"/>
          </a:xfrm>
          <a:prstGeom prst="ellipse">
            <a:avLst/>
          </a:prstGeom>
          <a:solidFill>
            <a:srgbClr val="F4A6B8"/>
          </a:solidFill>
          <a:ln w="12700">
            <a:solidFill>
              <a:srgbClr val="F4A6B8"/>
            </a:solidFill>
            <a:prstDash val="solid"/>
          </a:ln>
        </p:spPr>
      </p:sp>
      <p:sp>
        <p:nvSpPr>
          <p:cNvPr id="41" name="Text 39"/>
          <p:cNvSpPr/>
          <p:nvPr/>
        </p:nvSpPr>
        <p:spPr>
          <a:xfrm>
            <a:off x="822960" y="4270248"/>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Memory</a:t>
            </a:r>
            <a:endParaRPr lang="en-US" sz="1200" dirty="0"/>
          </a:p>
        </p:txBody>
      </p:sp>
      <p:sp>
        <p:nvSpPr>
          <p:cNvPr id="42" name="Text 40"/>
          <p:cNvSpPr/>
          <p:nvPr/>
        </p:nvSpPr>
        <p:spPr>
          <a:xfrm>
            <a:off x="4206240" y="4270248"/>
            <a:ext cx="329184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43" name="Text 41"/>
          <p:cNvSpPr/>
          <p:nvPr/>
        </p:nvSpPr>
        <p:spPr>
          <a:xfrm>
            <a:off x="7680960" y="4270248"/>
            <a:ext cx="3962095" cy="292608"/>
          </a:xfrm>
          <a:prstGeom prst="rect">
            <a:avLst/>
          </a:prstGeom>
          <a:noFill/>
          <a:ln/>
        </p:spPr>
        <p:txBody>
          <a:bodyPr wrap="square" lIns="0" tIns="0" rIns="0" bIns="0" rtlCol="0" anchor="ctr"/>
          <a:lstStyle/>
          <a:p>
            <a:pPr algn="l" indent="0" marL="0">
              <a:buNone/>
            </a:pPr>
            <a:r>
              <a:rPr lang="en-US" sz="1100" b="1" dirty="0">
                <a:solidFill>
                  <a:srgbClr val="F4A6B8"/>
                </a:solidFill>
                <a:latin typeface="Noto Sans KR" pitchFamily="34" charset="0"/>
                <a:ea typeface="Noto Sans KR" pitchFamily="34" charset="-122"/>
                <a:cs typeface="Noto Sans KR" pitchFamily="34" charset="-120"/>
              </a:rPr>
              <a:t>DeerFlow만</a:t>
            </a:r>
            <a:endParaRPr lang="en-US" sz="1100" dirty="0"/>
          </a:p>
        </p:txBody>
      </p:sp>
      <p:sp>
        <p:nvSpPr>
          <p:cNvPr id="44" name="Shape 42"/>
          <p:cNvSpPr/>
          <p:nvPr/>
        </p:nvSpPr>
        <p:spPr>
          <a:xfrm>
            <a:off x="594360" y="4636008"/>
            <a:ext cx="146304" cy="146304"/>
          </a:xfrm>
          <a:prstGeom prst="ellipse">
            <a:avLst/>
          </a:prstGeom>
          <a:solidFill>
            <a:srgbClr val="F4A6B8"/>
          </a:solidFill>
          <a:ln w="12700">
            <a:solidFill>
              <a:srgbClr val="F4A6B8"/>
            </a:solidFill>
            <a:prstDash val="solid"/>
          </a:ln>
        </p:spPr>
      </p:sp>
      <p:sp>
        <p:nvSpPr>
          <p:cNvPr id="45" name="Text 43"/>
          <p:cNvSpPr/>
          <p:nvPr/>
        </p:nvSpPr>
        <p:spPr>
          <a:xfrm>
            <a:off x="822960" y="4562856"/>
            <a:ext cx="320040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Skill</a:t>
            </a:r>
            <a:endParaRPr lang="en-US" sz="1200" dirty="0"/>
          </a:p>
        </p:txBody>
      </p:sp>
      <p:sp>
        <p:nvSpPr>
          <p:cNvPr id="46" name="Text 44"/>
          <p:cNvSpPr/>
          <p:nvPr/>
        </p:nvSpPr>
        <p:spPr>
          <a:xfrm>
            <a:off x="4206240" y="4562856"/>
            <a:ext cx="329184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47" name="Text 45"/>
          <p:cNvSpPr/>
          <p:nvPr/>
        </p:nvSpPr>
        <p:spPr>
          <a:xfrm>
            <a:off x="7680960" y="4562856"/>
            <a:ext cx="3962095" cy="292608"/>
          </a:xfrm>
          <a:prstGeom prst="rect">
            <a:avLst/>
          </a:prstGeom>
          <a:noFill/>
          <a:ln/>
        </p:spPr>
        <p:txBody>
          <a:bodyPr wrap="square" lIns="0" tIns="0" rIns="0" bIns="0" rtlCol="0" anchor="ctr"/>
          <a:lstStyle/>
          <a:p>
            <a:pPr algn="l" indent="0" marL="0">
              <a:buNone/>
            </a:pPr>
            <a:r>
              <a:rPr lang="en-US" sz="1100" b="1" dirty="0">
                <a:solidFill>
                  <a:srgbClr val="F4A6B8"/>
                </a:solidFill>
                <a:latin typeface="Noto Sans KR" pitchFamily="34" charset="0"/>
                <a:ea typeface="Noto Sans KR" pitchFamily="34" charset="-122"/>
                <a:cs typeface="Noto Sans KR" pitchFamily="34" charset="-120"/>
              </a:rPr>
              <a:t>DeerFlow만</a:t>
            </a:r>
            <a:endParaRPr lang="en-US" sz="1100" dirty="0"/>
          </a:p>
        </p:txBody>
      </p:sp>
      <p:sp>
        <p:nvSpPr>
          <p:cNvPr id="48" name="Shape 46"/>
          <p:cNvSpPr/>
          <p:nvPr/>
        </p:nvSpPr>
        <p:spPr>
          <a:xfrm>
            <a:off x="548640" y="4855464"/>
            <a:ext cx="11094415" cy="292608"/>
          </a:xfrm>
          <a:prstGeom prst="rect">
            <a:avLst/>
          </a:prstGeom>
          <a:solidFill>
            <a:srgbClr val="F7EFE5"/>
          </a:solidFill>
          <a:ln w="12700">
            <a:solidFill>
              <a:srgbClr val="F7EFE5"/>
            </a:solidFill>
            <a:prstDash val="solid"/>
          </a:ln>
        </p:spPr>
      </p:sp>
      <p:sp>
        <p:nvSpPr>
          <p:cNvPr id="49" name="Shape 47"/>
          <p:cNvSpPr/>
          <p:nvPr/>
        </p:nvSpPr>
        <p:spPr>
          <a:xfrm>
            <a:off x="594360" y="4928616"/>
            <a:ext cx="146304" cy="146304"/>
          </a:xfrm>
          <a:prstGeom prst="ellipse">
            <a:avLst/>
          </a:prstGeom>
          <a:solidFill>
            <a:srgbClr val="F08B51"/>
          </a:solidFill>
          <a:ln w="12700">
            <a:solidFill>
              <a:srgbClr val="F08B51"/>
            </a:solidFill>
            <a:prstDash val="solid"/>
          </a:ln>
        </p:spPr>
      </p:sp>
      <p:sp>
        <p:nvSpPr>
          <p:cNvPr id="50" name="Text 48"/>
          <p:cNvSpPr/>
          <p:nvPr/>
        </p:nvSpPr>
        <p:spPr>
          <a:xfrm>
            <a:off x="822960" y="4855464"/>
            <a:ext cx="320040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51" name="Text 49"/>
          <p:cNvSpPr/>
          <p:nvPr/>
        </p:nvSpPr>
        <p:spPr>
          <a:xfrm>
            <a:off x="4206240" y="4855464"/>
            <a:ext cx="329184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File Viewer</a:t>
            </a:r>
            <a:endParaRPr lang="en-US" sz="1200" dirty="0"/>
          </a:p>
        </p:txBody>
      </p:sp>
      <p:sp>
        <p:nvSpPr>
          <p:cNvPr id="52" name="Text 50"/>
          <p:cNvSpPr/>
          <p:nvPr/>
        </p:nvSpPr>
        <p:spPr>
          <a:xfrm>
            <a:off x="7680960" y="4855464"/>
            <a:ext cx="3962095" cy="292608"/>
          </a:xfrm>
          <a:prstGeom prst="rect">
            <a:avLst/>
          </a:prstGeom>
          <a:noFill/>
          <a:ln/>
        </p:spPr>
        <p:txBody>
          <a:bodyPr wrap="square" lIns="0" tIns="0" rIns="0" bIns="0" rtlCol="0" anchor="ctr"/>
          <a:lstStyle/>
          <a:p>
            <a:pPr algn="l" indent="0" marL="0">
              <a:buNone/>
            </a:pPr>
            <a:r>
              <a:rPr lang="en-US" sz="1100" b="1" dirty="0">
                <a:solidFill>
                  <a:srgbClr val="F08B51"/>
                </a:solidFill>
                <a:latin typeface="Noto Sans KR" pitchFamily="34" charset="0"/>
                <a:ea typeface="Noto Sans KR" pitchFamily="34" charset="-122"/>
                <a:cs typeface="Noto Sans KR" pitchFamily="34" charset="-120"/>
              </a:rPr>
              <a:t>SWE-Agent만</a:t>
            </a:r>
            <a:endParaRPr lang="en-US" sz="1100" dirty="0"/>
          </a:p>
        </p:txBody>
      </p:sp>
      <p:sp>
        <p:nvSpPr>
          <p:cNvPr id="53" name="Shape 51"/>
          <p:cNvSpPr/>
          <p:nvPr/>
        </p:nvSpPr>
        <p:spPr>
          <a:xfrm>
            <a:off x="594360" y="5221224"/>
            <a:ext cx="146304" cy="146304"/>
          </a:xfrm>
          <a:prstGeom prst="ellipse">
            <a:avLst/>
          </a:prstGeom>
          <a:solidFill>
            <a:srgbClr val="F08B51"/>
          </a:solidFill>
          <a:ln w="12700">
            <a:solidFill>
              <a:srgbClr val="F08B51"/>
            </a:solidFill>
            <a:prstDash val="solid"/>
          </a:ln>
        </p:spPr>
      </p:sp>
      <p:sp>
        <p:nvSpPr>
          <p:cNvPr id="54" name="Text 52"/>
          <p:cNvSpPr/>
          <p:nvPr/>
        </p:nvSpPr>
        <p:spPr>
          <a:xfrm>
            <a:off x="822960" y="5148072"/>
            <a:ext cx="320040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55" name="Text 53"/>
          <p:cNvSpPr/>
          <p:nvPr/>
        </p:nvSpPr>
        <p:spPr>
          <a:xfrm>
            <a:off x="4206240" y="5148072"/>
            <a:ext cx="329184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Search Commands</a:t>
            </a:r>
            <a:endParaRPr lang="en-US" sz="1200" dirty="0"/>
          </a:p>
        </p:txBody>
      </p:sp>
      <p:sp>
        <p:nvSpPr>
          <p:cNvPr id="56" name="Text 54"/>
          <p:cNvSpPr/>
          <p:nvPr/>
        </p:nvSpPr>
        <p:spPr>
          <a:xfrm>
            <a:off x="7680960" y="5148072"/>
            <a:ext cx="3962095" cy="292608"/>
          </a:xfrm>
          <a:prstGeom prst="rect">
            <a:avLst/>
          </a:prstGeom>
          <a:noFill/>
          <a:ln/>
        </p:spPr>
        <p:txBody>
          <a:bodyPr wrap="square" lIns="0" tIns="0" rIns="0" bIns="0" rtlCol="0" anchor="ctr"/>
          <a:lstStyle/>
          <a:p>
            <a:pPr algn="l" indent="0" marL="0">
              <a:buNone/>
            </a:pPr>
            <a:r>
              <a:rPr lang="en-US" sz="1100" b="1" dirty="0">
                <a:solidFill>
                  <a:srgbClr val="F08B51"/>
                </a:solidFill>
                <a:latin typeface="Noto Sans KR" pitchFamily="34" charset="0"/>
                <a:ea typeface="Noto Sans KR" pitchFamily="34" charset="-122"/>
                <a:cs typeface="Noto Sans KR" pitchFamily="34" charset="-120"/>
              </a:rPr>
              <a:t>SWE-Agent만</a:t>
            </a:r>
            <a:endParaRPr lang="en-US" sz="1100" dirty="0"/>
          </a:p>
        </p:txBody>
      </p:sp>
      <p:sp>
        <p:nvSpPr>
          <p:cNvPr id="57" name="Shape 55"/>
          <p:cNvSpPr/>
          <p:nvPr/>
        </p:nvSpPr>
        <p:spPr>
          <a:xfrm>
            <a:off x="548640" y="5440680"/>
            <a:ext cx="11094415" cy="292608"/>
          </a:xfrm>
          <a:prstGeom prst="rect">
            <a:avLst/>
          </a:prstGeom>
          <a:solidFill>
            <a:srgbClr val="F7EFE5"/>
          </a:solidFill>
          <a:ln w="12700">
            <a:solidFill>
              <a:srgbClr val="F7EFE5"/>
            </a:solidFill>
            <a:prstDash val="solid"/>
          </a:ln>
        </p:spPr>
      </p:sp>
      <p:sp>
        <p:nvSpPr>
          <p:cNvPr id="58" name="Shape 56"/>
          <p:cNvSpPr/>
          <p:nvPr/>
        </p:nvSpPr>
        <p:spPr>
          <a:xfrm>
            <a:off x="594360" y="5513832"/>
            <a:ext cx="146304" cy="146304"/>
          </a:xfrm>
          <a:prstGeom prst="ellipse">
            <a:avLst/>
          </a:prstGeom>
          <a:solidFill>
            <a:srgbClr val="F08B51"/>
          </a:solidFill>
          <a:ln w="12700">
            <a:solidFill>
              <a:srgbClr val="F08B51"/>
            </a:solidFill>
            <a:prstDash val="solid"/>
          </a:ln>
        </p:spPr>
      </p:sp>
      <p:sp>
        <p:nvSpPr>
          <p:cNvPr id="59" name="Text 57"/>
          <p:cNvSpPr/>
          <p:nvPr/>
        </p:nvSpPr>
        <p:spPr>
          <a:xfrm>
            <a:off x="822960" y="5440680"/>
            <a:ext cx="3200400" cy="292608"/>
          </a:xfrm>
          <a:prstGeom prst="rect">
            <a:avLst/>
          </a:prstGeom>
          <a:noFill/>
          <a:ln/>
        </p:spPr>
        <p:txBody>
          <a:bodyPr wrap="square" lIns="0" tIns="0" rIns="0" bIns="0" rtlCol="0" anchor="ctr"/>
          <a:lstStyle/>
          <a:p>
            <a:pPr algn="l" indent="0" marL="0">
              <a:buNone/>
            </a:pPr>
            <a:r>
              <a:rPr lang="en-US" sz="1200" dirty="0">
                <a:solidFill>
                  <a:srgbClr val="A68474"/>
                </a:solidFill>
                <a:latin typeface="Noto Sans KR" pitchFamily="34" charset="0"/>
                <a:ea typeface="Noto Sans KR" pitchFamily="34" charset="-122"/>
                <a:cs typeface="Noto Sans KR" pitchFamily="34" charset="-120"/>
              </a:rPr>
              <a:t>—</a:t>
            </a:r>
            <a:endParaRPr lang="en-US" sz="1200" dirty="0"/>
          </a:p>
        </p:txBody>
      </p:sp>
      <p:sp>
        <p:nvSpPr>
          <p:cNvPr id="60" name="Text 58"/>
          <p:cNvSpPr/>
          <p:nvPr/>
        </p:nvSpPr>
        <p:spPr>
          <a:xfrm>
            <a:off x="4206240" y="5440680"/>
            <a:ext cx="3291840" cy="292608"/>
          </a:xfrm>
          <a:prstGeom prst="rect">
            <a:avLst/>
          </a:prstGeom>
          <a:noFill/>
          <a:ln/>
        </p:spPr>
        <p:txBody>
          <a:bodyPr wrap="square" lIns="0" tIns="0" rIns="0" bIns="0" rtlCol="0" anchor="ctr"/>
          <a:lstStyle/>
          <a:p>
            <a:pPr algn="l" indent="0" marL="0">
              <a:buNone/>
            </a:pPr>
            <a:r>
              <a:rPr lang="en-US" sz="1200" dirty="0">
                <a:solidFill>
                  <a:srgbClr val="5C4033"/>
                </a:solidFill>
                <a:latin typeface="Noto Sans KR" pitchFamily="34" charset="0"/>
                <a:ea typeface="Noto Sans KR" pitchFamily="34" charset="-122"/>
                <a:cs typeface="Noto Sans KR" pitchFamily="34" charset="-120"/>
              </a:rPr>
              <a:t>Edit Command</a:t>
            </a:r>
            <a:endParaRPr lang="en-US" sz="1200" dirty="0"/>
          </a:p>
        </p:txBody>
      </p:sp>
      <p:sp>
        <p:nvSpPr>
          <p:cNvPr id="61" name="Text 59"/>
          <p:cNvSpPr/>
          <p:nvPr/>
        </p:nvSpPr>
        <p:spPr>
          <a:xfrm>
            <a:off x="7680960" y="5440680"/>
            <a:ext cx="3962095" cy="292608"/>
          </a:xfrm>
          <a:prstGeom prst="rect">
            <a:avLst/>
          </a:prstGeom>
          <a:noFill/>
          <a:ln/>
        </p:spPr>
        <p:txBody>
          <a:bodyPr wrap="square" lIns="0" tIns="0" rIns="0" bIns="0" rtlCol="0" anchor="ctr"/>
          <a:lstStyle/>
          <a:p>
            <a:pPr algn="l" indent="0" marL="0">
              <a:buNone/>
            </a:pPr>
            <a:r>
              <a:rPr lang="en-US" sz="1100" b="1" dirty="0">
                <a:solidFill>
                  <a:srgbClr val="F08B51"/>
                </a:solidFill>
                <a:latin typeface="Noto Sans KR" pitchFamily="34" charset="0"/>
                <a:ea typeface="Noto Sans KR" pitchFamily="34" charset="-122"/>
                <a:cs typeface="Noto Sans KR" pitchFamily="34" charset="-120"/>
              </a:rPr>
              <a:t>SWE-Agent만</a:t>
            </a:r>
            <a:endParaRPr lang="en-US" sz="1100" dirty="0"/>
          </a:p>
        </p:txBody>
      </p:sp>
      <p:sp>
        <p:nvSpPr>
          <p:cNvPr id="62" name="Shape 60"/>
          <p:cNvSpPr/>
          <p:nvPr/>
        </p:nvSpPr>
        <p:spPr>
          <a:xfrm>
            <a:off x="548640" y="5961888"/>
            <a:ext cx="11094415" cy="457200"/>
          </a:xfrm>
          <a:prstGeom prst="roundRect">
            <a:avLst>
              <a:gd name="adj" fmla="val 16000"/>
            </a:avLst>
          </a:prstGeom>
          <a:solidFill>
            <a:srgbClr val="F7EFE5"/>
          </a:solidFill>
          <a:ln w="6350">
            <a:solidFill>
              <a:srgbClr val="E8DED0"/>
            </a:solidFill>
            <a:prstDash val="solid"/>
          </a:ln>
        </p:spPr>
      </p:sp>
      <p:sp>
        <p:nvSpPr>
          <p:cNvPr id="63" name="Text 61"/>
          <p:cNvSpPr/>
          <p:nvPr/>
        </p:nvSpPr>
        <p:spPr>
          <a:xfrm>
            <a:off x="731520" y="5961888"/>
            <a:ext cx="10728655" cy="457200"/>
          </a:xfrm>
          <a:prstGeom prst="rect">
            <a:avLst/>
          </a:prstGeom>
          <a:noFill/>
          <a:ln/>
        </p:spPr>
        <p:txBody>
          <a:bodyPr wrap="square" lIns="0" tIns="0" rIns="0" bIns="0" rtlCol="0" anchor="ctr"/>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관찰:  </a:t>
            </a:r>
            <a:pPr algn="l" indent="0" marL="0">
              <a:buNone/>
            </a:pPr>
            <a:r>
              <a:rPr lang="en-US" sz="1200" dirty="0">
                <a:solidFill>
                  <a:srgbClr val="7E5D4E"/>
                </a:solidFill>
                <a:latin typeface="Noto Sans KR" pitchFamily="34" charset="0"/>
                <a:ea typeface="Noto Sans KR" pitchFamily="34" charset="-122"/>
                <a:cs typeface="Noto Sans KR" pitchFamily="34" charset="-120"/>
              </a:rPr>
              <a:t>DeerFlow는 </a:t>
            </a:r>
            <a:pPr algn="l" indent="0" marL="0">
              <a:buNone/>
            </a:pPr>
            <a:r>
              <a:rPr lang="en-US" sz="1200" b="1" dirty="0">
                <a:solidFill>
                  <a:srgbClr val="F4A6B8"/>
                </a:solidFill>
                <a:latin typeface="Noto Sans KR" pitchFamily="34" charset="0"/>
                <a:ea typeface="Noto Sans KR" pitchFamily="34" charset="-122"/>
                <a:cs typeface="Noto Sans KR" pitchFamily="34" charset="-120"/>
              </a:rPr>
              <a:t>인프라 레이어</a:t>
            </a:r>
            <a:pPr algn="l" indent="0" marL="0">
              <a:buNone/>
            </a:pPr>
            <a:r>
              <a:rPr lang="en-US" sz="1200" dirty="0">
                <a:solidFill>
                  <a:srgbClr val="7E5D4E"/>
                </a:solidFill>
                <a:latin typeface="Noto Sans KR" pitchFamily="34" charset="0"/>
                <a:ea typeface="Noto Sans KR" pitchFamily="34" charset="-122"/>
                <a:cs typeface="Noto Sans KR" pitchFamily="34" charset="-120"/>
              </a:rPr>
              <a:t>(Nginx · Gateway · Subagent · Memory · Skill)를, SWE-Agent는 </a:t>
            </a:r>
            <a:pPr algn="l" indent="0" marL="0">
              <a:buNone/>
            </a:pPr>
            <a:r>
              <a:rPr lang="en-US" sz="1200" b="1" dirty="0">
                <a:solidFill>
                  <a:srgbClr val="F08B51"/>
                </a:solidFill>
                <a:latin typeface="Noto Sans KR" pitchFamily="34" charset="0"/>
                <a:ea typeface="Noto Sans KR" pitchFamily="34" charset="-122"/>
                <a:cs typeface="Noto Sans KR" pitchFamily="34" charset="-120"/>
              </a:rPr>
              <a:t>LLM 전용 도구</a:t>
            </a:r>
            <a:pPr algn="l" indent="0" marL="0">
              <a:buNone/>
            </a:pPr>
            <a:r>
              <a:rPr lang="en-US" sz="1200" dirty="0">
                <a:solidFill>
                  <a:srgbClr val="7E5D4E"/>
                </a:solidFill>
                <a:latin typeface="Noto Sans KR" pitchFamily="34" charset="0"/>
                <a:ea typeface="Noto Sans KR" pitchFamily="34" charset="-122"/>
                <a:cs typeface="Noto Sans KR" pitchFamily="34" charset="-120"/>
              </a:rPr>
              <a:t>(File Viewer · Search · Edit)를 독자적으로 갖는다.</a:t>
            </a:r>
            <a:endParaRPr lang="en-US" sz="1200" dirty="0"/>
          </a:p>
        </p:txBody>
      </p:sp>
      <p:sp>
        <p:nvSpPr>
          <p:cNvPr id="65" name="Text 62"/>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D4B896"/>
          </a:solidFill>
          <a:ln w="12700">
            <a:solidFill>
              <a:srgbClr val="D4B896"/>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COMPARISON  ·  3/4</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25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핵심 차이점</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6개 축으로 본 두 시스템의 본질적 차이</a:t>
            </a:r>
            <a:endParaRPr lang="en-US" sz="1800" dirty="0"/>
          </a:p>
        </p:txBody>
      </p:sp>
      <p:sp>
        <p:nvSpPr>
          <p:cNvPr id="7" name="Shape 5"/>
          <p:cNvSpPr/>
          <p:nvPr/>
        </p:nvSpPr>
        <p:spPr>
          <a:xfrm>
            <a:off x="548640" y="1691640"/>
            <a:ext cx="457200" cy="36576"/>
          </a:xfrm>
          <a:prstGeom prst="rect">
            <a:avLst/>
          </a:prstGeom>
          <a:solidFill>
            <a:srgbClr val="D4B896"/>
          </a:solidFill>
          <a:ln w="12700">
            <a:solidFill>
              <a:srgbClr val="D4B896"/>
            </a:solidFill>
            <a:prstDash val="solid"/>
          </a:ln>
        </p:spPr>
      </p:sp>
      <p:sp>
        <p:nvSpPr>
          <p:cNvPr id="8" name="Shape 6"/>
          <p:cNvSpPr/>
          <p:nvPr/>
        </p:nvSpPr>
        <p:spPr>
          <a:xfrm>
            <a:off x="548640" y="2103120"/>
            <a:ext cx="2743200" cy="457200"/>
          </a:xfrm>
          <a:prstGeom prst="rect">
            <a:avLst/>
          </a:prstGeom>
          <a:solidFill>
            <a:srgbClr val="5C4033"/>
          </a:solidFill>
          <a:ln w="12700">
            <a:solidFill>
              <a:srgbClr val="5C4033"/>
            </a:solidFill>
            <a:prstDash val="solid"/>
          </a:ln>
        </p:spPr>
      </p:sp>
      <p:sp>
        <p:nvSpPr>
          <p:cNvPr id="9" name="Text 7"/>
          <p:cNvSpPr/>
          <p:nvPr/>
        </p:nvSpPr>
        <p:spPr>
          <a:xfrm>
            <a:off x="731520" y="2103120"/>
            <a:ext cx="256032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Noto Sans KR" pitchFamily="34" charset="0"/>
                <a:ea typeface="Noto Sans KR" pitchFamily="34" charset="-122"/>
                <a:cs typeface="Noto Sans KR" pitchFamily="34" charset="-120"/>
              </a:rPr>
              <a:t>측면  ·  Dimension</a:t>
            </a:r>
            <a:endParaRPr lang="en-US" sz="1200" dirty="0"/>
          </a:p>
        </p:txBody>
      </p:sp>
      <p:sp>
        <p:nvSpPr>
          <p:cNvPr id="10" name="Shape 8"/>
          <p:cNvSpPr/>
          <p:nvPr/>
        </p:nvSpPr>
        <p:spPr>
          <a:xfrm>
            <a:off x="3291840" y="2103120"/>
            <a:ext cx="4175608" cy="457200"/>
          </a:xfrm>
          <a:prstGeom prst="rect">
            <a:avLst/>
          </a:prstGeom>
          <a:solidFill>
            <a:srgbClr val="F4A6B8"/>
          </a:solidFill>
          <a:ln w="12700">
            <a:solidFill>
              <a:srgbClr val="F4A6B8"/>
            </a:solidFill>
            <a:prstDash val="solid"/>
          </a:ln>
        </p:spPr>
      </p:sp>
      <p:sp>
        <p:nvSpPr>
          <p:cNvPr id="11" name="Text 9"/>
          <p:cNvSpPr/>
          <p:nvPr/>
        </p:nvSpPr>
        <p:spPr>
          <a:xfrm>
            <a:off x="3474720" y="2103120"/>
            <a:ext cx="3992728"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KR" pitchFamily="34" charset="0"/>
                <a:ea typeface="Noto Sans KR" pitchFamily="34" charset="-122"/>
                <a:cs typeface="Noto Sans KR" pitchFamily="34" charset="-120"/>
              </a:rPr>
              <a:t>DeerFlow</a:t>
            </a:r>
            <a:endParaRPr lang="en-US" sz="1300" dirty="0"/>
          </a:p>
        </p:txBody>
      </p:sp>
      <p:sp>
        <p:nvSpPr>
          <p:cNvPr id="12" name="Shape 10"/>
          <p:cNvSpPr/>
          <p:nvPr/>
        </p:nvSpPr>
        <p:spPr>
          <a:xfrm>
            <a:off x="7467448" y="2103120"/>
            <a:ext cx="4175608" cy="457200"/>
          </a:xfrm>
          <a:prstGeom prst="rect">
            <a:avLst/>
          </a:prstGeom>
          <a:solidFill>
            <a:srgbClr val="F08B51"/>
          </a:solidFill>
          <a:ln w="12700">
            <a:solidFill>
              <a:srgbClr val="F08B51"/>
            </a:solidFill>
            <a:prstDash val="solid"/>
          </a:ln>
        </p:spPr>
      </p:sp>
      <p:sp>
        <p:nvSpPr>
          <p:cNvPr id="13" name="Text 11"/>
          <p:cNvSpPr/>
          <p:nvPr/>
        </p:nvSpPr>
        <p:spPr>
          <a:xfrm>
            <a:off x="7650328" y="2103120"/>
            <a:ext cx="3992728"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KR" pitchFamily="34" charset="0"/>
                <a:ea typeface="Noto Sans KR" pitchFamily="34" charset="-122"/>
                <a:cs typeface="Noto Sans KR" pitchFamily="34" charset="-120"/>
              </a:rPr>
              <a:t>SWE-Agent</a:t>
            </a:r>
            <a:endParaRPr lang="en-US" sz="1300" dirty="0"/>
          </a:p>
        </p:txBody>
      </p:sp>
      <p:sp>
        <p:nvSpPr>
          <p:cNvPr id="14" name="Shape 12"/>
          <p:cNvSpPr/>
          <p:nvPr/>
        </p:nvSpPr>
        <p:spPr>
          <a:xfrm>
            <a:off x="548640" y="2560320"/>
            <a:ext cx="11094415" cy="548640"/>
          </a:xfrm>
          <a:prstGeom prst="rect">
            <a:avLst/>
          </a:prstGeom>
          <a:solidFill>
            <a:srgbClr val="F7EFE5"/>
          </a:solidFill>
          <a:ln w="12700">
            <a:solidFill>
              <a:srgbClr val="F7EFE5"/>
            </a:solidFill>
            <a:prstDash val="solid"/>
          </a:ln>
        </p:spPr>
      </p:sp>
      <p:sp>
        <p:nvSpPr>
          <p:cNvPr id="15" name="Text 13"/>
          <p:cNvSpPr/>
          <p:nvPr/>
        </p:nvSpPr>
        <p:spPr>
          <a:xfrm>
            <a:off x="731520" y="2560320"/>
            <a:ext cx="2560320" cy="54864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문제 해결 방식</a:t>
            </a:r>
            <a:endParaRPr lang="en-US" sz="1300" dirty="0"/>
          </a:p>
        </p:txBody>
      </p:sp>
      <p:sp>
        <p:nvSpPr>
          <p:cNvPr id="16" name="Text 14"/>
          <p:cNvSpPr/>
          <p:nvPr/>
        </p:nvSpPr>
        <p:spPr>
          <a:xfrm>
            <a:off x="3474720" y="2560320"/>
            <a:ext cx="390128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인프라 구축</a:t>
            </a:r>
            <a:endParaRPr lang="en-US" sz="1250" dirty="0"/>
          </a:p>
        </p:txBody>
      </p:sp>
      <p:sp>
        <p:nvSpPr>
          <p:cNvPr id="17" name="Text 15"/>
          <p:cNvSpPr/>
          <p:nvPr/>
        </p:nvSpPr>
        <p:spPr>
          <a:xfrm>
            <a:off x="7650328" y="2560320"/>
            <a:ext cx="399272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인터페이스 최적화</a:t>
            </a:r>
            <a:endParaRPr lang="en-US" sz="1250" dirty="0"/>
          </a:p>
        </p:txBody>
      </p:sp>
      <p:sp>
        <p:nvSpPr>
          <p:cNvPr id="18" name="Text 16"/>
          <p:cNvSpPr/>
          <p:nvPr/>
        </p:nvSpPr>
        <p:spPr>
          <a:xfrm>
            <a:off x="731520" y="3108960"/>
            <a:ext cx="2560320" cy="54864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복잡도</a:t>
            </a:r>
            <a:endParaRPr lang="en-US" sz="1300" dirty="0"/>
          </a:p>
        </p:txBody>
      </p:sp>
      <p:sp>
        <p:nvSpPr>
          <p:cNvPr id="19" name="Text 17"/>
          <p:cNvSpPr/>
          <p:nvPr/>
        </p:nvSpPr>
        <p:spPr>
          <a:xfrm>
            <a:off x="3474720" y="3108960"/>
            <a:ext cx="390128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높음 (8개 구조 · 11 미들웨어)</a:t>
            </a:r>
            <a:endParaRPr lang="en-US" sz="1250" dirty="0"/>
          </a:p>
        </p:txBody>
      </p:sp>
      <p:sp>
        <p:nvSpPr>
          <p:cNvPr id="20" name="Text 18"/>
          <p:cNvSpPr/>
          <p:nvPr/>
        </p:nvSpPr>
        <p:spPr>
          <a:xfrm>
            <a:off x="7650328" y="3108960"/>
            <a:ext cx="399272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낮음 (7개 ACI 컴포넌트)</a:t>
            </a:r>
            <a:endParaRPr lang="en-US" sz="1250" dirty="0"/>
          </a:p>
        </p:txBody>
      </p:sp>
      <p:sp>
        <p:nvSpPr>
          <p:cNvPr id="21" name="Shape 19"/>
          <p:cNvSpPr/>
          <p:nvPr/>
        </p:nvSpPr>
        <p:spPr>
          <a:xfrm>
            <a:off x="548640" y="3657600"/>
            <a:ext cx="11094415" cy="548640"/>
          </a:xfrm>
          <a:prstGeom prst="rect">
            <a:avLst/>
          </a:prstGeom>
          <a:solidFill>
            <a:srgbClr val="F7EFE5"/>
          </a:solidFill>
          <a:ln w="12700">
            <a:solidFill>
              <a:srgbClr val="F7EFE5"/>
            </a:solidFill>
            <a:prstDash val="solid"/>
          </a:ln>
        </p:spPr>
      </p:sp>
      <p:sp>
        <p:nvSpPr>
          <p:cNvPr id="22" name="Text 20"/>
          <p:cNvSpPr/>
          <p:nvPr/>
        </p:nvSpPr>
        <p:spPr>
          <a:xfrm>
            <a:off x="731520" y="3657600"/>
            <a:ext cx="2560320" cy="54864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에이전트 수</a:t>
            </a:r>
            <a:endParaRPr lang="en-US" sz="1300" dirty="0"/>
          </a:p>
        </p:txBody>
      </p:sp>
      <p:sp>
        <p:nvSpPr>
          <p:cNvPr id="23" name="Text 21"/>
          <p:cNvSpPr/>
          <p:nvPr/>
        </p:nvSpPr>
        <p:spPr>
          <a:xfrm>
            <a:off x="3474720" y="3657600"/>
            <a:ext cx="390128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Lead + 최대 3 Subagents</a:t>
            </a:r>
            <a:endParaRPr lang="en-US" sz="1250" dirty="0"/>
          </a:p>
        </p:txBody>
      </p:sp>
      <p:sp>
        <p:nvSpPr>
          <p:cNvPr id="24" name="Text 22"/>
          <p:cNvSpPr/>
          <p:nvPr/>
        </p:nvSpPr>
        <p:spPr>
          <a:xfrm>
            <a:off x="7650328" y="3657600"/>
            <a:ext cx="399272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단일 에이전트</a:t>
            </a:r>
            <a:endParaRPr lang="en-US" sz="1250" dirty="0"/>
          </a:p>
        </p:txBody>
      </p:sp>
      <p:sp>
        <p:nvSpPr>
          <p:cNvPr id="25" name="Text 23"/>
          <p:cNvSpPr/>
          <p:nvPr/>
        </p:nvSpPr>
        <p:spPr>
          <a:xfrm>
            <a:off x="731520" y="4206240"/>
            <a:ext cx="2560320" cy="54864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메모리</a:t>
            </a:r>
            <a:endParaRPr lang="en-US" sz="1300" dirty="0"/>
          </a:p>
        </p:txBody>
      </p:sp>
      <p:sp>
        <p:nvSpPr>
          <p:cNvPr id="26" name="Text 24"/>
          <p:cNvSpPr/>
          <p:nvPr/>
        </p:nvSpPr>
        <p:spPr>
          <a:xfrm>
            <a:off x="3474720" y="4206240"/>
            <a:ext cx="390128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영구 저장 (세션 간 유지)</a:t>
            </a:r>
            <a:endParaRPr lang="en-US" sz="1250" dirty="0"/>
          </a:p>
        </p:txBody>
      </p:sp>
      <p:sp>
        <p:nvSpPr>
          <p:cNvPr id="27" name="Text 25"/>
          <p:cNvSpPr/>
          <p:nvPr/>
        </p:nvSpPr>
        <p:spPr>
          <a:xfrm>
            <a:off x="7650328" y="4206240"/>
            <a:ext cx="399272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없음</a:t>
            </a:r>
            <a:endParaRPr lang="en-US" sz="1250" dirty="0"/>
          </a:p>
        </p:txBody>
      </p:sp>
      <p:sp>
        <p:nvSpPr>
          <p:cNvPr id="28" name="Shape 26"/>
          <p:cNvSpPr/>
          <p:nvPr/>
        </p:nvSpPr>
        <p:spPr>
          <a:xfrm>
            <a:off x="548640" y="4754880"/>
            <a:ext cx="11094415" cy="548640"/>
          </a:xfrm>
          <a:prstGeom prst="rect">
            <a:avLst/>
          </a:prstGeom>
          <a:solidFill>
            <a:srgbClr val="F7EFE5"/>
          </a:solidFill>
          <a:ln w="12700">
            <a:solidFill>
              <a:srgbClr val="F7EFE5"/>
            </a:solidFill>
            <a:prstDash val="solid"/>
          </a:ln>
        </p:spPr>
      </p:sp>
      <p:sp>
        <p:nvSpPr>
          <p:cNvPr id="29" name="Text 27"/>
          <p:cNvSpPr/>
          <p:nvPr/>
        </p:nvSpPr>
        <p:spPr>
          <a:xfrm>
            <a:off x="731520" y="4754880"/>
            <a:ext cx="2560320" cy="54864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가드레일 방식</a:t>
            </a:r>
            <a:endParaRPr lang="en-US" sz="1300" dirty="0"/>
          </a:p>
        </p:txBody>
      </p:sp>
      <p:sp>
        <p:nvSpPr>
          <p:cNvPr id="30" name="Text 28"/>
          <p:cNvSpPr/>
          <p:nvPr/>
        </p:nvSpPr>
        <p:spPr>
          <a:xfrm>
            <a:off x="3474720" y="4754880"/>
            <a:ext cx="390128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미들웨어로 제어</a:t>
            </a:r>
            <a:endParaRPr lang="en-US" sz="1250" dirty="0"/>
          </a:p>
        </p:txBody>
      </p:sp>
      <p:sp>
        <p:nvSpPr>
          <p:cNvPr id="31" name="Text 29"/>
          <p:cNvSpPr/>
          <p:nvPr/>
        </p:nvSpPr>
        <p:spPr>
          <a:xfrm>
            <a:off x="7650328" y="4754880"/>
            <a:ext cx="399272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린터 + 검색 제한</a:t>
            </a:r>
            <a:endParaRPr lang="en-US" sz="1250" dirty="0"/>
          </a:p>
        </p:txBody>
      </p:sp>
      <p:sp>
        <p:nvSpPr>
          <p:cNvPr id="32" name="Text 30"/>
          <p:cNvSpPr/>
          <p:nvPr/>
        </p:nvSpPr>
        <p:spPr>
          <a:xfrm>
            <a:off x="731520" y="5303520"/>
            <a:ext cx="2560320" cy="548640"/>
          </a:xfrm>
          <a:prstGeom prst="rect">
            <a:avLst/>
          </a:prstGeom>
          <a:noFill/>
          <a:ln/>
        </p:spPr>
        <p:txBody>
          <a:bodyPr wrap="square" lIns="0" tIns="0" rIns="0" bIns="0" rtlCol="0" anchor="ctr"/>
          <a:lstStyle/>
          <a:p>
            <a:pPr algn="l" indent="0" marL="0">
              <a:buNone/>
            </a:pPr>
            <a:r>
              <a:rPr lang="en-US" sz="1300" b="1" dirty="0">
                <a:solidFill>
                  <a:srgbClr val="5C4033"/>
                </a:solidFill>
                <a:latin typeface="Noto Sans KR" pitchFamily="34" charset="0"/>
                <a:ea typeface="Noto Sans KR" pitchFamily="34" charset="-122"/>
                <a:cs typeface="Noto Sans KR" pitchFamily="34" charset="-120"/>
              </a:rPr>
              <a:t>적합한 작업</a:t>
            </a:r>
            <a:endParaRPr lang="en-US" sz="1300" dirty="0"/>
          </a:p>
        </p:txBody>
      </p:sp>
      <p:sp>
        <p:nvSpPr>
          <p:cNvPr id="33" name="Text 31"/>
          <p:cNvSpPr/>
          <p:nvPr/>
        </p:nvSpPr>
        <p:spPr>
          <a:xfrm>
            <a:off x="3474720" y="5303520"/>
            <a:ext cx="390128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장시간 복잡한 워크플로우</a:t>
            </a:r>
            <a:endParaRPr lang="en-US" sz="1250" dirty="0"/>
          </a:p>
        </p:txBody>
      </p:sp>
      <p:sp>
        <p:nvSpPr>
          <p:cNvPr id="34" name="Text 32"/>
          <p:cNvSpPr/>
          <p:nvPr/>
        </p:nvSpPr>
        <p:spPr>
          <a:xfrm>
            <a:off x="7650328" y="5303520"/>
            <a:ext cx="3992728" cy="548640"/>
          </a:xfrm>
          <a:prstGeom prst="rect">
            <a:avLst/>
          </a:prstGeom>
          <a:noFill/>
          <a:ln/>
        </p:spPr>
        <p:txBody>
          <a:bodyPr wrap="square" lIns="0" tIns="0" rIns="0" bIns="0" rtlCol="0" anchor="ctr"/>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단일 이슈 해결</a:t>
            </a:r>
            <a:endParaRPr lang="en-US" sz="1250" dirty="0"/>
          </a:p>
        </p:txBody>
      </p:sp>
      <p:sp>
        <p:nvSpPr>
          <p:cNvPr id="36" name="Text 33"/>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D4B896"/>
          </a:solidFill>
          <a:ln w="12700">
            <a:solidFill>
              <a:srgbClr val="D4B896"/>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COMPARISON  ·  4/4</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26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언제, 무엇을 선택할 것인가?</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두 아키텍처는 경쟁이 아니라 서로 다른 쓰임새를 가진다</a:t>
            </a:r>
            <a:endParaRPr lang="en-US" sz="1800" dirty="0"/>
          </a:p>
        </p:txBody>
      </p:sp>
      <p:sp>
        <p:nvSpPr>
          <p:cNvPr id="7" name="Shape 5"/>
          <p:cNvSpPr/>
          <p:nvPr/>
        </p:nvSpPr>
        <p:spPr>
          <a:xfrm>
            <a:off x="548640" y="1691640"/>
            <a:ext cx="457200" cy="36576"/>
          </a:xfrm>
          <a:prstGeom prst="rect">
            <a:avLst/>
          </a:prstGeom>
          <a:solidFill>
            <a:srgbClr val="D4B896"/>
          </a:solidFill>
          <a:ln w="12700">
            <a:solidFill>
              <a:srgbClr val="D4B896"/>
            </a:solidFill>
            <a:prstDash val="solid"/>
          </a:ln>
        </p:spPr>
      </p:sp>
      <p:sp>
        <p:nvSpPr>
          <p:cNvPr id="8" name="Shape 6"/>
          <p:cNvSpPr/>
          <p:nvPr/>
        </p:nvSpPr>
        <p:spPr>
          <a:xfrm>
            <a:off x="548640" y="2103120"/>
            <a:ext cx="5318608" cy="338328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103120"/>
            <a:ext cx="73152" cy="3383280"/>
          </a:xfrm>
          <a:prstGeom prst="rect">
            <a:avLst/>
          </a:prstGeom>
          <a:solidFill>
            <a:srgbClr val="F4A6B8"/>
          </a:solidFill>
          <a:ln w="12700">
            <a:solidFill>
              <a:srgbClr val="F4A6B8"/>
            </a:solidFill>
            <a:prstDash val="solid"/>
          </a:ln>
        </p:spPr>
      </p:sp>
      <p:sp>
        <p:nvSpPr>
          <p:cNvPr id="10" name="Text 8"/>
          <p:cNvSpPr/>
          <p:nvPr/>
        </p:nvSpPr>
        <p:spPr>
          <a:xfrm>
            <a:off x="822960" y="2331720"/>
            <a:ext cx="4952848" cy="411480"/>
          </a:xfrm>
          <a:prstGeom prst="rect">
            <a:avLst/>
          </a:prstGeom>
          <a:noFill/>
          <a:ln/>
        </p:spPr>
        <p:txBody>
          <a:bodyPr wrap="square" lIns="0" tIns="0" rIns="0" bIns="0" rtlCol="0" anchor="ctr"/>
          <a:lstStyle/>
          <a:p>
            <a:pPr algn="l" indent="0" marL="0">
              <a:buNone/>
            </a:pPr>
            <a:r>
              <a:rPr lang="en-US" sz="1800" b="1" dirty="0">
                <a:solidFill>
                  <a:srgbClr val="F4A6B8"/>
                </a:solidFill>
                <a:latin typeface="Noto Sans KR" pitchFamily="34" charset="0"/>
                <a:ea typeface="Noto Sans KR" pitchFamily="34" charset="-122"/>
                <a:cs typeface="Noto Sans KR" pitchFamily="34" charset="-120"/>
              </a:rPr>
              <a:t>DeerFlow 를 선택할 때</a:t>
            </a:r>
            <a:endParaRPr lang="en-US" sz="1800" dirty="0"/>
          </a:p>
        </p:txBody>
      </p:sp>
      <p:sp>
        <p:nvSpPr>
          <p:cNvPr id="11" name="Shape 9"/>
          <p:cNvSpPr/>
          <p:nvPr/>
        </p:nvSpPr>
        <p:spPr>
          <a:xfrm>
            <a:off x="822960" y="3017520"/>
            <a:ext cx="256032" cy="256032"/>
          </a:xfrm>
          <a:prstGeom prst="ellipse">
            <a:avLst/>
          </a:prstGeom>
          <a:solidFill>
            <a:srgbClr val="F4A6B8"/>
          </a:solidFill>
          <a:ln w="12700">
            <a:solidFill>
              <a:srgbClr val="F4A6B8"/>
            </a:solidFill>
            <a:prstDash val="solid"/>
          </a:ln>
        </p:spPr>
      </p:sp>
      <p:sp>
        <p:nvSpPr>
          <p:cNvPr id="12" name="Text 10"/>
          <p:cNvSpPr/>
          <p:nvPr/>
        </p:nvSpPr>
        <p:spPr>
          <a:xfrm>
            <a:off x="822960" y="3017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13" name="Text 11"/>
          <p:cNvSpPr/>
          <p:nvPr/>
        </p:nvSpPr>
        <p:spPr>
          <a:xfrm>
            <a:off x="1188720" y="297180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복잡한 워크플로우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여러 도메인 · 병렬 처리 · 장시간 실행</a:t>
            </a:r>
            <a:endParaRPr lang="en-US" sz="1350" dirty="0"/>
          </a:p>
        </p:txBody>
      </p:sp>
      <p:sp>
        <p:nvSpPr>
          <p:cNvPr id="14" name="Shape 12"/>
          <p:cNvSpPr/>
          <p:nvPr/>
        </p:nvSpPr>
        <p:spPr>
          <a:xfrm>
            <a:off x="822960" y="3611880"/>
            <a:ext cx="256032" cy="256032"/>
          </a:xfrm>
          <a:prstGeom prst="ellipse">
            <a:avLst/>
          </a:prstGeom>
          <a:solidFill>
            <a:srgbClr val="F4A6B8"/>
          </a:solidFill>
          <a:ln w="12700">
            <a:solidFill>
              <a:srgbClr val="F4A6B8"/>
            </a:solidFill>
            <a:prstDash val="solid"/>
          </a:ln>
        </p:spPr>
      </p:sp>
      <p:sp>
        <p:nvSpPr>
          <p:cNvPr id="15" name="Text 13"/>
          <p:cNvSpPr/>
          <p:nvPr/>
        </p:nvSpPr>
        <p:spPr>
          <a:xfrm>
            <a:off x="822960" y="36118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16" name="Text 14"/>
          <p:cNvSpPr/>
          <p:nvPr/>
        </p:nvSpPr>
        <p:spPr>
          <a:xfrm>
            <a:off x="1188720" y="356616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세션 간 기억 필요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사용자 선호, 과거 대화, 학습된 패턴 유지</a:t>
            </a:r>
            <a:endParaRPr lang="en-US" sz="1350" dirty="0"/>
          </a:p>
        </p:txBody>
      </p:sp>
      <p:sp>
        <p:nvSpPr>
          <p:cNvPr id="17" name="Shape 15"/>
          <p:cNvSpPr/>
          <p:nvPr/>
        </p:nvSpPr>
        <p:spPr>
          <a:xfrm>
            <a:off x="822960" y="4206240"/>
            <a:ext cx="256032" cy="256032"/>
          </a:xfrm>
          <a:prstGeom prst="ellipse">
            <a:avLst/>
          </a:prstGeom>
          <a:solidFill>
            <a:srgbClr val="F4A6B8"/>
          </a:solidFill>
          <a:ln w="12700">
            <a:solidFill>
              <a:srgbClr val="F4A6B8"/>
            </a:solidFill>
            <a:prstDash val="solid"/>
          </a:ln>
        </p:spPr>
      </p:sp>
      <p:sp>
        <p:nvSpPr>
          <p:cNvPr id="18" name="Text 16"/>
          <p:cNvSpPr/>
          <p:nvPr/>
        </p:nvSpPr>
        <p:spPr>
          <a:xfrm>
            <a:off x="822960" y="42062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19" name="Text 17"/>
          <p:cNvSpPr/>
          <p:nvPr/>
        </p:nvSpPr>
        <p:spPr>
          <a:xfrm>
            <a:off x="1188720" y="416052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멀티-에이전트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연구, 글쓰기, 코딩 등 분업이 유리한 작업</a:t>
            </a:r>
            <a:endParaRPr lang="en-US" sz="1350" dirty="0"/>
          </a:p>
        </p:txBody>
      </p:sp>
      <p:sp>
        <p:nvSpPr>
          <p:cNvPr id="20" name="Shape 18"/>
          <p:cNvSpPr/>
          <p:nvPr/>
        </p:nvSpPr>
        <p:spPr>
          <a:xfrm>
            <a:off x="822960" y="4800600"/>
            <a:ext cx="256032" cy="256032"/>
          </a:xfrm>
          <a:prstGeom prst="ellipse">
            <a:avLst/>
          </a:prstGeom>
          <a:solidFill>
            <a:srgbClr val="F4A6B8"/>
          </a:solidFill>
          <a:ln w="12700">
            <a:solidFill>
              <a:srgbClr val="F4A6B8"/>
            </a:solidFill>
            <a:prstDash val="solid"/>
          </a:ln>
        </p:spPr>
      </p:sp>
      <p:sp>
        <p:nvSpPr>
          <p:cNvPr id="21" name="Text 19"/>
          <p:cNvSpPr/>
          <p:nvPr/>
        </p:nvSpPr>
        <p:spPr>
          <a:xfrm>
            <a:off x="822960" y="48006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22" name="Text 20"/>
          <p:cNvSpPr/>
          <p:nvPr/>
        </p:nvSpPr>
        <p:spPr>
          <a:xfrm>
            <a:off x="1188720" y="475488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풍부한 확장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Skill·Tool·MCP 등 커스텀 확장이 중요</a:t>
            </a:r>
            <a:endParaRPr lang="en-US" sz="1350" dirty="0"/>
          </a:p>
        </p:txBody>
      </p:sp>
      <p:sp>
        <p:nvSpPr>
          <p:cNvPr id="23" name="Shape 21"/>
          <p:cNvSpPr/>
          <p:nvPr/>
        </p:nvSpPr>
        <p:spPr>
          <a:xfrm>
            <a:off x="6324448" y="2103120"/>
            <a:ext cx="5318608" cy="338328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4" name="Shape 22"/>
          <p:cNvSpPr/>
          <p:nvPr/>
        </p:nvSpPr>
        <p:spPr>
          <a:xfrm>
            <a:off x="6324448" y="2103120"/>
            <a:ext cx="73152" cy="3383280"/>
          </a:xfrm>
          <a:prstGeom prst="rect">
            <a:avLst/>
          </a:prstGeom>
          <a:solidFill>
            <a:srgbClr val="F08B51"/>
          </a:solidFill>
          <a:ln w="12700">
            <a:solidFill>
              <a:srgbClr val="F08B51"/>
            </a:solidFill>
            <a:prstDash val="solid"/>
          </a:ln>
        </p:spPr>
      </p:sp>
      <p:sp>
        <p:nvSpPr>
          <p:cNvPr id="25" name="Text 23"/>
          <p:cNvSpPr/>
          <p:nvPr/>
        </p:nvSpPr>
        <p:spPr>
          <a:xfrm>
            <a:off x="6598768" y="2331720"/>
            <a:ext cx="4952848" cy="411480"/>
          </a:xfrm>
          <a:prstGeom prst="rect">
            <a:avLst/>
          </a:prstGeom>
          <a:noFill/>
          <a:ln/>
        </p:spPr>
        <p:txBody>
          <a:bodyPr wrap="square" lIns="0" tIns="0" rIns="0" bIns="0" rtlCol="0" anchor="ctr"/>
          <a:lstStyle/>
          <a:p>
            <a:pPr algn="l" indent="0" marL="0">
              <a:buNone/>
            </a:pPr>
            <a:r>
              <a:rPr lang="en-US" sz="1800" b="1" dirty="0">
                <a:solidFill>
                  <a:srgbClr val="F08B51"/>
                </a:solidFill>
                <a:latin typeface="Noto Sans KR" pitchFamily="34" charset="0"/>
                <a:ea typeface="Noto Sans KR" pitchFamily="34" charset="-122"/>
                <a:cs typeface="Noto Sans KR" pitchFamily="34" charset="-120"/>
              </a:rPr>
              <a:t>SWE-Agent 를 선택할 때</a:t>
            </a:r>
            <a:endParaRPr lang="en-US" sz="1800" dirty="0"/>
          </a:p>
        </p:txBody>
      </p:sp>
      <p:sp>
        <p:nvSpPr>
          <p:cNvPr id="26" name="Shape 24"/>
          <p:cNvSpPr/>
          <p:nvPr/>
        </p:nvSpPr>
        <p:spPr>
          <a:xfrm>
            <a:off x="6598768" y="3017520"/>
            <a:ext cx="256032" cy="256032"/>
          </a:xfrm>
          <a:prstGeom prst="ellipse">
            <a:avLst/>
          </a:prstGeom>
          <a:solidFill>
            <a:srgbClr val="F08B51"/>
          </a:solidFill>
          <a:ln w="12700">
            <a:solidFill>
              <a:srgbClr val="F08B51"/>
            </a:solidFill>
            <a:prstDash val="solid"/>
          </a:ln>
        </p:spPr>
      </p:sp>
      <p:sp>
        <p:nvSpPr>
          <p:cNvPr id="27" name="Text 25"/>
          <p:cNvSpPr/>
          <p:nvPr/>
        </p:nvSpPr>
        <p:spPr>
          <a:xfrm>
            <a:off x="6598768" y="3017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28" name="Text 26"/>
          <p:cNvSpPr/>
          <p:nvPr/>
        </p:nvSpPr>
        <p:spPr>
          <a:xfrm>
            <a:off x="6964528" y="297180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명확한 단일 이슈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버그 수정, PR 작업, 한정된 리포지토리</a:t>
            </a:r>
            <a:endParaRPr lang="en-US" sz="1350" dirty="0"/>
          </a:p>
        </p:txBody>
      </p:sp>
      <p:sp>
        <p:nvSpPr>
          <p:cNvPr id="29" name="Shape 27"/>
          <p:cNvSpPr/>
          <p:nvPr/>
        </p:nvSpPr>
        <p:spPr>
          <a:xfrm>
            <a:off x="6598768" y="3611880"/>
            <a:ext cx="256032" cy="256032"/>
          </a:xfrm>
          <a:prstGeom prst="ellipse">
            <a:avLst/>
          </a:prstGeom>
          <a:solidFill>
            <a:srgbClr val="F08B51"/>
          </a:solidFill>
          <a:ln w="12700">
            <a:solidFill>
              <a:srgbClr val="F08B51"/>
            </a:solidFill>
            <a:prstDash val="solid"/>
          </a:ln>
        </p:spPr>
      </p:sp>
      <p:sp>
        <p:nvSpPr>
          <p:cNvPr id="30" name="Text 28"/>
          <p:cNvSpPr/>
          <p:nvPr/>
        </p:nvSpPr>
        <p:spPr>
          <a:xfrm>
            <a:off x="6598768" y="36118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31" name="Text 29"/>
          <p:cNvSpPr/>
          <p:nvPr/>
        </p:nvSpPr>
        <p:spPr>
          <a:xfrm>
            <a:off x="6964528" y="356616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예측 가능성 우선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단순한 구조 · 디버깅 용이 · 재현성</a:t>
            </a:r>
            <a:endParaRPr lang="en-US" sz="1350" dirty="0"/>
          </a:p>
        </p:txBody>
      </p:sp>
      <p:sp>
        <p:nvSpPr>
          <p:cNvPr id="32" name="Shape 30"/>
          <p:cNvSpPr/>
          <p:nvPr/>
        </p:nvSpPr>
        <p:spPr>
          <a:xfrm>
            <a:off x="6598768" y="4206240"/>
            <a:ext cx="256032" cy="256032"/>
          </a:xfrm>
          <a:prstGeom prst="ellipse">
            <a:avLst/>
          </a:prstGeom>
          <a:solidFill>
            <a:srgbClr val="F08B51"/>
          </a:solidFill>
          <a:ln w="12700">
            <a:solidFill>
              <a:srgbClr val="F08B51"/>
            </a:solidFill>
            <a:prstDash val="solid"/>
          </a:ln>
        </p:spPr>
      </p:sp>
      <p:sp>
        <p:nvSpPr>
          <p:cNvPr id="33" name="Text 31"/>
          <p:cNvSpPr/>
          <p:nvPr/>
        </p:nvSpPr>
        <p:spPr>
          <a:xfrm>
            <a:off x="6598768" y="42062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34" name="Text 32"/>
          <p:cNvSpPr/>
          <p:nvPr/>
        </p:nvSpPr>
        <p:spPr>
          <a:xfrm>
            <a:off x="6964528" y="416052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가드레일 중심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린터·제한으로 실수를 원천 차단</a:t>
            </a:r>
            <a:endParaRPr lang="en-US" sz="1350" dirty="0"/>
          </a:p>
        </p:txBody>
      </p:sp>
      <p:sp>
        <p:nvSpPr>
          <p:cNvPr id="35" name="Shape 33"/>
          <p:cNvSpPr/>
          <p:nvPr/>
        </p:nvSpPr>
        <p:spPr>
          <a:xfrm>
            <a:off x="6598768" y="4800600"/>
            <a:ext cx="256032" cy="256032"/>
          </a:xfrm>
          <a:prstGeom prst="ellipse">
            <a:avLst/>
          </a:prstGeom>
          <a:solidFill>
            <a:srgbClr val="F08B51"/>
          </a:solidFill>
          <a:ln w="12700">
            <a:solidFill>
              <a:srgbClr val="F08B51"/>
            </a:solidFill>
            <a:prstDash val="solid"/>
          </a:ln>
        </p:spPr>
      </p:sp>
      <p:sp>
        <p:nvSpPr>
          <p:cNvPr id="36" name="Text 34"/>
          <p:cNvSpPr/>
          <p:nvPr/>
        </p:nvSpPr>
        <p:spPr>
          <a:xfrm>
            <a:off x="6598768" y="48006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a:t>
            </a:r>
            <a:endParaRPr lang="en-US" sz="1100" dirty="0"/>
          </a:p>
        </p:txBody>
      </p:sp>
      <p:sp>
        <p:nvSpPr>
          <p:cNvPr id="37" name="Text 35"/>
          <p:cNvSpPr/>
          <p:nvPr/>
        </p:nvSpPr>
        <p:spPr>
          <a:xfrm>
            <a:off x="6964528" y="4754880"/>
            <a:ext cx="4404208" cy="594360"/>
          </a:xfrm>
          <a:prstGeom prst="rect">
            <a:avLst/>
          </a:prstGeom>
          <a:noFill/>
          <a:ln/>
        </p:spPr>
        <p:txBody>
          <a:bodyPr wrap="square" lIns="0" tIns="0" rIns="0" bIns="0" rtlCol="0" anchor="t"/>
          <a:lstStyle/>
          <a:p>
            <a:pPr algn="l" indent="0" marL="0">
              <a:spcAft>
                <a:spcPts val="200"/>
              </a:spcAft>
              <a:buNone/>
            </a:pPr>
            <a:r>
              <a:rPr lang="en-US" sz="1350" b="1" dirty="0">
                <a:solidFill>
                  <a:srgbClr val="5C4033"/>
                </a:solidFill>
                <a:latin typeface="Noto Sans KR" pitchFamily="34" charset="0"/>
                <a:ea typeface="Noto Sans KR" pitchFamily="34" charset="-122"/>
                <a:cs typeface="Noto Sans KR" pitchFamily="34" charset="-120"/>
              </a:rPr>
              <a:t>빠른 도입
</a:t>
            </a:r>
            <a:pPr algn="l" indent="0" marL="0">
              <a:spcAft>
                <a:spcPts val="200"/>
              </a:spcAft>
              <a:buNone/>
            </a:pPr>
            <a:r>
              <a:rPr lang="en-US" sz="1150" dirty="0">
                <a:solidFill>
                  <a:srgbClr val="7E5D4E"/>
                </a:solidFill>
                <a:latin typeface="Noto Sans KR" pitchFamily="34" charset="0"/>
                <a:ea typeface="Noto Sans KR" pitchFamily="34" charset="-122"/>
                <a:cs typeface="Noto Sans KR" pitchFamily="34" charset="-120"/>
              </a:rPr>
              <a:t>적은 구성요소 · 낮은 학습 비용</a:t>
            </a:r>
            <a:endParaRPr lang="en-US" sz="1350" dirty="0"/>
          </a:p>
        </p:txBody>
      </p:sp>
      <p:sp>
        <p:nvSpPr>
          <p:cNvPr id="38" name="Shape 36"/>
          <p:cNvSpPr/>
          <p:nvPr/>
        </p:nvSpPr>
        <p:spPr>
          <a:xfrm>
            <a:off x="548640" y="5760720"/>
            <a:ext cx="11094415" cy="685800"/>
          </a:xfrm>
          <a:prstGeom prst="rect">
            <a:avLst/>
          </a:prstGeom>
          <a:solidFill>
            <a:srgbClr val="5C4033"/>
          </a:solidFill>
          <a:ln w="12700">
            <a:solidFill>
              <a:srgbClr val="5C4033"/>
            </a:solidFill>
            <a:prstDash val="solid"/>
          </a:ln>
        </p:spPr>
      </p:sp>
      <p:sp>
        <p:nvSpPr>
          <p:cNvPr id="39" name="Text 37"/>
          <p:cNvSpPr/>
          <p:nvPr/>
        </p:nvSpPr>
        <p:spPr>
          <a:xfrm>
            <a:off x="822960" y="5760720"/>
            <a:ext cx="10545775" cy="685800"/>
          </a:xfrm>
          <a:prstGeom prst="rect">
            <a:avLst/>
          </a:prstGeom>
          <a:noFill/>
          <a:ln/>
        </p:spPr>
        <p:txBody>
          <a:bodyPr wrap="square" lIns="0" tIns="0" rIns="0" bIns="0" rtlCol="0" anchor="ctr"/>
          <a:lstStyle/>
          <a:p>
            <a:pPr algn="l" indent="0" marL="0">
              <a:buNone/>
            </a:pPr>
            <a:r>
              <a:rPr lang="en-US" sz="1400" b="1" dirty="0">
                <a:solidFill>
                  <a:srgbClr val="D4B896"/>
                </a:solidFill>
                <a:latin typeface="Noto Sans KR" pitchFamily="34" charset="0"/>
                <a:ea typeface="Noto Sans KR" pitchFamily="34" charset="-122"/>
                <a:cs typeface="Noto Sans KR" pitchFamily="34" charset="-120"/>
              </a:rPr>
              <a:t>핵심 질문: </a:t>
            </a:r>
            <a:pPr algn="l" indent="0" marL="0">
              <a:buNone/>
            </a:pPr>
            <a:r>
              <a:rPr lang="en-US" sz="1400" dirty="0">
                <a:solidFill>
                  <a:srgbClr val="FFFFFF"/>
                </a:solidFill>
                <a:latin typeface="Noto Sans KR" pitchFamily="34" charset="0"/>
                <a:ea typeface="Noto Sans KR" pitchFamily="34" charset="-122"/>
                <a:cs typeface="Noto Sans KR" pitchFamily="34" charset="-120"/>
              </a:rPr>
              <a:t>당신의 에이전트는 </a:t>
            </a:r>
            <a:pPr algn="l" indent="0" marL="0">
              <a:buNone/>
            </a:pPr>
            <a:r>
              <a:rPr lang="en-US" sz="1400" b="1" dirty="0">
                <a:solidFill>
                  <a:srgbClr val="FADCE3"/>
                </a:solidFill>
                <a:latin typeface="Noto Sans KR" pitchFamily="34" charset="0"/>
                <a:ea typeface="Noto Sans KR" pitchFamily="34" charset="-122"/>
                <a:cs typeface="Noto Sans KR" pitchFamily="34" charset="-120"/>
              </a:rPr>
              <a:t>환경을 주도</a:t>
            </a:r>
            <a:pPr algn="l" indent="0" marL="0">
              <a:buNone/>
            </a:pPr>
            <a:r>
              <a:rPr lang="en-US" sz="1400" dirty="0">
                <a:solidFill>
                  <a:srgbClr val="FFFFFF"/>
                </a:solidFill>
                <a:latin typeface="Noto Sans KR" pitchFamily="34" charset="0"/>
                <a:ea typeface="Noto Sans KR" pitchFamily="34" charset="-122"/>
                <a:cs typeface="Noto Sans KR" pitchFamily="34" charset="-120"/>
              </a:rPr>
              <a:t>해야 하는가, 아니면 </a:t>
            </a:r>
            <a:pPr algn="l" indent="0" marL="0">
              <a:buNone/>
            </a:pPr>
            <a:r>
              <a:rPr lang="en-US" sz="1400" b="1" dirty="0">
                <a:solidFill>
                  <a:srgbClr val="F9C7A8"/>
                </a:solidFill>
                <a:latin typeface="Noto Sans KR" pitchFamily="34" charset="0"/>
                <a:ea typeface="Noto Sans KR" pitchFamily="34" charset="-122"/>
                <a:cs typeface="Noto Sans KR" pitchFamily="34" charset="-120"/>
              </a:rPr>
              <a:t>도구를 완벽하게 사용</a:t>
            </a:r>
            <a:pPr algn="l" indent="0" marL="0">
              <a:buNone/>
            </a:pPr>
            <a:r>
              <a:rPr lang="en-US" sz="1400" dirty="0">
                <a:solidFill>
                  <a:srgbClr val="FFFFFF"/>
                </a:solidFill>
                <a:latin typeface="Noto Sans KR" pitchFamily="34" charset="0"/>
                <a:ea typeface="Noto Sans KR" pitchFamily="34" charset="-122"/>
                <a:cs typeface="Noto Sans KR" pitchFamily="34" charset="-120"/>
              </a:rPr>
              <a:t>해야 하는가?</a:t>
            </a:r>
            <a:endParaRPr lang="en-US" sz="1400" dirty="0"/>
          </a:p>
        </p:txBody>
      </p:sp>
      <p:sp>
        <p:nvSpPr>
          <p:cNvPr id="41" name="Text 38"/>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88B04B"/>
          </a:solidFill>
          <a:ln w="12700">
            <a:solidFill>
              <a:srgbClr val="88B04B"/>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INSIGHT  ·  1/3</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27 / 32</a:t>
            </a:r>
            <a:endParaRPr lang="en-US" sz="1000" dirty="0"/>
          </a:p>
        </p:txBody>
      </p:sp>
      <p:sp>
        <p:nvSpPr>
          <p:cNvPr id="5" name="Text 3"/>
          <p:cNvSpPr/>
          <p:nvPr/>
        </p:nvSpPr>
        <p:spPr>
          <a:xfrm>
            <a:off x="548640" y="822960"/>
            <a:ext cx="3657600" cy="365760"/>
          </a:xfrm>
          <a:prstGeom prst="rect">
            <a:avLst/>
          </a:prstGeom>
          <a:noFill/>
          <a:ln/>
        </p:spPr>
        <p:txBody>
          <a:bodyPr wrap="square" lIns="0" tIns="0" rIns="0" bIns="0" rtlCol="0" anchor="ctr"/>
          <a:lstStyle/>
          <a:p>
            <a:pPr algn="l" indent="0" marL="0">
              <a:buNone/>
            </a:pPr>
            <a:r>
              <a:rPr lang="en-US" sz="1100" b="1" spc="400" kern="0" dirty="0">
                <a:solidFill>
                  <a:srgbClr val="88B04B"/>
                </a:solidFill>
                <a:latin typeface="Noto Sans KR" pitchFamily="34" charset="0"/>
                <a:ea typeface="Noto Sans KR" pitchFamily="34" charset="-122"/>
                <a:cs typeface="Noto Sans KR" pitchFamily="34" charset="-120"/>
              </a:rPr>
              <a:t>PART 4</a:t>
            </a:r>
            <a:endParaRPr lang="en-US" sz="1100" dirty="0"/>
          </a:p>
        </p:txBody>
      </p:sp>
      <p:sp>
        <p:nvSpPr>
          <p:cNvPr id="6" name="Text 4"/>
          <p:cNvSpPr/>
          <p:nvPr/>
        </p:nvSpPr>
        <p:spPr>
          <a:xfrm>
            <a:off x="548640" y="1143000"/>
            <a:ext cx="5486400"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핵심 인사이트</a:t>
            </a:r>
            <a:endParaRPr lang="en-US" sz="3200" dirty="0"/>
          </a:p>
        </p:txBody>
      </p:sp>
      <p:sp>
        <p:nvSpPr>
          <p:cNvPr id="7" name="Text 5"/>
          <p:cNvSpPr/>
          <p:nvPr/>
        </p:nvSpPr>
        <p:spPr>
          <a:xfrm>
            <a:off x="548640" y="2057400"/>
            <a:ext cx="11094415" cy="457200"/>
          </a:xfrm>
          <a:prstGeom prst="rect">
            <a:avLst/>
          </a:prstGeom>
          <a:noFill/>
          <a:ln/>
        </p:spPr>
        <p:txBody>
          <a:bodyPr wrap="square" lIns="0" tIns="0" rIns="0" bIns="0" rtlCol="0" anchor="ctr"/>
          <a:lstStyle/>
          <a:p>
            <a:pPr algn="l" indent="0" marL="0">
              <a:buNone/>
            </a:pPr>
            <a:r>
              <a:rPr lang="en-US" sz="2200" b="1" dirty="0">
                <a:solidFill>
                  <a:srgbClr val="5C4033"/>
                </a:solidFill>
                <a:latin typeface="Noto Sans KR" pitchFamily="34" charset="0"/>
                <a:ea typeface="Noto Sans KR" pitchFamily="34" charset="-122"/>
                <a:cs typeface="Noto Sans KR" pitchFamily="34" charset="-120"/>
              </a:rPr>
              <a:t>인사이트 ① 인터페이스가 모델보다 중요할 수 있다</a:t>
            </a:r>
            <a:endParaRPr lang="en-US" sz="2200" dirty="0"/>
          </a:p>
        </p:txBody>
      </p:sp>
      <p:sp>
        <p:nvSpPr>
          <p:cNvPr id="8" name="Shape 6"/>
          <p:cNvSpPr/>
          <p:nvPr/>
        </p:nvSpPr>
        <p:spPr>
          <a:xfrm>
            <a:off x="548640" y="2606040"/>
            <a:ext cx="548640" cy="36576"/>
          </a:xfrm>
          <a:prstGeom prst="rect">
            <a:avLst/>
          </a:prstGeom>
          <a:solidFill>
            <a:srgbClr val="88B04B"/>
          </a:solidFill>
          <a:ln w="12700">
            <a:solidFill>
              <a:srgbClr val="88B04B"/>
            </a:solidFill>
            <a:prstDash val="solid"/>
          </a:ln>
        </p:spPr>
      </p:sp>
      <p:sp>
        <p:nvSpPr>
          <p:cNvPr id="9" name="Shape 7"/>
          <p:cNvSpPr/>
          <p:nvPr/>
        </p:nvSpPr>
        <p:spPr>
          <a:xfrm>
            <a:off x="548640" y="2926080"/>
            <a:ext cx="5029200" cy="301752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0" name="Shape 8"/>
          <p:cNvSpPr/>
          <p:nvPr/>
        </p:nvSpPr>
        <p:spPr>
          <a:xfrm>
            <a:off x="548640" y="2926080"/>
            <a:ext cx="73152" cy="3017520"/>
          </a:xfrm>
          <a:prstGeom prst="rect">
            <a:avLst/>
          </a:prstGeom>
          <a:solidFill>
            <a:srgbClr val="88B04B"/>
          </a:solidFill>
          <a:ln w="12700">
            <a:solidFill>
              <a:srgbClr val="88B04B"/>
            </a:solidFill>
            <a:prstDash val="solid"/>
          </a:ln>
        </p:spPr>
      </p:sp>
      <p:sp>
        <p:nvSpPr>
          <p:cNvPr id="11" name="Text 9"/>
          <p:cNvSpPr/>
          <p:nvPr/>
        </p:nvSpPr>
        <p:spPr>
          <a:xfrm>
            <a:off x="822960" y="3154680"/>
            <a:ext cx="4663440" cy="320040"/>
          </a:xfrm>
          <a:prstGeom prst="rect">
            <a:avLst/>
          </a:prstGeom>
          <a:noFill/>
          <a:ln/>
        </p:spPr>
        <p:txBody>
          <a:bodyPr wrap="square" lIns="0" tIns="0" rIns="0" bIns="0" rtlCol="0" anchor="ctr"/>
          <a:lstStyle/>
          <a:p>
            <a:pPr algn="l" indent="0" marL="0">
              <a:buNone/>
            </a:pPr>
            <a:r>
              <a:rPr lang="en-US" sz="1200" i="1" dirty="0">
                <a:solidFill>
                  <a:srgbClr val="A68474"/>
                </a:solidFill>
                <a:latin typeface="Noto Sans KR" pitchFamily="34" charset="0"/>
                <a:ea typeface="Noto Sans KR" pitchFamily="34" charset="-122"/>
                <a:cs typeface="Noto Sans KR" pitchFamily="34" charset="-120"/>
              </a:rPr>
              <a:t>SWE-Agent 논문  ·  핵심 결과</a:t>
            </a:r>
            <a:endParaRPr lang="en-US" sz="1200" dirty="0"/>
          </a:p>
        </p:txBody>
      </p:sp>
      <p:sp>
        <p:nvSpPr>
          <p:cNvPr id="12" name="Text 10"/>
          <p:cNvSpPr/>
          <p:nvPr/>
        </p:nvSpPr>
        <p:spPr>
          <a:xfrm>
            <a:off x="822960" y="3566160"/>
            <a:ext cx="4663440" cy="1188720"/>
          </a:xfrm>
          <a:prstGeom prst="rect">
            <a:avLst/>
          </a:prstGeom>
          <a:noFill/>
          <a:ln/>
        </p:spPr>
        <p:txBody>
          <a:bodyPr wrap="square" lIns="0" tIns="0" rIns="0" bIns="0" rtlCol="0" anchor="ctr"/>
          <a:lstStyle/>
          <a:p>
            <a:pPr algn="l" indent="0" marL="0">
              <a:buNone/>
            </a:pPr>
            <a:r>
              <a:rPr lang="en-US" sz="8400" b="1" dirty="0">
                <a:solidFill>
                  <a:srgbClr val="88B04B"/>
                </a:solidFill>
                <a:latin typeface="Nanum Myeongjo" pitchFamily="34" charset="0"/>
                <a:ea typeface="Nanum Myeongjo" pitchFamily="34" charset="-122"/>
                <a:cs typeface="Nanum Myeongjo" pitchFamily="34" charset="-120"/>
              </a:rPr>
              <a:t>+10.7pp</a:t>
            </a:r>
            <a:endParaRPr lang="en-US" sz="8400" dirty="0"/>
          </a:p>
        </p:txBody>
      </p:sp>
      <p:sp>
        <p:nvSpPr>
          <p:cNvPr id="13" name="Text 11"/>
          <p:cNvSpPr/>
          <p:nvPr/>
        </p:nvSpPr>
        <p:spPr>
          <a:xfrm>
            <a:off x="822960" y="4754880"/>
            <a:ext cx="4663440" cy="320040"/>
          </a:xfrm>
          <a:prstGeom prst="rect">
            <a:avLst/>
          </a:prstGeom>
          <a:noFill/>
          <a:ln/>
        </p:spPr>
        <p:txBody>
          <a:bodyPr wrap="square" lIns="0" tIns="0" rIns="0" bIns="0" rtlCol="0" anchor="ctr"/>
          <a:lstStyle/>
          <a:p>
            <a:pPr algn="l" indent="0" marL="0">
              <a:buNone/>
            </a:pPr>
            <a:r>
              <a:rPr lang="en-US" sz="1400" b="1" dirty="0">
                <a:solidFill>
                  <a:srgbClr val="7E5D4E"/>
                </a:solidFill>
                <a:latin typeface="Noto Sans KR" pitchFamily="34" charset="0"/>
                <a:ea typeface="Noto Sans KR" pitchFamily="34" charset="-122"/>
                <a:cs typeface="Noto Sans KR" pitchFamily="34" charset="-120"/>
              </a:rPr>
              <a:t>147% 상대 향상</a:t>
            </a:r>
            <a:endParaRPr lang="en-US" sz="1400" dirty="0"/>
          </a:p>
        </p:txBody>
      </p:sp>
      <p:sp>
        <p:nvSpPr>
          <p:cNvPr id="14" name="Text 12"/>
          <p:cNvSpPr/>
          <p:nvPr/>
        </p:nvSpPr>
        <p:spPr>
          <a:xfrm>
            <a:off x="822960" y="5166360"/>
            <a:ext cx="4663440" cy="640080"/>
          </a:xfrm>
          <a:prstGeom prst="rect">
            <a:avLst/>
          </a:prstGeom>
          <a:noFill/>
          <a:ln/>
        </p:spPr>
        <p:txBody>
          <a:bodyPr wrap="square" lIns="0" tIns="0" rIns="0" bIns="0" rtlCol="0" anchor="t"/>
          <a:lstStyle/>
          <a:p>
            <a:pPr algn="l" indent="0" marL="0">
              <a:buNone/>
            </a:pPr>
            <a:r>
              <a:rPr lang="en-US" sz="1100" i="1" dirty="0">
                <a:solidFill>
                  <a:srgbClr val="A68474"/>
                </a:solidFill>
                <a:latin typeface="Noto Sans KR" pitchFamily="34" charset="0"/>
                <a:ea typeface="Noto Sans KR" pitchFamily="34" charset="-122"/>
                <a:cs typeface="Noto Sans KR" pitchFamily="34" charset="-120"/>
              </a:rPr>
              <a:t>같은 GPT-4 Turbo  ·  같은 SWE-bench 태스크
</a:t>
            </a:r>
            <a:pPr algn="l" indent="0" marL="0">
              <a:buNone/>
            </a:pPr>
            <a:r>
              <a:rPr lang="en-US" sz="1200" dirty="0">
                <a:solidFill>
                  <a:srgbClr val="7E5D4E"/>
                </a:solidFill>
                <a:latin typeface="Noto Sans KR" pitchFamily="34" charset="0"/>
                <a:ea typeface="Noto Sans KR" pitchFamily="34" charset="-122"/>
                <a:cs typeface="Noto Sans KR" pitchFamily="34" charset="-120"/>
              </a:rPr>
              <a:t>변수는 </a:t>
            </a:r>
            <a:pPr algn="l" indent="0" marL="0">
              <a:buNone/>
            </a:pPr>
            <a:r>
              <a:rPr lang="en-US" sz="1200" b="1" dirty="0">
                <a:solidFill>
                  <a:srgbClr val="5C4033"/>
                </a:solidFill>
                <a:latin typeface="Noto Sans KR" pitchFamily="34" charset="0"/>
                <a:ea typeface="Noto Sans KR" pitchFamily="34" charset="-122"/>
                <a:cs typeface="Noto Sans KR" pitchFamily="34" charset="-120"/>
              </a:rPr>
              <a:t>인터페이스만.</a:t>
            </a:r>
            <a:endParaRPr lang="en-US" sz="1100" dirty="0"/>
          </a:p>
        </p:txBody>
      </p:sp>
      <p:sp>
        <p:nvSpPr>
          <p:cNvPr id="15" name="Shape 13"/>
          <p:cNvSpPr/>
          <p:nvPr/>
        </p:nvSpPr>
        <p:spPr>
          <a:xfrm>
            <a:off x="5943600" y="2926080"/>
            <a:ext cx="5699455" cy="301752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6" name="Text 14"/>
          <p:cNvSpPr/>
          <p:nvPr/>
        </p:nvSpPr>
        <p:spPr>
          <a:xfrm>
            <a:off x="6217920" y="3154680"/>
            <a:ext cx="5333695" cy="320040"/>
          </a:xfrm>
          <a:prstGeom prst="rect">
            <a:avLst/>
          </a:prstGeom>
          <a:noFill/>
          <a:ln/>
        </p:spPr>
        <p:txBody>
          <a:bodyPr wrap="square" lIns="0" tIns="0" rIns="0" bIns="0" rtlCol="0" anchor="ctr"/>
          <a:lstStyle/>
          <a:p>
            <a:pPr algn="l" indent="0" marL="0">
              <a:buNone/>
            </a:pPr>
            <a:r>
              <a:rPr lang="en-US" sz="1200" b="1" dirty="0">
                <a:solidFill>
                  <a:srgbClr val="5C4033"/>
                </a:solidFill>
                <a:latin typeface="Noto Sans KR" pitchFamily="34" charset="0"/>
                <a:ea typeface="Noto Sans KR" pitchFamily="34" charset="-122"/>
                <a:cs typeface="Noto Sans KR" pitchFamily="34" charset="-120"/>
              </a:rPr>
              <a:t>SWE-bench Lite 해결률 (GPT-4 Turbo)</a:t>
            </a:r>
            <a:endParaRPr lang="en-US" sz="1200" dirty="0"/>
          </a:p>
        </p:txBody>
      </p:sp>
      <p:sp>
        <p:nvSpPr>
          <p:cNvPr id="17" name="Text 15"/>
          <p:cNvSpPr/>
          <p:nvPr/>
        </p:nvSpPr>
        <p:spPr>
          <a:xfrm>
            <a:off x="6217920" y="3474720"/>
            <a:ext cx="5333695" cy="274320"/>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Linux shell만 (Baseline)</a:t>
            </a:r>
            <a:endParaRPr lang="en-US" sz="1100" dirty="0"/>
          </a:p>
        </p:txBody>
      </p:sp>
      <p:sp>
        <p:nvSpPr>
          <p:cNvPr id="18" name="Shape 16"/>
          <p:cNvSpPr/>
          <p:nvPr/>
        </p:nvSpPr>
        <p:spPr>
          <a:xfrm>
            <a:off x="6400800" y="3749040"/>
            <a:ext cx="1579667" cy="320040"/>
          </a:xfrm>
          <a:prstGeom prst="rect">
            <a:avLst/>
          </a:prstGeom>
          <a:solidFill>
            <a:srgbClr val="C7BDB1"/>
          </a:solidFill>
          <a:ln w="12700">
            <a:solidFill>
              <a:srgbClr val="C7BDB1"/>
            </a:solidFill>
            <a:prstDash val="solid"/>
          </a:ln>
        </p:spPr>
      </p:sp>
      <p:sp>
        <p:nvSpPr>
          <p:cNvPr id="19" name="Text 17"/>
          <p:cNvSpPr/>
          <p:nvPr/>
        </p:nvSpPr>
        <p:spPr>
          <a:xfrm>
            <a:off x="8071907" y="3749040"/>
            <a:ext cx="731520" cy="320040"/>
          </a:xfrm>
          <a:prstGeom prst="rect">
            <a:avLst/>
          </a:prstGeom>
          <a:noFill/>
          <a:ln/>
        </p:spPr>
        <p:txBody>
          <a:bodyPr wrap="square" lIns="0" tIns="0" rIns="0" bIns="0" rtlCol="0" anchor="ctr"/>
          <a:lstStyle/>
          <a:p>
            <a:pPr algn="l" indent="0" marL="0">
              <a:buNone/>
            </a:pPr>
            <a:r>
              <a:rPr lang="en-US" sz="1300" b="1" dirty="0">
                <a:solidFill>
                  <a:srgbClr val="7E5D4E"/>
                </a:solidFill>
                <a:latin typeface="Noto Sans KR" pitchFamily="34" charset="0"/>
                <a:ea typeface="Noto Sans KR" pitchFamily="34" charset="-122"/>
                <a:cs typeface="Noto Sans KR" pitchFamily="34" charset="-120"/>
              </a:rPr>
              <a:t>7.3%</a:t>
            </a:r>
            <a:endParaRPr lang="en-US" sz="1300" dirty="0"/>
          </a:p>
        </p:txBody>
      </p:sp>
      <p:sp>
        <p:nvSpPr>
          <p:cNvPr id="20" name="Text 18"/>
          <p:cNvSpPr/>
          <p:nvPr/>
        </p:nvSpPr>
        <p:spPr>
          <a:xfrm>
            <a:off x="6217920" y="4389120"/>
            <a:ext cx="5333695" cy="274320"/>
          </a:xfrm>
          <a:prstGeom prst="rect">
            <a:avLst/>
          </a:prstGeom>
          <a:noFill/>
          <a:ln/>
        </p:spPr>
        <p:txBody>
          <a:bodyPr wrap="square" lIns="0" tIns="0" rIns="0" bIns="0" rtlCol="0" anchor="ctr"/>
          <a:lstStyle/>
          <a:p>
            <a:pPr algn="l" indent="0" marL="0">
              <a:buNone/>
            </a:pPr>
            <a:r>
              <a:rPr lang="en-US" sz="1100" b="1" dirty="0">
                <a:solidFill>
                  <a:srgbClr val="88B04B"/>
                </a:solidFill>
                <a:latin typeface="Noto Sans KR" pitchFamily="34" charset="0"/>
                <a:ea typeface="Noto Sans KR" pitchFamily="34" charset="-122"/>
                <a:cs typeface="Noto Sans KR" pitchFamily="34" charset="-120"/>
              </a:rPr>
              <a:t>SWE-Agent (ACI)</a:t>
            </a:r>
            <a:endParaRPr lang="en-US" sz="1100" dirty="0"/>
          </a:p>
        </p:txBody>
      </p:sp>
      <p:sp>
        <p:nvSpPr>
          <p:cNvPr id="21" name="Shape 19"/>
          <p:cNvSpPr/>
          <p:nvPr/>
        </p:nvSpPr>
        <p:spPr>
          <a:xfrm>
            <a:off x="6400800" y="4663440"/>
            <a:ext cx="3895070" cy="320040"/>
          </a:xfrm>
          <a:prstGeom prst="rect">
            <a:avLst/>
          </a:prstGeom>
          <a:solidFill>
            <a:srgbClr val="88B04B"/>
          </a:solidFill>
          <a:ln w="12700">
            <a:solidFill>
              <a:srgbClr val="88B04B"/>
            </a:solidFill>
            <a:prstDash val="solid"/>
          </a:ln>
        </p:spPr>
      </p:sp>
      <p:sp>
        <p:nvSpPr>
          <p:cNvPr id="22" name="Text 20"/>
          <p:cNvSpPr/>
          <p:nvPr/>
        </p:nvSpPr>
        <p:spPr>
          <a:xfrm>
            <a:off x="10387310" y="4663440"/>
            <a:ext cx="731520" cy="320040"/>
          </a:xfrm>
          <a:prstGeom prst="rect">
            <a:avLst/>
          </a:prstGeom>
          <a:noFill/>
          <a:ln/>
        </p:spPr>
        <p:txBody>
          <a:bodyPr wrap="square" lIns="0" tIns="0" rIns="0" bIns="0" rtlCol="0" anchor="ctr"/>
          <a:lstStyle/>
          <a:p>
            <a:pPr algn="l" indent="0" marL="0">
              <a:buNone/>
            </a:pPr>
            <a:r>
              <a:rPr lang="en-US" sz="1300" b="1" dirty="0">
                <a:solidFill>
                  <a:srgbClr val="88B04B"/>
                </a:solidFill>
                <a:latin typeface="Noto Sans KR" pitchFamily="34" charset="0"/>
                <a:ea typeface="Noto Sans KR" pitchFamily="34" charset="-122"/>
                <a:cs typeface="Noto Sans KR" pitchFamily="34" charset="-120"/>
              </a:rPr>
              <a:t>18.0%</a:t>
            </a:r>
            <a:endParaRPr lang="en-US" sz="1300" dirty="0"/>
          </a:p>
        </p:txBody>
      </p:sp>
      <p:sp>
        <p:nvSpPr>
          <p:cNvPr id="23" name="Shape 21"/>
          <p:cNvSpPr/>
          <p:nvPr/>
        </p:nvSpPr>
        <p:spPr>
          <a:xfrm>
            <a:off x="6217920" y="5257800"/>
            <a:ext cx="5150815" cy="457200"/>
          </a:xfrm>
          <a:prstGeom prst="roundRect">
            <a:avLst>
              <a:gd name="adj" fmla="val 16000"/>
            </a:avLst>
          </a:prstGeom>
          <a:solidFill>
            <a:srgbClr val="E8F0D5"/>
          </a:solidFill>
          <a:ln w="9525">
            <a:solidFill>
              <a:srgbClr val="C9DCA1"/>
            </a:solidFill>
            <a:prstDash val="solid"/>
          </a:ln>
        </p:spPr>
      </p:sp>
      <p:sp>
        <p:nvSpPr>
          <p:cNvPr id="24" name="Text 22"/>
          <p:cNvSpPr/>
          <p:nvPr/>
        </p:nvSpPr>
        <p:spPr>
          <a:xfrm>
            <a:off x="6217920" y="5257800"/>
            <a:ext cx="5150815" cy="457200"/>
          </a:xfrm>
          <a:prstGeom prst="rect">
            <a:avLst/>
          </a:prstGeom>
          <a:noFill/>
          <a:ln/>
        </p:spPr>
        <p:txBody>
          <a:bodyPr wrap="square" lIns="0" tIns="0" rIns="0" bIns="0" rtlCol="0" anchor="ctr"/>
          <a:lstStyle/>
          <a:p>
            <a:pPr algn="ctr" indent="0" marL="0">
              <a:buNone/>
            </a:pPr>
            <a:r>
              <a:rPr lang="en-US" sz="1200" b="1" dirty="0">
                <a:solidFill>
                  <a:srgbClr val="88B04B"/>
                </a:solidFill>
                <a:latin typeface="Noto Sans KR" pitchFamily="34" charset="0"/>
                <a:ea typeface="Noto Sans KR" pitchFamily="34" charset="-122"/>
                <a:cs typeface="Noto Sans KR" pitchFamily="34" charset="-120"/>
              </a:rPr>
              <a:t>→ 모델을 바꾸기 전에, 인터페이스를 먼저 최적화하라.</a:t>
            </a:r>
            <a:endParaRPr lang="en-US" sz="1200" dirty="0"/>
          </a:p>
        </p:txBody>
      </p:sp>
      <p:sp>
        <p:nvSpPr>
          <p:cNvPr id="26" name="Text 23"/>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88B04B"/>
          </a:solidFill>
          <a:ln w="12700">
            <a:solidFill>
              <a:srgbClr val="88B04B"/>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INSIGHT  ·  2/3</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28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인사이트 ②  제한이 성능을 높인다</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“노이즈 제거 ﹕ 정보 제공”  —  직관에 반하는 발견</a:t>
            </a:r>
            <a:endParaRPr lang="en-US" sz="1800" dirty="0"/>
          </a:p>
        </p:txBody>
      </p:sp>
      <p:sp>
        <p:nvSpPr>
          <p:cNvPr id="7" name="Shape 5"/>
          <p:cNvSpPr/>
          <p:nvPr/>
        </p:nvSpPr>
        <p:spPr>
          <a:xfrm>
            <a:off x="548640" y="1691640"/>
            <a:ext cx="457200" cy="36576"/>
          </a:xfrm>
          <a:prstGeom prst="rect">
            <a:avLst/>
          </a:prstGeom>
          <a:solidFill>
            <a:srgbClr val="88B04B"/>
          </a:solidFill>
          <a:ln w="12700">
            <a:solidFill>
              <a:srgbClr val="88B04B"/>
            </a:solidFill>
            <a:prstDash val="solid"/>
          </a:ln>
        </p:spPr>
      </p:sp>
      <p:sp>
        <p:nvSpPr>
          <p:cNvPr id="8" name="Shape 6"/>
          <p:cNvSpPr/>
          <p:nvPr/>
        </p:nvSpPr>
        <p:spPr>
          <a:xfrm>
            <a:off x="548640" y="2148840"/>
            <a:ext cx="11094415" cy="548640"/>
          </a:xfrm>
          <a:prstGeom prst="roundRect">
            <a:avLst>
              <a:gd name="adj" fmla="val 16667"/>
            </a:avLst>
          </a:prstGeom>
          <a:solidFill>
            <a:srgbClr val="E8F0D5"/>
          </a:solidFill>
          <a:ln w="9525">
            <a:solidFill>
              <a:srgbClr val="C9DCA1"/>
            </a:solidFill>
            <a:prstDash val="solid"/>
          </a:ln>
        </p:spPr>
      </p:sp>
      <p:sp>
        <p:nvSpPr>
          <p:cNvPr id="9" name="Text 7"/>
          <p:cNvSpPr/>
          <p:nvPr/>
        </p:nvSpPr>
        <p:spPr>
          <a:xfrm>
            <a:off x="822960" y="2148840"/>
            <a:ext cx="10545775" cy="548640"/>
          </a:xfrm>
          <a:prstGeom prst="rect">
            <a:avLst/>
          </a:prstGeom>
          <a:noFill/>
          <a:ln/>
        </p:spPr>
        <p:txBody>
          <a:bodyPr wrap="square" lIns="0" tIns="0" rIns="0" bIns="0" rtlCol="0" anchor="ctr"/>
          <a:lstStyle/>
          <a:p>
            <a:pPr algn="l" indent="0" marL="0">
              <a:buNone/>
            </a:pPr>
            <a:r>
              <a:rPr lang="en-US" sz="1300" b="1" dirty="0">
                <a:solidFill>
                  <a:srgbClr val="88B04B"/>
                </a:solidFill>
                <a:latin typeface="Noto Sans KR" pitchFamily="34" charset="0"/>
                <a:ea typeface="Noto Sans KR" pitchFamily="34" charset="-122"/>
                <a:cs typeface="Noto Sans KR" pitchFamily="34" charset="-120"/>
              </a:rPr>
              <a:t>원리:  </a:t>
            </a:r>
            <a:pPr algn="l" indent="0" marL="0">
              <a:buNone/>
            </a:pPr>
            <a:r>
              <a:rPr lang="en-US" sz="1300" dirty="0">
                <a:solidFill>
                  <a:srgbClr val="7E5D4E"/>
                </a:solidFill>
                <a:latin typeface="Noto Sans KR" pitchFamily="34" charset="0"/>
                <a:ea typeface="Noto Sans KR" pitchFamily="34" charset="-122"/>
                <a:cs typeface="Noto Sans KR" pitchFamily="34" charset="-120"/>
              </a:rPr>
              <a:t>LLM은 너무 많은 정보에 혼란한다. 풀고 싶은 문제에 집중할 수 있게 </a:t>
            </a:r>
            <a:pPr algn="l" indent="0" marL="0">
              <a:buNone/>
            </a:pPr>
            <a:r>
              <a:rPr lang="en-US" sz="1300" b="1" dirty="0">
                <a:solidFill>
                  <a:srgbClr val="5C4033"/>
                </a:solidFill>
                <a:latin typeface="Noto Sans KR" pitchFamily="34" charset="0"/>
                <a:ea typeface="Noto Sans KR" pitchFamily="34" charset="-122"/>
                <a:cs typeface="Noto Sans KR" pitchFamily="34" charset="-120"/>
              </a:rPr>
              <a:t>범위를 좁혀주는 것</a:t>
            </a:r>
            <a:pPr algn="l" indent="0" marL="0">
              <a:buNone/>
            </a:pPr>
            <a:r>
              <a:rPr lang="en-US" sz="1300" dirty="0">
                <a:solidFill>
                  <a:srgbClr val="7E5D4E"/>
                </a:solidFill>
                <a:latin typeface="Noto Sans KR" pitchFamily="34" charset="0"/>
                <a:ea typeface="Noto Sans KR" pitchFamily="34" charset="-122"/>
                <a:cs typeface="Noto Sans KR" pitchFamily="34" charset="-120"/>
              </a:rPr>
              <a:t> 만으로도 성능이 향상된다.</a:t>
            </a:r>
            <a:endParaRPr lang="en-US" sz="1300" dirty="0"/>
          </a:p>
        </p:txBody>
      </p:sp>
      <p:sp>
        <p:nvSpPr>
          <p:cNvPr id="10" name="Shape 8"/>
          <p:cNvSpPr/>
          <p:nvPr/>
        </p:nvSpPr>
        <p:spPr>
          <a:xfrm>
            <a:off x="548640" y="2880360"/>
            <a:ext cx="5410048" cy="13716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1" name="Shape 9"/>
          <p:cNvSpPr/>
          <p:nvPr/>
        </p:nvSpPr>
        <p:spPr>
          <a:xfrm>
            <a:off x="548640" y="2880360"/>
            <a:ext cx="73152" cy="1371600"/>
          </a:xfrm>
          <a:prstGeom prst="rect">
            <a:avLst/>
          </a:prstGeom>
          <a:solidFill>
            <a:srgbClr val="F08B51"/>
          </a:solidFill>
          <a:ln w="12700">
            <a:solidFill>
              <a:srgbClr val="F08B51"/>
            </a:solidFill>
            <a:prstDash val="solid"/>
          </a:ln>
        </p:spPr>
      </p:sp>
      <p:sp>
        <p:nvSpPr>
          <p:cNvPr id="12" name="Shape 10"/>
          <p:cNvSpPr/>
          <p:nvPr/>
        </p:nvSpPr>
        <p:spPr>
          <a:xfrm>
            <a:off x="4678528" y="3108960"/>
            <a:ext cx="1051560" cy="274320"/>
          </a:xfrm>
          <a:prstGeom prst="roundRect">
            <a:avLst>
              <a:gd name="adj" fmla="val 50000"/>
            </a:avLst>
          </a:prstGeom>
          <a:solidFill>
            <a:srgbClr val="FDEAD9"/>
          </a:solidFill>
          <a:ln w="6350">
            <a:solidFill>
              <a:srgbClr val="F08B51"/>
            </a:solidFill>
            <a:prstDash val="solid"/>
          </a:ln>
        </p:spPr>
      </p:sp>
      <p:sp>
        <p:nvSpPr>
          <p:cNvPr id="13" name="Text 11"/>
          <p:cNvSpPr/>
          <p:nvPr/>
        </p:nvSpPr>
        <p:spPr>
          <a:xfrm>
            <a:off x="4678528" y="3108960"/>
            <a:ext cx="1051560" cy="274320"/>
          </a:xfrm>
          <a:prstGeom prst="rect">
            <a:avLst/>
          </a:prstGeom>
          <a:noFill/>
          <a:ln/>
        </p:spPr>
        <p:txBody>
          <a:bodyPr wrap="square" lIns="0" tIns="0" rIns="0" bIns="0" rtlCol="0" anchor="ctr"/>
          <a:lstStyle/>
          <a:p>
            <a:pPr algn="ctr" indent="0" marL="0">
              <a:buNone/>
            </a:pPr>
            <a:r>
              <a:rPr lang="en-US" sz="900" b="1" dirty="0">
                <a:solidFill>
                  <a:srgbClr val="F08B51"/>
                </a:solidFill>
                <a:latin typeface="Noto Sans KR" pitchFamily="34" charset="0"/>
                <a:ea typeface="Noto Sans KR" pitchFamily="34" charset="-122"/>
                <a:cs typeface="Noto Sans KR" pitchFamily="34" charset="-120"/>
              </a:rPr>
              <a:t>SWE-Agent</a:t>
            </a:r>
            <a:endParaRPr lang="en-US" sz="900" dirty="0"/>
          </a:p>
        </p:txBody>
      </p:sp>
      <p:sp>
        <p:nvSpPr>
          <p:cNvPr id="14" name="Text 12"/>
          <p:cNvSpPr/>
          <p:nvPr/>
        </p:nvSpPr>
        <p:spPr>
          <a:xfrm>
            <a:off x="822960" y="3108960"/>
            <a:ext cx="3947008" cy="457200"/>
          </a:xfrm>
          <a:prstGeom prst="rect">
            <a:avLst/>
          </a:prstGeom>
          <a:noFill/>
          <a:ln/>
        </p:spPr>
        <p:txBody>
          <a:bodyPr wrap="square" lIns="0" tIns="0" rIns="0" bIns="0" rtlCol="0" anchor="t"/>
          <a:lstStyle/>
          <a:p>
            <a:pPr algn="l" indent="0" marL="0">
              <a:buNone/>
            </a:pPr>
            <a:r>
              <a:rPr lang="en-US" sz="1700" b="1" dirty="0">
                <a:solidFill>
                  <a:srgbClr val="5C4033"/>
                </a:solidFill>
                <a:latin typeface="Noto Sans KR" pitchFamily="34" charset="0"/>
                <a:ea typeface="Noto Sans KR" pitchFamily="34" charset="-122"/>
                <a:cs typeface="Noto Sans KR" pitchFamily="34" charset="-120"/>
              </a:rPr>
              <a:t>검색 50 개 제한</a:t>
            </a:r>
            <a:endParaRPr lang="en-US" sz="1700" dirty="0"/>
          </a:p>
        </p:txBody>
      </p:sp>
      <p:sp>
        <p:nvSpPr>
          <p:cNvPr id="15" name="Shape 13"/>
          <p:cNvSpPr/>
          <p:nvPr/>
        </p:nvSpPr>
        <p:spPr>
          <a:xfrm>
            <a:off x="822960" y="3657600"/>
            <a:ext cx="365760" cy="27432"/>
          </a:xfrm>
          <a:prstGeom prst="rect">
            <a:avLst/>
          </a:prstGeom>
          <a:solidFill>
            <a:srgbClr val="F08B51"/>
          </a:solidFill>
          <a:ln w="12700">
            <a:solidFill>
              <a:srgbClr val="F08B51"/>
            </a:solidFill>
            <a:prstDash val="solid"/>
          </a:ln>
        </p:spPr>
      </p:sp>
      <p:sp>
        <p:nvSpPr>
          <p:cNvPr id="16" name="Text 14"/>
          <p:cNvSpPr/>
          <p:nvPr/>
        </p:nvSpPr>
        <p:spPr>
          <a:xfrm>
            <a:off x="822960" y="3749040"/>
            <a:ext cx="4861408" cy="457200"/>
          </a:xfrm>
          <a:prstGeom prst="rect">
            <a:avLst/>
          </a:prstGeom>
          <a:noFill/>
          <a:ln/>
        </p:spPr>
        <p:txBody>
          <a:bodyPr wrap="square" lIns="0" tIns="0" rIns="0" bIns="0" rtlCol="0" anchor="t"/>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더 구체적인 쿼리 유도 → 정교도 ↑</a:t>
            </a:r>
            <a:endParaRPr lang="en-US" sz="1250" dirty="0"/>
          </a:p>
        </p:txBody>
      </p:sp>
      <p:sp>
        <p:nvSpPr>
          <p:cNvPr id="17" name="Shape 15"/>
          <p:cNvSpPr/>
          <p:nvPr/>
        </p:nvSpPr>
        <p:spPr>
          <a:xfrm>
            <a:off x="6233008" y="2880360"/>
            <a:ext cx="5410048" cy="13716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8" name="Shape 16"/>
          <p:cNvSpPr/>
          <p:nvPr/>
        </p:nvSpPr>
        <p:spPr>
          <a:xfrm>
            <a:off x="6233008" y="2880360"/>
            <a:ext cx="73152" cy="1371600"/>
          </a:xfrm>
          <a:prstGeom prst="rect">
            <a:avLst/>
          </a:prstGeom>
          <a:solidFill>
            <a:srgbClr val="F08B51"/>
          </a:solidFill>
          <a:ln w="12700">
            <a:solidFill>
              <a:srgbClr val="F08B51"/>
            </a:solidFill>
            <a:prstDash val="solid"/>
          </a:ln>
        </p:spPr>
      </p:sp>
      <p:sp>
        <p:nvSpPr>
          <p:cNvPr id="19" name="Shape 17"/>
          <p:cNvSpPr/>
          <p:nvPr/>
        </p:nvSpPr>
        <p:spPr>
          <a:xfrm>
            <a:off x="10362895" y="3108960"/>
            <a:ext cx="1051560" cy="274320"/>
          </a:xfrm>
          <a:prstGeom prst="roundRect">
            <a:avLst>
              <a:gd name="adj" fmla="val 50000"/>
            </a:avLst>
          </a:prstGeom>
          <a:solidFill>
            <a:srgbClr val="FDEAD9"/>
          </a:solidFill>
          <a:ln w="6350">
            <a:solidFill>
              <a:srgbClr val="F08B51"/>
            </a:solidFill>
            <a:prstDash val="solid"/>
          </a:ln>
        </p:spPr>
      </p:sp>
      <p:sp>
        <p:nvSpPr>
          <p:cNvPr id="20" name="Text 18"/>
          <p:cNvSpPr/>
          <p:nvPr/>
        </p:nvSpPr>
        <p:spPr>
          <a:xfrm>
            <a:off x="10362895" y="3108960"/>
            <a:ext cx="1051560" cy="274320"/>
          </a:xfrm>
          <a:prstGeom prst="rect">
            <a:avLst/>
          </a:prstGeom>
          <a:noFill/>
          <a:ln/>
        </p:spPr>
        <p:txBody>
          <a:bodyPr wrap="square" lIns="0" tIns="0" rIns="0" bIns="0" rtlCol="0" anchor="ctr"/>
          <a:lstStyle/>
          <a:p>
            <a:pPr algn="ctr" indent="0" marL="0">
              <a:buNone/>
            </a:pPr>
            <a:r>
              <a:rPr lang="en-US" sz="900" b="1" dirty="0">
                <a:solidFill>
                  <a:srgbClr val="F08B51"/>
                </a:solidFill>
                <a:latin typeface="Noto Sans KR" pitchFamily="34" charset="0"/>
                <a:ea typeface="Noto Sans KR" pitchFamily="34" charset="-122"/>
                <a:cs typeface="Noto Sans KR" pitchFamily="34" charset="-120"/>
              </a:rPr>
              <a:t>SWE-Agent</a:t>
            </a:r>
            <a:endParaRPr lang="en-US" sz="900" dirty="0"/>
          </a:p>
        </p:txBody>
      </p:sp>
      <p:sp>
        <p:nvSpPr>
          <p:cNvPr id="21" name="Text 19"/>
          <p:cNvSpPr/>
          <p:nvPr/>
        </p:nvSpPr>
        <p:spPr>
          <a:xfrm>
            <a:off x="6507328" y="3108960"/>
            <a:ext cx="3947008" cy="457200"/>
          </a:xfrm>
          <a:prstGeom prst="rect">
            <a:avLst/>
          </a:prstGeom>
          <a:noFill/>
          <a:ln/>
        </p:spPr>
        <p:txBody>
          <a:bodyPr wrap="square" lIns="0" tIns="0" rIns="0" bIns="0" rtlCol="0" anchor="t"/>
          <a:lstStyle/>
          <a:p>
            <a:pPr algn="l" indent="0" marL="0">
              <a:buNone/>
            </a:pPr>
            <a:r>
              <a:rPr lang="en-US" sz="1700" b="1" dirty="0">
                <a:solidFill>
                  <a:srgbClr val="5C4033"/>
                </a:solidFill>
                <a:latin typeface="Noto Sans KR" pitchFamily="34" charset="0"/>
                <a:ea typeface="Noto Sans KR" pitchFamily="34" charset="-122"/>
                <a:cs typeface="Noto Sans KR" pitchFamily="34" charset="-120"/>
              </a:rPr>
              <a:t>파일 100 줄 제한</a:t>
            </a:r>
            <a:endParaRPr lang="en-US" sz="1700" dirty="0"/>
          </a:p>
        </p:txBody>
      </p:sp>
      <p:sp>
        <p:nvSpPr>
          <p:cNvPr id="22" name="Shape 20"/>
          <p:cNvSpPr/>
          <p:nvPr/>
        </p:nvSpPr>
        <p:spPr>
          <a:xfrm>
            <a:off x="6507328" y="3657600"/>
            <a:ext cx="365760" cy="27432"/>
          </a:xfrm>
          <a:prstGeom prst="rect">
            <a:avLst/>
          </a:prstGeom>
          <a:solidFill>
            <a:srgbClr val="F08B51"/>
          </a:solidFill>
          <a:ln w="12700">
            <a:solidFill>
              <a:srgbClr val="F08B51"/>
            </a:solidFill>
            <a:prstDash val="solid"/>
          </a:ln>
        </p:spPr>
      </p:sp>
      <p:sp>
        <p:nvSpPr>
          <p:cNvPr id="23" name="Text 21"/>
          <p:cNvSpPr/>
          <p:nvPr/>
        </p:nvSpPr>
        <p:spPr>
          <a:xfrm>
            <a:off x="6507328" y="3749040"/>
            <a:ext cx="4861408" cy="457200"/>
          </a:xfrm>
          <a:prstGeom prst="rect">
            <a:avLst/>
          </a:prstGeom>
          <a:noFill/>
          <a:ln/>
        </p:spPr>
        <p:txBody>
          <a:bodyPr wrap="square" lIns="0" tIns="0" rIns="0" bIns="0" rtlCol="0" anchor="t"/>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필요한 부분에 집중 → 컨텍스트 낭비 ↓</a:t>
            </a:r>
            <a:endParaRPr lang="en-US" sz="1250" dirty="0"/>
          </a:p>
        </p:txBody>
      </p:sp>
      <p:sp>
        <p:nvSpPr>
          <p:cNvPr id="24" name="Shape 22"/>
          <p:cNvSpPr/>
          <p:nvPr/>
        </p:nvSpPr>
        <p:spPr>
          <a:xfrm>
            <a:off x="548640" y="4526280"/>
            <a:ext cx="5410048" cy="13716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5" name="Shape 23"/>
          <p:cNvSpPr/>
          <p:nvPr/>
        </p:nvSpPr>
        <p:spPr>
          <a:xfrm>
            <a:off x="548640" y="4526280"/>
            <a:ext cx="73152" cy="1371600"/>
          </a:xfrm>
          <a:prstGeom prst="rect">
            <a:avLst/>
          </a:prstGeom>
          <a:solidFill>
            <a:srgbClr val="F08B51"/>
          </a:solidFill>
          <a:ln w="12700">
            <a:solidFill>
              <a:srgbClr val="F08B51"/>
            </a:solidFill>
            <a:prstDash val="solid"/>
          </a:ln>
        </p:spPr>
      </p:sp>
      <p:sp>
        <p:nvSpPr>
          <p:cNvPr id="26" name="Shape 24"/>
          <p:cNvSpPr/>
          <p:nvPr/>
        </p:nvSpPr>
        <p:spPr>
          <a:xfrm>
            <a:off x="4678528" y="4754880"/>
            <a:ext cx="1051560" cy="274320"/>
          </a:xfrm>
          <a:prstGeom prst="roundRect">
            <a:avLst>
              <a:gd name="adj" fmla="val 50000"/>
            </a:avLst>
          </a:prstGeom>
          <a:solidFill>
            <a:srgbClr val="FDEAD9"/>
          </a:solidFill>
          <a:ln w="6350">
            <a:solidFill>
              <a:srgbClr val="F08B51"/>
            </a:solidFill>
            <a:prstDash val="solid"/>
          </a:ln>
        </p:spPr>
      </p:sp>
      <p:sp>
        <p:nvSpPr>
          <p:cNvPr id="27" name="Text 25"/>
          <p:cNvSpPr/>
          <p:nvPr/>
        </p:nvSpPr>
        <p:spPr>
          <a:xfrm>
            <a:off x="4678528" y="4754880"/>
            <a:ext cx="1051560" cy="274320"/>
          </a:xfrm>
          <a:prstGeom prst="rect">
            <a:avLst/>
          </a:prstGeom>
          <a:noFill/>
          <a:ln/>
        </p:spPr>
        <p:txBody>
          <a:bodyPr wrap="square" lIns="0" tIns="0" rIns="0" bIns="0" rtlCol="0" anchor="ctr"/>
          <a:lstStyle/>
          <a:p>
            <a:pPr algn="ctr" indent="0" marL="0">
              <a:buNone/>
            </a:pPr>
            <a:r>
              <a:rPr lang="en-US" sz="900" b="1" dirty="0">
                <a:solidFill>
                  <a:srgbClr val="F08B51"/>
                </a:solidFill>
                <a:latin typeface="Noto Sans KR" pitchFamily="34" charset="0"/>
                <a:ea typeface="Noto Sans KR" pitchFamily="34" charset="-122"/>
                <a:cs typeface="Noto Sans KR" pitchFamily="34" charset="-120"/>
              </a:rPr>
              <a:t>SWE-Agent</a:t>
            </a:r>
            <a:endParaRPr lang="en-US" sz="900" dirty="0"/>
          </a:p>
        </p:txBody>
      </p:sp>
      <p:sp>
        <p:nvSpPr>
          <p:cNvPr id="28" name="Text 26"/>
          <p:cNvSpPr/>
          <p:nvPr/>
        </p:nvSpPr>
        <p:spPr>
          <a:xfrm>
            <a:off x="822960" y="4754880"/>
            <a:ext cx="3947008" cy="457200"/>
          </a:xfrm>
          <a:prstGeom prst="rect">
            <a:avLst/>
          </a:prstGeom>
          <a:noFill/>
          <a:ln/>
        </p:spPr>
        <p:txBody>
          <a:bodyPr wrap="square" lIns="0" tIns="0" rIns="0" bIns="0" rtlCol="0" anchor="t"/>
          <a:lstStyle/>
          <a:p>
            <a:pPr algn="l" indent="0" marL="0">
              <a:buNone/>
            </a:pPr>
            <a:r>
              <a:rPr lang="en-US" sz="1700" b="1" dirty="0">
                <a:solidFill>
                  <a:srgbClr val="5C4033"/>
                </a:solidFill>
                <a:latin typeface="Noto Sans KR" pitchFamily="34" charset="0"/>
                <a:ea typeface="Noto Sans KR" pitchFamily="34" charset="-122"/>
                <a:cs typeface="Noto Sans KR" pitchFamily="34" charset="-120"/>
              </a:rPr>
              <a:t>린터 거부</a:t>
            </a:r>
            <a:endParaRPr lang="en-US" sz="1700" dirty="0"/>
          </a:p>
        </p:txBody>
      </p:sp>
      <p:sp>
        <p:nvSpPr>
          <p:cNvPr id="29" name="Shape 27"/>
          <p:cNvSpPr/>
          <p:nvPr/>
        </p:nvSpPr>
        <p:spPr>
          <a:xfrm>
            <a:off x="822960" y="5303520"/>
            <a:ext cx="365760" cy="27432"/>
          </a:xfrm>
          <a:prstGeom prst="rect">
            <a:avLst/>
          </a:prstGeom>
          <a:solidFill>
            <a:srgbClr val="F08B51"/>
          </a:solidFill>
          <a:ln w="12700">
            <a:solidFill>
              <a:srgbClr val="F08B51"/>
            </a:solidFill>
            <a:prstDash val="solid"/>
          </a:ln>
        </p:spPr>
      </p:sp>
      <p:sp>
        <p:nvSpPr>
          <p:cNvPr id="30" name="Text 28"/>
          <p:cNvSpPr/>
          <p:nvPr/>
        </p:nvSpPr>
        <p:spPr>
          <a:xfrm>
            <a:off x="822960" y="5394960"/>
            <a:ext cx="4861408" cy="457200"/>
          </a:xfrm>
          <a:prstGeom prst="rect">
            <a:avLst/>
          </a:prstGeom>
          <a:noFill/>
          <a:ln/>
        </p:spPr>
        <p:txBody>
          <a:bodyPr wrap="square" lIns="0" tIns="0" rIns="0" bIns="0" rtlCol="0" anchor="t"/>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잘못된 상태 원천 차단 → 복구 비용 제거</a:t>
            </a:r>
            <a:endParaRPr lang="en-US" sz="1250" dirty="0"/>
          </a:p>
        </p:txBody>
      </p:sp>
      <p:sp>
        <p:nvSpPr>
          <p:cNvPr id="31" name="Shape 29"/>
          <p:cNvSpPr/>
          <p:nvPr/>
        </p:nvSpPr>
        <p:spPr>
          <a:xfrm>
            <a:off x="6233008" y="4526280"/>
            <a:ext cx="5410048" cy="13716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32" name="Shape 30"/>
          <p:cNvSpPr/>
          <p:nvPr/>
        </p:nvSpPr>
        <p:spPr>
          <a:xfrm>
            <a:off x="6233008" y="4526280"/>
            <a:ext cx="73152" cy="1371600"/>
          </a:xfrm>
          <a:prstGeom prst="rect">
            <a:avLst/>
          </a:prstGeom>
          <a:solidFill>
            <a:srgbClr val="F4A6B8"/>
          </a:solidFill>
          <a:ln w="12700">
            <a:solidFill>
              <a:srgbClr val="F4A6B8"/>
            </a:solidFill>
            <a:prstDash val="solid"/>
          </a:ln>
        </p:spPr>
      </p:sp>
      <p:sp>
        <p:nvSpPr>
          <p:cNvPr id="33" name="Shape 31"/>
          <p:cNvSpPr/>
          <p:nvPr/>
        </p:nvSpPr>
        <p:spPr>
          <a:xfrm>
            <a:off x="10362895" y="4754880"/>
            <a:ext cx="1051560" cy="274320"/>
          </a:xfrm>
          <a:prstGeom prst="roundRect">
            <a:avLst>
              <a:gd name="adj" fmla="val 50000"/>
            </a:avLst>
          </a:prstGeom>
          <a:solidFill>
            <a:srgbClr val="FBE9EF"/>
          </a:solidFill>
          <a:ln w="6350">
            <a:solidFill>
              <a:srgbClr val="F4A6B8"/>
            </a:solidFill>
            <a:prstDash val="solid"/>
          </a:ln>
        </p:spPr>
      </p:sp>
      <p:sp>
        <p:nvSpPr>
          <p:cNvPr id="34" name="Text 32"/>
          <p:cNvSpPr/>
          <p:nvPr/>
        </p:nvSpPr>
        <p:spPr>
          <a:xfrm>
            <a:off x="10362895" y="4754880"/>
            <a:ext cx="1051560" cy="274320"/>
          </a:xfrm>
          <a:prstGeom prst="rect">
            <a:avLst/>
          </a:prstGeom>
          <a:noFill/>
          <a:ln/>
        </p:spPr>
        <p:txBody>
          <a:bodyPr wrap="square" lIns="0" tIns="0" rIns="0" bIns="0" rtlCol="0" anchor="ctr"/>
          <a:lstStyle/>
          <a:p>
            <a:pPr algn="ctr" indent="0" marL="0">
              <a:buNone/>
            </a:pPr>
            <a:r>
              <a:rPr lang="en-US" sz="900" b="1" dirty="0">
                <a:solidFill>
                  <a:srgbClr val="F4A6B8"/>
                </a:solidFill>
                <a:latin typeface="Noto Sans KR" pitchFamily="34" charset="0"/>
                <a:ea typeface="Noto Sans KR" pitchFamily="34" charset="-122"/>
                <a:cs typeface="Noto Sans KR" pitchFamily="34" charset="-120"/>
              </a:rPr>
              <a:t>DeerFlow</a:t>
            </a:r>
            <a:endParaRPr lang="en-US" sz="900" dirty="0"/>
          </a:p>
        </p:txBody>
      </p:sp>
      <p:sp>
        <p:nvSpPr>
          <p:cNvPr id="35" name="Text 33"/>
          <p:cNvSpPr/>
          <p:nvPr/>
        </p:nvSpPr>
        <p:spPr>
          <a:xfrm>
            <a:off x="6507328" y="4754880"/>
            <a:ext cx="3947008" cy="457200"/>
          </a:xfrm>
          <a:prstGeom prst="rect">
            <a:avLst/>
          </a:prstGeom>
          <a:noFill/>
          <a:ln/>
        </p:spPr>
        <p:txBody>
          <a:bodyPr wrap="square" lIns="0" tIns="0" rIns="0" bIns="0" rtlCol="0" anchor="t"/>
          <a:lstStyle/>
          <a:p>
            <a:pPr algn="l" indent="0" marL="0">
              <a:buNone/>
            </a:pPr>
            <a:r>
              <a:rPr lang="en-US" sz="1700" b="1" dirty="0">
                <a:solidFill>
                  <a:srgbClr val="5C4033"/>
                </a:solidFill>
                <a:latin typeface="Noto Sans KR" pitchFamily="34" charset="0"/>
                <a:ea typeface="Noto Sans KR" pitchFamily="34" charset="-122"/>
                <a:cs typeface="Noto Sans KR" pitchFamily="34" charset="-120"/>
              </a:rPr>
              <a:t>Subagent 3 개 제한</a:t>
            </a:r>
            <a:endParaRPr lang="en-US" sz="1700" dirty="0"/>
          </a:p>
        </p:txBody>
      </p:sp>
      <p:sp>
        <p:nvSpPr>
          <p:cNvPr id="36" name="Shape 34"/>
          <p:cNvSpPr/>
          <p:nvPr/>
        </p:nvSpPr>
        <p:spPr>
          <a:xfrm>
            <a:off x="6507328" y="5303520"/>
            <a:ext cx="365760" cy="27432"/>
          </a:xfrm>
          <a:prstGeom prst="rect">
            <a:avLst/>
          </a:prstGeom>
          <a:solidFill>
            <a:srgbClr val="F4A6B8"/>
          </a:solidFill>
          <a:ln w="12700">
            <a:solidFill>
              <a:srgbClr val="F4A6B8"/>
            </a:solidFill>
            <a:prstDash val="solid"/>
          </a:ln>
        </p:spPr>
      </p:sp>
      <p:sp>
        <p:nvSpPr>
          <p:cNvPr id="37" name="Text 35"/>
          <p:cNvSpPr/>
          <p:nvPr/>
        </p:nvSpPr>
        <p:spPr>
          <a:xfrm>
            <a:off x="6507328" y="5394960"/>
            <a:ext cx="4861408" cy="457200"/>
          </a:xfrm>
          <a:prstGeom prst="rect">
            <a:avLst/>
          </a:prstGeom>
          <a:noFill/>
          <a:ln/>
        </p:spPr>
        <p:txBody>
          <a:bodyPr wrap="square" lIns="0" tIns="0" rIns="0" bIns="0" rtlCol="0" anchor="t"/>
          <a:lstStyle/>
          <a:p>
            <a:pPr algn="l" indent="0" marL="0">
              <a:buNone/>
            </a:pPr>
            <a:r>
              <a:rPr lang="en-US" sz="1250" dirty="0">
                <a:solidFill>
                  <a:srgbClr val="7E5D4E"/>
                </a:solidFill>
                <a:latin typeface="Noto Sans KR" pitchFamily="34" charset="0"/>
                <a:ea typeface="Noto Sans KR" pitchFamily="34" charset="-122"/>
                <a:cs typeface="Noto Sans KR" pitchFamily="34" charset="-120"/>
              </a:rPr>
              <a:t>리소스 관리 → 안정적 실행</a:t>
            </a:r>
            <a:endParaRPr lang="en-US" sz="1250" dirty="0"/>
          </a:p>
        </p:txBody>
      </p:sp>
      <p:sp>
        <p:nvSpPr>
          <p:cNvPr id="38" name="Text 36"/>
          <p:cNvSpPr/>
          <p:nvPr/>
        </p:nvSpPr>
        <p:spPr>
          <a:xfrm>
            <a:off x="548640" y="6126480"/>
            <a:ext cx="11094415" cy="365760"/>
          </a:xfrm>
          <a:prstGeom prst="rect">
            <a:avLst/>
          </a:prstGeom>
          <a:noFill/>
          <a:ln/>
        </p:spPr>
        <p:txBody>
          <a:bodyPr wrap="square" lIns="0" tIns="0" rIns="0" bIns="0" rtlCol="0" anchor="ctr"/>
          <a:lstStyle/>
          <a:p>
            <a:pPr algn="l" indent="0" marL="0">
              <a:buNone/>
            </a:pPr>
            <a:r>
              <a:rPr lang="en-US" sz="1400" b="1" dirty="0">
                <a:solidFill>
                  <a:srgbClr val="88B04B"/>
                </a:solidFill>
                <a:latin typeface="Noto Sans KR" pitchFamily="34" charset="0"/>
                <a:ea typeface="Noto Sans KR" pitchFamily="34" charset="-122"/>
                <a:cs typeface="Noto Sans KR" pitchFamily="34" charset="-120"/>
              </a:rPr>
              <a:t>→  </a:t>
            </a:r>
            <a:pPr algn="l" indent="0" marL="0">
              <a:buNone/>
            </a:pPr>
            <a:r>
              <a:rPr lang="en-US" sz="1400" b="1" dirty="0">
                <a:solidFill>
                  <a:srgbClr val="5C4033"/>
                </a:solidFill>
                <a:latin typeface="Noto Sans KR" pitchFamily="34" charset="0"/>
                <a:ea typeface="Noto Sans KR" pitchFamily="34" charset="-122"/>
                <a:cs typeface="Noto Sans KR" pitchFamily="34" charset="-120"/>
              </a:rPr>
              <a:t>“더 많이” 가 아니라 “더 적절하게”. </a:t>
            </a:r>
            <a:pPr algn="l" indent="0" marL="0">
              <a:buNone/>
            </a:pPr>
            <a:r>
              <a:rPr lang="en-US" sz="1300" i="1" dirty="0">
                <a:solidFill>
                  <a:srgbClr val="7E5D4E"/>
                </a:solidFill>
                <a:latin typeface="Noto Sans KR" pitchFamily="34" charset="0"/>
                <a:ea typeface="Noto Sans KR" pitchFamily="34" charset="-122"/>
                <a:cs typeface="Noto Sans KR" pitchFamily="34" charset="-120"/>
              </a:rPr>
              <a:t>에이전트의 시야를 좁혀 주는 것이 오히려 능력을 끌어올린다.</a:t>
            </a:r>
            <a:endParaRPr lang="en-US" sz="1400" dirty="0"/>
          </a:p>
        </p:txBody>
      </p:sp>
      <p:sp>
        <p:nvSpPr>
          <p:cNvPr id="40" name="Text 37"/>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88B04B"/>
          </a:solidFill>
          <a:ln w="12700">
            <a:solidFill>
              <a:srgbClr val="88B04B"/>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INSIGHT  ·  3/3</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29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인사이트 ③  가드레일의 ROI 가 가장 높다</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더 나은 도구를 주는 것보다, 실수를 못하게 막는 것이 효과적이다</a:t>
            </a:r>
            <a:endParaRPr lang="en-US" sz="1800" dirty="0"/>
          </a:p>
        </p:txBody>
      </p:sp>
      <p:sp>
        <p:nvSpPr>
          <p:cNvPr id="7" name="Shape 5"/>
          <p:cNvSpPr/>
          <p:nvPr/>
        </p:nvSpPr>
        <p:spPr>
          <a:xfrm>
            <a:off x="548640" y="1691640"/>
            <a:ext cx="457200" cy="36576"/>
          </a:xfrm>
          <a:prstGeom prst="rect">
            <a:avLst/>
          </a:prstGeom>
          <a:solidFill>
            <a:srgbClr val="88B04B"/>
          </a:solidFill>
          <a:ln w="12700">
            <a:solidFill>
              <a:srgbClr val="88B04B"/>
            </a:solidFill>
            <a:prstDash val="solid"/>
          </a:ln>
        </p:spPr>
      </p:sp>
      <p:sp>
        <p:nvSpPr>
          <p:cNvPr id="8" name="Shape 6"/>
          <p:cNvSpPr/>
          <p:nvPr/>
        </p:nvSpPr>
        <p:spPr>
          <a:xfrm>
            <a:off x="548640" y="2148840"/>
            <a:ext cx="5318608" cy="28346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148840"/>
            <a:ext cx="73152" cy="2834640"/>
          </a:xfrm>
          <a:prstGeom prst="rect">
            <a:avLst/>
          </a:prstGeom>
          <a:solidFill>
            <a:srgbClr val="F08B51"/>
          </a:solidFill>
          <a:ln w="12700">
            <a:solidFill>
              <a:srgbClr val="F08B51"/>
            </a:solidFill>
            <a:prstDash val="solid"/>
          </a:ln>
        </p:spPr>
      </p:sp>
      <p:sp>
        <p:nvSpPr>
          <p:cNvPr id="10" name="Text 8"/>
          <p:cNvSpPr/>
          <p:nvPr/>
        </p:nvSpPr>
        <p:spPr>
          <a:xfrm>
            <a:off x="822960" y="2377440"/>
            <a:ext cx="4952848" cy="320040"/>
          </a:xfrm>
          <a:prstGeom prst="rect">
            <a:avLst/>
          </a:prstGeom>
          <a:noFill/>
          <a:ln/>
        </p:spPr>
        <p:txBody>
          <a:bodyPr wrap="square" lIns="0" tIns="0" rIns="0" bIns="0" rtlCol="0" anchor="ctr"/>
          <a:lstStyle/>
          <a:p>
            <a:pPr algn="l" indent="0" marL="0">
              <a:buNone/>
            </a:pPr>
            <a:r>
              <a:rPr lang="en-US" sz="1200" b="1" dirty="0">
                <a:solidFill>
                  <a:srgbClr val="F08B51"/>
                </a:solidFill>
                <a:latin typeface="Noto Sans KR" pitchFamily="34" charset="0"/>
                <a:ea typeface="Noto Sans KR" pitchFamily="34" charset="-122"/>
                <a:cs typeface="Noto Sans KR" pitchFamily="34" charset="-120"/>
              </a:rPr>
              <a:t>SWE-Agent  ·  Ablation</a:t>
            </a:r>
            <a:endParaRPr lang="en-US" sz="1200" dirty="0"/>
          </a:p>
        </p:txBody>
      </p:sp>
      <p:sp>
        <p:nvSpPr>
          <p:cNvPr id="11" name="Text 9"/>
          <p:cNvSpPr/>
          <p:nvPr/>
        </p:nvSpPr>
        <p:spPr>
          <a:xfrm>
            <a:off x="822960" y="2743200"/>
            <a:ext cx="4952848" cy="457200"/>
          </a:xfrm>
          <a:prstGeom prst="rect">
            <a:avLst/>
          </a:prstGeom>
          <a:noFill/>
          <a:ln/>
        </p:spPr>
        <p:txBody>
          <a:bodyPr wrap="square" lIns="0" tIns="0" rIns="0" bIns="0" rtlCol="0" anchor="ctr"/>
          <a:lstStyle/>
          <a:p>
            <a:pPr algn="l" indent="0" marL="0">
              <a:buNone/>
            </a:pPr>
            <a:r>
              <a:rPr lang="en-US" sz="2200" b="1" dirty="0">
                <a:solidFill>
                  <a:srgbClr val="5C4033"/>
                </a:solidFill>
                <a:latin typeface="Nanum Myeongjo" pitchFamily="34" charset="0"/>
                <a:ea typeface="Nanum Myeongjo" pitchFamily="34" charset="-122"/>
                <a:cs typeface="Nanum Myeongjo" pitchFamily="34" charset="-120"/>
              </a:rPr>
              <a:t>Linter Guard</a:t>
            </a:r>
            <a:endParaRPr lang="en-US" sz="2200" dirty="0"/>
          </a:p>
        </p:txBody>
      </p:sp>
      <p:sp>
        <p:nvSpPr>
          <p:cNvPr id="12" name="Text 10"/>
          <p:cNvSpPr/>
          <p:nvPr/>
        </p:nvSpPr>
        <p:spPr>
          <a:xfrm>
            <a:off x="822960" y="3246120"/>
            <a:ext cx="4952848" cy="640080"/>
          </a:xfrm>
          <a:prstGeom prst="rect">
            <a:avLst/>
          </a:prstGeom>
          <a:noFill/>
          <a:ln/>
        </p:spPr>
        <p:txBody>
          <a:bodyPr wrap="square" lIns="0" tIns="0" rIns="0" bIns="0" rtlCol="0" anchor="ctr"/>
          <a:lstStyle/>
          <a:p>
            <a:pPr algn="l" indent="0" marL="0">
              <a:buNone/>
            </a:pPr>
            <a:r>
              <a:rPr lang="en-US" sz="4200" b="1" dirty="0">
                <a:solidFill>
                  <a:srgbClr val="88B04B"/>
                </a:solidFill>
                <a:latin typeface="Nanum Myeongjo" pitchFamily="34" charset="0"/>
                <a:ea typeface="Nanum Myeongjo" pitchFamily="34" charset="-122"/>
                <a:cs typeface="Nanum Myeongjo" pitchFamily="34" charset="-120"/>
              </a:rPr>
              <a:t>+3.3pp</a:t>
            </a:r>
            <a:endParaRPr lang="en-US" sz="4200" dirty="0"/>
          </a:p>
        </p:txBody>
      </p:sp>
      <p:sp>
        <p:nvSpPr>
          <p:cNvPr id="13" name="Text 11"/>
          <p:cNvSpPr/>
          <p:nvPr/>
        </p:nvSpPr>
        <p:spPr>
          <a:xfrm>
            <a:off x="822960" y="3931920"/>
            <a:ext cx="4952848" cy="320040"/>
          </a:xfrm>
          <a:prstGeom prst="rect">
            <a:avLst/>
          </a:prstGeom>
          <a:noFill/>
          <a:ln/>
        </p:spPr>
        <p:txBody>
          <a:bodyPr wrap="square" lIns="0" tIns="0" rIns="0" bIns="0" rtlCol="0" anchor="ctr"/>
          <a:lstStyle/>
          <a:p>
            <a:pPr algn="l" indent="0" marL="0">
              <a:buNone/>
            </a:pPr>
            <a:r>
              <a:rPr lang="en-US" sz="1200" b="1" dirty="0">
                <a:solidFill>
                  <a:srgbClr val="7E5D4E"/>
                </a:solidFill>
                <a:latin typeface="Noto Sans KR" pitchFamily="34" charset="0"/>
                <a:ea typeface="Noto Sans KR" pitchFamily="34" charset="-122"/>
                <a:cs typeface="Noto Sans KR" pitchFamily="34" charset="-120"/>
              </a:rPr>
              <a:t>단일 컴포넌트 중 가장 큰 기여</a:t>
            </a:r>
            <a:endParaRPr lang="en-US" sz="1200" dirty="0"/>
          </a:p>
        </p:txBody>
      </p:sp>
      <p:sp>
        <p:nvSpPr>
          <p:cNvPr id="14" name="Text 12"/>
          <p:cNvSpPr/>
          <p:nvPr/>
        </p:nvSpPr>
        <p:spPr>
          <a:xfrm>
            <a:off x="822960" y="4297680"/>
            <a:ext cx="4769968" cy="502920"/>
          </a:xfrm>
          <a:prstGeom prst="rect">
            <a:avLst/>
          </a:prstGeom>
          <a:noFill/>
          <a:ln/>
        </p:spPr>
        <p:txBody>
          <a:bodyPr wrap="square" lIns="0" tIns="0" rIns="0" bIns="0" rtlCol="0" anchor="t"/>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File Viewer (+2.7)  ·  Search (+2.7)  ·  Edit (+2.0) 보다 </a:t>
            </a:r>
            <a:pPr algn="l" indent="0" marL="0">
              <a:buNone/>
            </a:pPr>
            <a:r>
              <a:rPr lang="en-US" sz="1100" b="1" dirty="0">
                <a:solidFill>
                  <a:srgbClr val="F08B51"/>
                </a:solidFill>
                <a:latin typeface="Noto Sans KR" pitchFamily="34" charset="0"/>
                <a:ea typeface="Noto Sans KR" pitchFamily="34" charset="-122"/>
                <a:cs typeface="Noto Sans KR" pitchFamily="34" charset="-120"/>
              </a:rPr>
              <a:t>“실수 방지” 가 더 효과적</a:t>
            </a:r>
            <a:endParaRPr lang="en-US" sz="1100" dirty="0"/>
          </a:p>
        </p:txBody>
      </p:sp>
      <p:sp>
        <p:nvSpPr>
          <p:cNvPr id="15" name="Shape 13"/>
          <p:cNvSpPr/>
          <p:nvPr/>
        </p:nvSpPr>
        <p:spPr>
          <a:xfrm>
            <a:off x="6324448" y="2148840"/>
            <a:ext cx="5318608" cy="283464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6" name="Shape 14"/>
          <p:cNvSpPr/>
          <p:nvPr/>
        </p:nvSpPr>
        <p:spPr>
          <a:xfrm>
            <a:off x="6324448" y="2148840"/>
            <a:ext cx="73152" cy="2834640"/>
          </a:xfrm>
          <a:prstGeom prst="rect">
            <a:avLst/>
          </a:prstGeom>
          <a:solidFill>
            <a:srgbClr val="F4A6B8"/>
          </a:solidFill>
          <a:ln w="12700">
            <a:solidFill>
              <a:srgbClr val="F4A6B8"/>
            </a:solidFill>
            <a:prstDash val="solid"/>
          </a:ln>
        </p:spPr>
      </p:sp>
      <p:sp>
        <p:nvSpPr>
          <p:cNvPr id="17" name="Text 15"/>
          <p:cNvSpPr/>
          <p:nvPr/>
        </p:nvSpPr>
        <p:spPr>
          <a:xfrm>
            <a:off x="6598768" y="2377440"/>
            <a:ext cx="4952848" cy="320040"/>
          </a:xfrm>
          <a:prstGeom prst="rect">
            <a:avLst/>
          </a:prstGeom>
          <a:noFill/>
          <a:ln/>
        </p:spPr>
        <p:txBody>
          <a:bodyPr wrap="square" lIns="0" tIns="0" rIns="0" bIns="0" rtlCol="0" anchor="ctr"/>
          <a:lstStyle/>
          <a:p>
            <a:pPr algn="l" indent="0" marL="0">
              <a:buNone/>
            </a:pPr>
            <a:r>
              <a:rPr lang="en-US" sz="1200" b="1" dirty="0">
                <a:solidFill>
                  <a:srgbClr val="F4A6B8"/>
                </a:solidFill>
                <a:latin typeface="Noto Sans KR" pitchFamily="34" charset="0"/>
                <a:ea typeface="Noto Sans KR" pitchFamily="34" charset="-122"/>
                <a:cs typeface="Noto Sans KR" pitchFamily="34" charset="-120"/>
              </a:rPr>
              <a:t>DeerFlow  ·  Middleware</a:t>
            </a:r>
            <a:endParaRPr lang="en-US" sz="1200" dirty="0"/>
          </a:p>
        </p:txBody>
      </p:sp>
      <p:sp>
        <p:nvSpPr>
          <p:cNvPr id="18" name="Text 16"/>
          <p:cNvSpPr/>
          <p:nvPr/>
        </p:nvSpPr>
        <p:spPr>
          <a:xfrm>
            <a:off x="6598768" y="2743200"/>
            <a:ext cx="4952848" cy="457200"/>
          </a:xfrm>
          <a:prstGeom prst="rect">
            <a:avLst/>
          </a:prstGeom>
          <a:noFill/>
          <a:ln/>
        </p:spPr>
        <p:txBody>
          <a:bodyPr wrap="square" lIns="0" tIns="0" rIns="0" bIns="0" rtlCol="0" anchor="ctr"/>
          <a:lstStyle/>
          <a:p>
            <a:pPr algn="l" indent="0" marL="0">
              <a:buNone/>
            </a:pPr>
            <a:r>
              <a:rPr lang="en-US" sz="1700" b="1" dirty="0">
                <a:solidFill>
                  <a:srgbClr val="5C4033"/>
                </a:solidFill>
                <a:latin typeface="Nanum Myeongjo" pitchFamily="34" charset="0"/>
                <a:ea typeface="Nanum Myeongjo" pitchFamily="34" charset="-122"/>
                <a:cs typeface="Nanum Myeongjo" pitchFamily="34" charset="-120"/>
              </a:rPr>
              <a:t>10 개 중 가드레일이 핵심</a:t>
            </a:r>
            <a:endParaRPr lang="en-US" sz="1700" dirty="0"/>
          </a:p>
        </p:txBody>
      </p:sp>
      <p:sp>
        <p:nvSpPr>
          <p:cNvPr id="19" name="Shape 17"/>
          <p:cNvSpPr/>
          <p:nvPr/>
        </p:nvSpPr>
        <p:spPr>
          <a:xfrm>
            <a:off x="6598768" y="3520440"/>
            <a:ext cx="137160" cy="137160"/>
          </a:xfrm>
          <a:prstGeom prst="rect">
            <a:avLst/>
          </a:prstGeom>
          <a:solidFill>
            <a:srgbClr val="F4A6B8"/>
          </a:solidFill>
          <a:ln w="12700">
            <a:solidFill>
              <a:srgbClr val="F4A6B8"/>
            </a:solidFill>
            <a:prstDash val="solid"/>
          </a:ln>
        </p:spPr>
      </p:sp>
      <p:sp>
        <p:nvSpPr>
          <p:cNvPr id="20" name="Text 18"/>
          <p:cNvSpPr/>
          <p:nvPr/>
        </p:nvSpPr>
        <p:spPr>
          <a:xfrm>
            <a:off x="6873088" y="3383280"/>
            <a:ext cx="4495648" cy="685800"/>
          </a:xfrm>
          <a:prstGeom prst="rect">
            <a:avLst/>
          </a:prstGeom>
          <a:noFill/>
          <a:ln/>
        </p:spPr>
        <p:txBody>
          <a:bodyPr wrap="square" lIns="0" tIns="0" rIns="0" bIns="0" rtlCol="0" anchor="t"/>
          <a:lstStyle/>
          <a:p>
            <a:pPr algn="l" indent="0" marL="0">
              <a:buNone/>
            </a:pPr>
            <a:r>
              <a:rPr lang="en-US" sz="1250" b="1" dirty="0">
                <a:solidFill>
                  <a:srgbClr val="5C4033"/>
                </a:solidFill>
                <a:latin typeface="Noto Sans KR" pitchFamily="34" charset="0"/>
                <a:ea typeface="Noto Sans KR" pitchFamily="34" charset="-122"/>
                <a:cs typeface="Noto Sans KR" pitchFamily="34" charset="-120"/>
              </a:rPr>
              <a:t>SubagentLimitMiddleware
</a:t>
            </a:r>
            <a:pPr algn="l" indent="0" marL="0">
              <a:buNone/>
            </a:pPr>
            <a:r>
              <a:rPr lang="en-US" sz="1150" i="1" dirty="0">
                <a:solidFill>
                  <a:srgbClr val="7E5D4E"/>
                </a:solidFill>
                <a:latin typeface="Noto Sans KR" pitchFamily="34" charset="0"/>
                <a:ea typeface="Noto Sans KR" pitchFamily="34" charset="-122"/>
                <a:cs typeface="Noto Sans KR" pitchFamily="34" charset="-120"/>
              </a:rPr>
              <a:t>리소스 고갈 방지</a:t>
            </a:r>
            <a:endParaRPr lang="en-US" sz="1250" dirty="0"/>
          </a:p>
        </p:txBody>
      </p:sp>
      <p:sp>
        <p:nvSpPr>
          <p:cNvPr id="21" name="Shape 19"/>
          <p:cNvSpPr/>
          <p:nvPr/>
        </p:nvSpPr>
        <p:spPr>
          <a:xfrm>
            <a:off x="6598768" y="4206240"/>
            <a:ext cx="137160" cy="137160"/>
          </a:xfrm>
          <a:prstGeom prst="rect">
            <a:avLst/>
          </a:prstGeom>
          <a:solidFill>
            <a:srgbClr val="F4A6B8"/>
          </a:solidFill>
          <a:ln w="12700">
            <a:solidFill>
              <a:srgbClr val="F4A6B8"/>
            </a:solidFill>
            <a:prstDash val="solid"/>
          </a:ln>
        </p:spPr>
      </p:sp>
      <p:sp>
        <p:nvSpPr>
          <p:cNvPr id="22" name="Text 20"/>
          <p:cNvSpPr/>
          <p:nvPr/>
        </p:nvSpPr>
        <p:spPr>
          <a:xfrm>
            <a:off x="6873088" y="4069080"/>
            <a:ext cx="4495648" cy="685800"/>
          </a:xfrm>
          <a:prstGeom prst="rect">
            <a:avLst/>
          </a:prstGeom>
          <a:noFill/>
          <a:ln/>
        </p:spPr>
        <p:txBody>
          <a:bodyPr wrap="square" lIns="0" tIns="0" rIns="0" bIns="0" rtlCol="0" anchor="t"/>
          <a:lstStyle/>
          <a:p>
            <a:pPr algn="l" indent="0" marL="0">
              <a:buNone/>
            </a:pPr>
            <a:r>
              <a:rPr lang="en-US" sz="1250" b="1" dirty="0">
                <a:solidFill>
                  <a:srgbClr val="5C4033"/>
                </a:solidFill>
                <a:latin typeface="Noto Sans KR" pitchFamily="34" charset="0"/>
                <a:ea typeface="Noto Sans KR" pitchFamily="34" charset="-122"/>
                <a:cs typeface="Noto Sans KR" pitchFamily="34" charset="-120"/>
              </a:rPr>
              <a:t>DanglingToolCallMiddleware
</a:t>
            </a:r>
            <a:pPr algn="l" indent="0" marL="0">
              <a:buNone/>
            </a:pPr>
            <a:r>
              <a:rPr lang="en-US" sz="1150" i="1" dirty="0">
                <a:solidFill>
                  <a:srgbClr val="7E5D4E"/>
                </a:solidFill>
                <a:latin typeface="Noto Sans KR" pitchFamily="34" charset="0"/>
                <a:ea typeface="Noto Sans KR" pitchFamily="34" charset="-122"/>
                <a:cs typeface="Noto Sans KR" pitchFamily="34" charset="-120"/>
              </a:rPr>
              <a:t>불완전 상태 방지</a:t>
            </a:r>
            <a:endParaRPr lang="en-US" sz="1250" dirty="0"/>
          </a:p>
        </p:txBody>
      </p:sp>
      <p:sp>
        <p:nvSpPr>
          <p:cNvPr id="23" name="Shape 21"/>
          <p:cNvSpPr/>
          <p:nvPr/>
        </p:nvSpPr>
        <p:spPr>
          <a:xfrm>
            <a:off x="548640" y="5303520"/>
            <a:ext cx="11094415" cy="868680"/>
          </a:xfrm>
          <a:prstGeom prst="rect">
            <a:avLst/>
          </a:prstGeom>
          <a:solidFill>
            <a:srgbClr val="88B04B"/>
          </a:solidFill>
          <a:ln w="12700">
            <a:solidFill>
              <a:srgbClr val="88B04B"/>
            </a:solidFill>
            <a:prstDash val="solid"/>
          </a:ln>
        </p:spPr>
      </p:sp>
      <p:sp>
        <p:nvSpPr>
          <p:cNvPr id="24" name="Shape 22"/>
          <p:cNvSpPr/>
          <p:nvPr/>
        </p:nvSpPr>
        <p:spPr>
          <a:xfrm>
            <a:off x="822960" y="5550408"/>
            <a:ext cx="868680" cy="365760"/>
          </a:xfrm>
          <a:prstGeom prst="roundRect">
            <a:avLst>
              <a:gd name="adj" fmla="val 15000"/>
            </a:avLst>
          </a:prstGeom>
          <a:solidFill>
            <a:srgbClr val="C9DCA1"/>
          </a:solidFill>
          <a:ln w="12700">
            <a:solidFill>
              <a:srgbClr val="C9DCA1"/>
            </a:solidFill>
            <a:prstDash val="solid"/>
          </a:ln>
        </p:spPr>
      </p:sp>
      <p:sp>
        <p:nvSpPr>
          <p:cNvPr id="25" name="Text 23"/>
          <p:cNvSpPr/>
          <p:nvPr/>
        </p:nvSpPr>
        <p:spPr>
          <a:xfrm>
            <a:off x="822960" y="5550408"/>
            <a:ext cx="868680" cy="365760"/>
          </a:xfrm>
          <a:prstGeom prst="rect">
            <a:avLst/>
          </a:prstGeom>
          <a:noFill/>
          <a:ln/>
        </p:spPr>
        <p:txBody>
          <a:bodyPr wrap="square" lIns="0" tIns="0" rIns="0" bIns="0" rtlCol="0" anchor="ctr"/>
          <a:lstStyle/>
          <a:p>
            <a:pPr algn="ctr" indent="0" marL="0">
              <a:buNone/>
            </a:pPr>
            <a:r>
              <a:rPr lang="en-US" sz="1100" b="1" spc="300" kern="0" dirty="0">
                <a:solidFill>
                  <a:srgbClr val="5C4033"/>
                </a:solidFill>
                <a:latin typeface="Noto Sans KR" pitchFamily="34" charset="0"/>
                <a:ea typeface="Noto Sans KR" pitchFamily="34" charset="-122"/>
                <a:cs typeface="Noto Sans KR" pitchFamily="34" charset="-120"/>
              </a:rPr>
              <a:t>교 훈</a:t>
            </a:r>
            <a:endParaRPr lang="en-US" sz="1100" dirty="0"/>
          </a:p>
        </p:txBody>
      </p:sp>
      <p:sp>
        <p:nvSpPr>
          <p:cNvPr id="26" name="Text 24"/>
          <p:cNvSpPr/>
          <p:nvPr/>
        </p:nvSpPr>
        <p:spPr>
          <a:xfrm>
            <a:off x="1874520" y="5303520"/>
            <a:ext cx="9494215" cy="868680"/>
          </a:xfrm>
          <a:prstGeom prst="rect">
            <a:avLst/>
          </a:prstGeom>
          <a:noFill/>
          <a:ln/>
        </p:spPr>
        <p:txBody>
          <a:bodyPr wrap="square" lIns="0" tIns="0" rIns="0" bIns="0" rtlCol="0" anchor="ctr"/>
          <a:lstStyle/>
          <a:p>
            <a:pPr algn="l" indent="0" marL="0">
              <a:buNone/>
            </a:pPr>
            <a:r>
              <a:rPr lang="en-US" sz="1500" dirty="0">
                <a:solidFill>
                  <a:srgbClr val="FFFFFF"/>
                </a:solidFill>
                <a:latin typeface="Noto Sans KR" pitchFamily="34" charset="0"/>
                <a:ea typeface="Noto Sans KR" pitchFamily="34" charset="-122"/>
                <a:cs typeface="Noto Sans KR" pitchFamily="34" charset="-120"/>
              </a:rPr>
              <a:t>에이전트가 </a:t>
            </a:r>
            <a:pPr algn="l" indent="0" marL="0">
              <a:buNone/>
            </a:pPr>
            <a:r>
              <a:rPr lang="en-US" sz="1600" b="1" dirty="0">
                <a:solidFill>
                  <a:srgbClr val="FFFFFF"/>
                </a:solidFill>
                <a:latin typeface="Noto Sans KR" pitchFamily="34" charset="0"/>
                <a:ea typeface="Noto Sans KR" pitchFamily="34" charset="-122"/>
                <a:cs typeface="Noto Sans KR" pitchFamily="34" charset="-120"/>
              </a:rPr>
              <a:t>실수하지 못하게 막는 것</a:t>
            </a:r>
            <a:pPr algn="l" indent="0" marL="0">
              <a:buNone/>
            </a:pPr>
            <a:r>
              <a:rPr lang="en-US" sz="1500" dirty="0">
                <a:solidFill>
                  <a:srgbClr val="C9DCA1"/>
                </a:solidFill>
                <a:latin typeface="Noto Sans KR" pitchFamily="34" charset="0"/>
                <a:ea typeface="Noto Sans KR" pitchFamily="34" charset="-122"/>
                <a:cs typeface="Noto Sans KR" pitchFamily="34" charset="-120"/>
              </a:rPr>
              <a:t>   &gt;   </a:t>
            </a:r>
            <a:pPr algn="l" indent="0" marL="0">
              <a:buNone/>
            </a:pPr>
            <a:r>
              <a:rPr lang="en-US" sz="1500" b="1" dirty="0">
                <a:solidFill>
                  <a:srgbClr val="C9DCA1"/>
                </a:solidFill>
                <a:latin typeface="Noto Sans KR" pitchFamily="34" charset="0"/>
                <a:ea typeface="Noto Sans KR" pitchFamily="34" charset="-122"/>
                <a:cs typeface="Noto Sans KR" pitchFamily="34" charset="-120"/>
              </a:rPr>
              <a:t>더 나은 도구 제공</a:t>
            </a:r>
            <a:endParaRPr lang="en-US" sz="1500" dirty="0"/>
          </a:p>
        </p:txBody>
      </p:sp>
      <p:sp>
        <p:nvSpPr>
          <p:cNvPr id="28" name="Text 25"/>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88B04B"/>
          </a:solidFill>
          <a:ln w="12700">
            <a:solidFill>
              <a:srgbClr val="88B04B"/>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SYNTHESIS</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30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에이전트를 설계할 때 — 3 가지 체크</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DeerFlow와 SWE-Agent에서 함께 배운 것</a:t>
            </a:r>
            <a:endParaRPr lang="en-US" sz="1800" dirty="0"/>
          </a:p>
        </p:txBody>
      </p:sp>
      <p:sp>
        <p:nvSpPr>
          <p:cNvPr id="7" name="Shape 5"/>
          <p:cNvSpPr/>
          <p:nvPr/>
        </p:nvSpPr>
        <p:spPr>
          <a:xfrm>
            <a:off x="548640" y="1691640"/>
            <a:ext cx="457200" cy="36576"/>
          </a:xfrm>
          <a:prstGeom prst="rect">
            <a:avLst/>
          </a:prstGeom>
          <a:solidFill>
            <a:srgbClr val="88B04B"/>
          </a:solidFill>
          <a:ln w="12700">
            <a:solidFill>
              <a:srgbClr val="88B04B"/>
            </a:solidFill>
            <a:prstDash val="solid"/>
          </a:ln>
        </p:spPr>
      </p:sp>
      <p:sp>
        <p:nvSpPr>
          <p:cNvPr id="8" name="Shape 6"/>
          <p:cNvSpPr/>
          <p:nvPr/>
        </p:nvSpPr>
        <p:spPr>
          <a:xfrm>
            <a:off x="548640" y="2103120"/>
            <a:ext cx="11094415" cy="13716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103120"/>
            <a:ext cx="73152" cy="1371600"/>
          </a:xfrm>
          <a:prstGeom prst="rect">
            <a:avLst/>
          </a:prstGeom>
          <a:solidFill>
            <a:srgbClr val="88B04B"/>
          </a:solidFill>
          <a:ln w="12700">
            <a:solidFill>
              <a:srgbClr val="88B04B"/>
            </a:solidFill>
            <a:prstDash val="solid"/>
          </a:ln>
        </p:spPr>
      </p:sp>
      <p:sp>
        <p:nvSpPr>
          <p:cNvPr id="10" name="Shape 8"/>
          <p:cNvSpPr/>
          <p:nvPr/>
        </p:nvSpPr>
        <p:spPr>
          <a:xfrm>
            <a:off x="822960" y="2423160"/>
            <a:ext cx="777240" cy="777240"/>
          </a:xfrm>
          <a:prstGeom prst="ellipse">
            <a:avLst/>
          </a:prstGeom>
          <a:solidFill>
            <a:srgbClr val="E8F0D5"/>
          </a:solidFill>
          <a:ln w="19050">
            <a:solidFill>
              <a:srgbClr val="88B04B"/>
            </a:solidFill>
            <a:prstDash val="solid"/>
          </a:ln>
        </p:spPr>
      </p:sp>
      <p:sp>
        <p:nvSpPr>
          <p:cNvPr id="11" name="Text 9"/>
          <p:cNvSpPr/>
          <p:nvPr/>
        </p:nvSpPr>
        <p:spPr>
          <a:xfrm>
            <a:off x="822960" y="2423160"/>
            <a:ext cx="777240" cy="777240"/>
          </a:xfrm>
          <a:prstGeom prst="rect">
            <a:avLst/>
          </a:prstGeom>
          <a:noFill/>
          <a:ln/>
        </p:spPr>
        <p:txBody>
          <a:bodyPr wrap="square" lIns="0" tIns="0" rIns="0" bIns="0" rtlCol="0" anchor="ctr"/>
          <a:lstStyle/>
          <a:p>
            <a:pPr algn="ctr" indent="0" marL="0">
              <a:buNone/>
            </a:pPr>
            <a:r>
              <a:rPr lang="en-US" sz="1800" b="1" dirty="0">
                <a:solidFill>
                  <a:srgbClr val="88B04B"/>
                </a:solidFill>
                <a:latin typeface="Nanum Myeongjo" pitchFamily="34" charset="0"/>
                <a:ea typeface="Nanum Myeongjo" pitchFamily="34" charset="-122"/>
                <a:cs typeface="Nanum Myeongjo" pitchFamily="34" charset="-120"/>
              </a:rPr>
              <a:t>01</a:t>
            </a:r>
            <a:endParaRPr lang="en-US" sz="1800" dirty="0"/>
          </a:p>
        </p:txBody>
      </p:sp>
      <p:sp>
        <p:nvSpPr>
          <p:cNvPr id="12" name="Text 10"/>
          <p:cNvSpPr/>
          <p:nvPr/>
        </p:nvSpPr>
        <p:spPr>
          <a:xfrm>
            <a:off x="1828800" y="2331720"/>
            <a:ext cx="9631375" cy="256032"/>
          </a:xfrm>
          <a:prstGeom prst="rect">
            <a:avLst/>
          </a:prstGeom>
          <a:noFill/>
          <a:ln/>
        </p:spPr>
        <p:txBody>
          <a:bodyPr wrap="square" lIns="0" tIns="0" rIns="0" bIns="0" rtlCol="0" anchor="ctr"/>
          <a:lstStyle/>
          <a:p>
            <a:pPr algn="l" indent="0" marL="0">
              <a:buNone/>
            </a:pPr>
            <a:r>
              <a:rPr lang="en-US" sz="1000" b="1" spc="300" kern="0" dirty="0">
                <a:solidFill>
                  <a:srgbClr val="88B04B"/>
                </a:solidFill>
                <a:latin typeface="Noto Sans KR" pitchFamily="34" charset="0"/>
                <a:ea typeface="Noto Sans KR" pitchFamily="34" charset="-122"/>
                <a:cs typeface="Noto Sans KR" pitchFamily="34" charset="-120"/>
              </a:rPr>
              <a:t>INTERFACE FIRST</a:t>
            </a:r>
            <a:endParaRPr lang="en-US" sz="1000" dirty="0"/>
          </a:p>
        </p:txBody>
      </p:sp>
      <p:sp>
        <p:nvSpPr>
          <p:cNvPr id="13" name="Text 11"/>
          <p:cNvSpPr/>
          <p:nvPr/>
        </p:nvSpPr>
        <p:spPr>
          <a:xfrm>
            <a:off x="1828800" y="2560320"/>
            <a:ext cx="9631375" cy="365760"/>
          </a:xfrm>
          <a:prstGeom prst="rect">
            <a:avLst/>
          </a:prstGeom>
          <a:noFill/>
          <a:ln/>
        </p:spPr>
        <p:txBody>
          <a:bodyPr wrap="square" lIns="0" tIns="0" rIns="0" bIns="0" rtlCol="0" anchor="ctr"/>
          <a:lstStyle/>
          <a:p>
            <a:pPr algn="l" indent="0" marL="0">
              <a:buNone/>
            </a:pPr>
            <a:r>
              <a:rPr lang="en-US" sz="1800" b="1" dirty="0">
                <a:solidFill>
                  <a:srgbClr val="5C4033"/>
                </a:solidFill>
                <a:latin typeface="Noto Sans KR" pitchFamily="34" charset="0"/>
                <a:ea typeface="Noto Sans KR" pitchFamily="34" charset="-122"/>
                <a:cs typeface="Noto Sans KR" pitchFamily="34" charset="-120"/>
              </a:rPr>
              <a:t>인터페이스부터 점검했는가?</a:t>
            </a:r>
            <a:endParaRPr lang="en-US" sz="1800" dirty="0"/>
          </a:p>
        </p:txBody>
      </p:sp>
      <p:sp>
        <p:nvSpPr>
          <p:cNvPr id="14" name="Text 12"/>
          <p:cNvSpPr/>
          <p:nvPr/>
        </p:nvSpPr>
        <p:spPr>
          <a:xfrm>
            <a:off x="1828800" y="2971800"/>
            <a:ext cx="9631375" cy="457200"/>
          </a:xfrm>
          <a:prstGeom prst="rect">
            <a:avLst/>
          </a:prstGeom>
          <a:noFill/>
          <a:ln/>
        </p:spPr>
        <p:txBody>
          <a:bodyPr wrap="square" lIns="0" tIns="0" rIns="0" bIns="0" rtlCol="0" anchor="t"/>
          <a:lstStyle/>
          <a:p>
            <a:pPr algn="l" indent="0" marL="0">
              <a:buNone/>
            </a:pPr>
            <a:r>
              <a:rPr lang="en-US" sz="1200" dirty="0">
                <a:solidFill>
                  <a:srgbClr val="7E5D4E"/>
                </a:solidFill>
                <a:latin typeface="Noto Sans KR" pitchFamily="34" charset="0"/>
                <a:ea typeface="Noto Sans KR" pitchFamily="34" charset="-122"/>
                <a:cs typeface="Noto Sans KR" pitchFamily="34" charset="-120"/>
              </a:rPr>
              <a:t>모델 업그레이드 전에, 같은 모델로도 더 잘 쓸 수 있는지 본다. SWE-Agent는 모델 교체 없이 +10.7pp를 얻었다.</a:t>
            </a:r>
            <a:endParaRPr lang="en-US" sz="1200" dirty="0"/>
          </a:p>
        </p:txBody>
      </p:sp>
      <p:sp>
        <p:nvSpPr>
          <p:cNvPr id="15" name="Shape 13"/>
          <p:cNvSpPr/>
          <p:nvPr/>
        </p:nvSpPr>
        <p:spPr>
          <a:xfrm>
            <a:off x="548640" y="3611880"/>
            <a:ext cx="11094415" cy="13716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6" name="Shape 14"/>
          <p:cNvSpPr/>
          <p:nvPr/>
        </p:nvSpPr>
        <p:spPr>
          <a:xfrm>
            <a:off x="548640" y="3611880"/>
            <a:ext cx="73152" cy="1371600"/>
          </a:xfrm>
          <a:prstGeom prst="rect">
            <a:avLst/>
          </a:prstGeom>
          <a:solidFill>
            <a:srgbClr val="88B04B"/>
          </a:solidFill>
          <a:ln w="12700">
            <a:solidFill>
              <a:srgbClr val="88B04B"/>
            </a:solidFill>
            <a:prstDash val="solid"/>
          </a:ln>
        </p:spPr>
      </p:sp>
      <p:sp>
        <p:nvSpPr>
          <p:cNvPr id="17" name="Shape 15"/>
          <p:cNvSpPr/>
          <p:nvPr/>
        </p:nvSpPr>
        <p:spPr>
          <a:xfrm>
            <a:off x="822960" y="3931920"/>
            <a:ext cx="777240" cy="777240"/>
          </a:xfrm>
          <a:prstGeom prst="ellipse">
            <a:avLst/>
          </a:prstGeom>
          <a:solidFill>
            <a:srgbClr val="E8F0D5"/>
          </a:solidFill>
          <a:ln w="19050">
            <a:solidFill>
              <a:srgbClr val="88B04B"/>
            </a:solidFill>
            <a:prstDash val="solid"/>
          </a:ln>
        </p:spPr>
      </p:sp>
      <p:sp>
        <p:nvSpPr>
          <p:cNvPr id="18" name="Text 16"/>
          <p:cNvSpPr/>
          <p:nvPr/>
        </p:nvSpPr>
        <p:spPr>
          <a:xfrm>
            <a:off x="822960" y="3931920"/>
            <a:ext cx="777240" cy="777240"/>
          </a:xfrm>
          <a:prstGeom prst="rect">
            <a:avLst/>
          </a:prstGeom>
          <a:noFill/>
          <a:ln/>
        </p:spPr>
        <p:txBody>
          <a:bodyPr wrap="square" lIns="0" tIns="0" rIns="0" bIns="0" rtlCol="0" anchor="ctr"/>
          <a:lstStyle/>
          <a:p>
            <a:pPr algn="ctr" indent="0" marL="0">
              <a:buNone/>
            </a:pPr>
            <a:r>
              <a:rPr lang="en-US" sz="1800" b="1" dirty="0">
                <a:solidFill>
                  <a:srgbClr val="88B04B"/>
                </a:solidFill>
                <a:latin typeface="Nanum Myeongjo" pitchFamily="34" charset="0"/>
                <a:ea typeface="Nanum Myeongjo" pitchFamily="34" charset="-122"/>
                <a:cs typeface="Nanum Myeongjo" pitchFamily="34" charset="-120"/>
              </a:rPr>
              <a:t>02</a:t>
            </a:r>
            <a:endParaRPr lang="en-US" sz="1800" dirty="0"/>
          </a:p>
        </p:txBody>
      </p:sp>
      <p:sp>
        <p:nvSpPr>
          <p:cNvPr id="19" name="Text 17"/>
          <p:cNvSpPr/>
          <p:nvPr/>
        </p:nvSpPr>
        <p:spPr>
          <a:xfrm>
            <a:off x="1828800" y="3840480"/>
            <a:ext cx="9631375" cy="256032"/>
          </a:xfrm>
          <a:prstGeom prst="rect">
            <a:avLst/>
          </a:prstGeom>
          <a:noFill/>
          <a:ln/>
        </p:spPr>
        <p:txBody>
          <a:bodyPr wrap="square" lIns="0" tIns="0" rIns="0" bIns="0" rtlCol="0" anchor="ctr"/>
          <a:lstStyle/>
          <a:p>
            <a:pPr algn="l" indent="0" marL="0">
              <a:buNone/>
            </a:pPr>
            <a:r>
              <a:rPr lang="en-US" sz="1000" b="1" spc="300" kern="0" dirty="0">
                <a:solidFill>
                  <a:srgbClr val="88B04B"/>
                </a:solidFill>
                <a:latin typeface="Noto Sans KR" pitchFamily="34" charset="0"/>
                <a:ea typeface="Noto Sans KR" pitchFamily="34" charset="-122"/>
                <a:cs typeface="Noto Sans KR" pitchFamily="34" charset="-120"/>
              </a:rPr>
              <a:t>GUARDRAILS MATTER</a:t>
            </a:r>
            <a:endParaRPr lang="en-US" sz="1000" dirty="0"/>
          </a:p>
        </p:txBody>
      </p:sp>
      <p:sp>
        <p:nvSpPr>
          <p:cNvPr id="20" name="Text 18"/>
          <p:cNvSpPr/>
          <p:nvPr/>
        </p:nvSpPr>
        <p:spPr>
          <a:xfrm>
            <a:off x="1828800" y="4069080"/>
            <a:ext cx="9631375" cy="365760"/>
          </a:xfrm>
          <a:prstGeom prst="rect">
            <a:avLst/>
          </a:prstGeom>
          <a:noFill/>
          <a:ln/>
        </p:spPr>
        <p:txBody>
          <a:bodyPr wrap="square" lIns="0" tIns="0" rIns="0" bIns="0" rtlCol="0" anchor="ctr"/>
          <a:lstStyle/>
          <a:p>
            <a:pPr algn="l" indent="0" marL="0">
              <a:buNone/>
            </a:pPr>
            <a:r>
              <a:rPr lang="en-US" sz="1800" b="1" dirty="0">
                <a:solidFill>
                  <a:srgbClr val="5C4033"/>
                </a:solidFill>
                <a:latin typeface="Noto Sans KR" pitchFamily="34" charset="0"/>
                <a:ea typeface="Noto Sans KR" pitchFamily="34" charset="-122"/>
                <a:cs typeface="Noto Sans KR" pitchFamily="34" charset="-120"/>
              </a:rPr>
              <a:t>주고 싶은 것뿐 아니라 막고 싶은 것도 정했는가?</a:t>
            </a:r>
            <a:endParaRPr lang="en-US" sz="1800" dirty="0"/>
          </a:p>
        </p:txBody>
      </p:sp>
      <p:sp>
        <p:nvSpPr>
          <p:cNvPr id="21" name="Text 19"/>
          <p:cNvSpPr/>
          <p:nvPr/>
        </p:nvSpPr>
        <p:spPr>
          <a:xfrm>
            <a:off x="1828800" y="4480560"/>
            <a:ext cx="9631375" cy="457200"/>
          </a:xfrm>
          <a:prstGeom prst="rect">
            <a:avLst/>
          </a:prstGeom>
          <a:noFill/>
          <a:ln/>
        </p:spPr>
        <p:txBody>
          <a:bodyPr wrap="square" lIns="0" tIns="0" rIns="0" bIns="0" rtlCol="0" anchor="t"/>
          <a:lstStyle/>
          <a:p>
            <a:pPr algn="l" indent="0" marL="0">
              <a:buNone/>
            </a:pPr>
            <a:r>
              <a:rPr lang="en-US" sz="1200" dirty="0">
                <a:solidFill>
                  <a:srgbClr val="7E5D4E"/>
                </a:solidFill>
                <a:latin typeface="Noto Sans KR" pitchFamily="34" charset="0"/>
                <a:ea typeface="Noto Sans KR" pitchFamily="34" charset="-122"/>
                <a:cs typeface="Noto Sans KR" pitchFamily="34" charset="-120"/>
              </a:rPr>
              <a:t>린터 거부, Subagent 제한, Dangling Tool 차단 — 가장 큰 성능 향상은 “실수를 못하게” 한 지점에서 나왔다.</a:t>
            </a:r>
            <a:endParaRPr lang="en-US" sz="1200" dirty="0"/>
          </a:p>
        </p:txBody>
      </p:sp>
      <p:sp>
        <p:nvSpPr>
          <p:cNvPr id="22" name="Shape 20"/>
          <p:cNvSpPr/>
          <p:nvPr/>
        </p:nvSpPr>
        <p:spPr>
          <a:xfrm>
            <a:off x="548640" y="5120640"/>
            <a:ext cx="11094415" cy="137160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3" name="Shape 21"/>
          <p:cNvSpPr/>
          <p:nvPr/>
        </p:nvSpPr>
        <p:spPr>
          <a:xfrm>
            <a:off x="548640" y="5120640"/>
            <a:ext cx="73152" cy="1371600"/>
          </a:xfrm>
          <a:prstGeom prst="rect">
            <a:avLst/>
          </a:prstGeom>
          <a:solidFill>
            <a:srgbClr val="88B04B"/>
          </a:solidFill>
          <a:ln w="12700">
            <a:solidFill>
              <a:srgbClr val="88B04B"/>
            </a:solidFill>
            <a:prstDash val="solid"/>
          </a:ln>
        </p:spPr>
      </p:sp>
      <p:sp>
        <p:nvSpPr>
          <p:cNvPr id="24" name="Shape 22"/>
          <p:cNvSpPr/>
          <p:nvPr/>
        </p:nvSpPr>
        <p:spPr>
          <a:xfrm>
            <a:off x="822960" y="5440680"/>
            <a:ext cx="777240" cy="777240"/>
          </a:xfrm>
          <a:prstGeom prst="ellipse">
            <a:avLst/>
          </a:prstGeom>
          <a:solidFill>
            <a:srgbClr val="E8F0D5"/>
          </a:solidFill>
          <a:ln w="19050">
            <a:solidFill>
              <a:srgbClr val="88B04B"/>
            </a:solidFill>
            <a:prstDash val="solid"/>
          </a:ln>
        </p:spPr>
      </p:sp>
      <p:sp>
        <p:nvSpPr>
          <p:cNvPr id="25" name="Text 23"/>
          <p:cNvSpPr/>
          <p:nvPr/>
        </p:nvSpPr>
        <p:spPr>
          <a:xfrm>
            <a:off x="822960" y="5440680"/>
            <a:ext cx="777240" cy="777240"/>
          </a:xfrm>
          <a:prstGeom prst="rect">
            <a:avLst/>
          </a:prstGeom>
          <a:noFill/>
          <a:ln/>
        </p:spPr>
        <p:txBody>
          <a:bodyPr wrap="square" lIns="0" tIns="0" rIns="0" bIns="0" rtlCol="0" anchor="ctr"/>
          <a:lstStyle/>
          <a:p>
            <a:pPr algn="ctr" indent="0" marL="0">
              <a:buNone/>
            </a:pPr>
            <a:r>
              <a:rPr lang="en-US" sz="1800" b="1" dirty="0">
                <a:solidFill>
                  <a:srgbClr val="88B04B"/>
                </a:solidFill>
                <a:latin typeface="Nanum Myeongjo" pitchFamily="34" charset="0"/>
                <a:ea typeface="Nanum Myeongjo" pitchFamily="34" charset="-122"/>
                <a:cs typeface="Nanum Myeongjo" pitchFamily="34" charset="-120"/>
              </a:rPr>
              <a:t>03</a:t>
            </a:r>
            <a:endParaRPr lang="en-US" sz="1800" dirty="0"/>
          </a:p>
        </p:txBody>
      </p:sp>
      <p:sp>
        <p:nvSpPr>
          <p:cNvPr id="26" name="Text 24"/>
          <p:cNvSpPr/>
          <p:nvPr/>
        </p:nvSpPr>
        <p:spPr>
          <a:xfrm>
            <a:off x="1828800" y="5349240"/>
            <a:ext cx="9631375" cy="256032"/>
          </a:xfrm>
          <a:prstGeom prst="rect">
            <a:avLst/>
          </a:prstGeom>
          <a:noFill/>
          <a:ln/>
        </p:spPr>
        <p:txBody>
          <a:bodyPr wrap="square" lIns="0" tIns="0" rIns="0" bIns="0" rtlCol="0" anchor="ctr"/>
          <a:lstStyle/>
          <a:p>
            <a:pPr algn="l" indent="0" marL="0">
              <a:buNone/>
            </a:pPr>
            <a:r>
              <a:rPr lang="en-US" sz="1000" b="1" spc="300" kern="0" dirty="0">
                <a:solidFill>
                  <a:srgbClr val="88B04B"/>
                </a:solidFill>
                <a:latin typeface="Noto Sans KR" pitchFamily="34" charset="0"/>
                <a:ea typeface="Noto Sans KR" pitchFamily="34" charset="-122"/>
                <a:cs typeface="Noto Sans KR" pitchFamily="34" charset="-120"/>
              </a:rPr>
              <a:t>LESS IS MORE</a:t>
            </a:r>
            <a:endParaRPr lang="en-US" sz="1000" dirty="0"/>
          </a:p>
        </p:txBody>
      </p:sp>
      <p:sp>
        <p:nvSpPr>
          <p:cNvPr id="27" name="Text 25"/>
          <p:cNvSpPr/>
          <p:nvPr/>
        </p:nvSpPr>
        <p:spPr>
          <a:xfrm>
            <a:off x="1828800" y="5577840"/>
            <a:ext cx="9631375" cy="365760"/>
          </a:xfrm>
          <a:prstGeom prst="rect">
            <a:avLst/>
          </a:prstGeom>
          <a:noFill/>
          <a:ln/>
        </p:spPr>
        <p:txBody>
          <a:bodyPr wrap="square" lIns="0" tIns="0" rIns="0" bIns="0" rtlCol="0" anchor="ctr"/>
          <a:lstStyle/>
          <a:p>
            <a:pPr algn="l" indent="0" marL="0">
              <a:buNone/>
            </a:pPr>
            <a:r>
              <a:rPr lang="en-US" sz="1800" b="1" dirty="0">
                <a:solidFill>
                  <a:srgbClr val="5C4033"/>
                </a:solidFill>
                <a:latin typeface="Noto Sans KR" pitchFamily="34" charset="0"/>
                <a:ea typeface="Noto Sans KR" pitchFamily="34" charset="-122"/>
                <a:cs typeface="Noto Sans KR" pitchFamily="34" charset="-120"/>
              </a:rPr>
              <a:t>좁혀주는 제한이 있는가?</a:t>
            </a:r>
            <a:endParaRPr lang="en-US" sz="1800" dirty="0"/>
          </a:p>
        </p:txBody>
      </p:sp>
      <p:sp>
        <p:nvSpPr>
          <p:cNvPr id="28" name="Text 26"/>
          <p:cNvSpPr/>
          <p:nvPr/>
        </p:nvSpPr>
        <p:spPr>
          <a:xfrm>
            <a:off x="1828800" y="5989320"/>
            <a:ext cx="9631375" cy="457200"/>
          </a:xfrm>
          <a:prstGeom prst="rect">
            <a:avLst/>
          </a:prstGeom>
          <a:noFill/>
          <a:ln/>
        </p:spPr>
        <p:txBody>
          <a:bodyPr wrap="square" lIns="0" tIns="0" rIns="0" bIns="0" rtlCol="0" anchor="t"/>
          <a:lstStyle/>
          <a:p>
            <a:pPr algn="l" indent="0" marL="0">
              <a:buNone/>
            </a:pPr>
            <a:r>
              <a:rPr lang="en-US" sz="1200" dirty="0">
                <a:solidFill>
                  <a:srgbClr val="7E5D4E"/>
                </a:solidFill>
                <a:latin typeface="Noto Sans KR" pitchFamily="34" charset="0"/>
                <a:ea typeface="Noto Sans KR" pitchFamily="34" charset="-122"/>
                <a:cs typeface="Noto Sans KR" pitchFamily="34" charset="-120"/>
              </a:rPr>
              <a:t>50/100 제한, 히스토리 압축, Thought 강제. 에이전트는 “더 많이” 가 아니라 “더 적절하게” 줄 때 잘 한다.</a:t>
            </a:r>
            <a:endParaRPr lang="en-US" sz="1200" dirty="0"/>
          </a:p>
        </p:txBody>
      </p:sp>
      <p:sp>
        <p:nvSpPr>
          <p:cNvPr id="30" name="Text 27"/>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EFE5"/>
        </a:solidFill>
      </p:bgPr>
    </p:bg>
    <p:spTree>
      <p:nvGrpSpPr>
        <p:cNvPr id="1" name=""/>
        <p:cNvGrpSpPr/>
        <p:nvPr/>
      </p:nvGrpSpPr>
      <p:grpSpPr>
        <a:xfrm>
          <a:off x="0" y="0"/>
          <a:ext cx="0" cy="0"/>
          <a:chOff x="0" y="0"/>
          <a:chExt cx="0" cy="0"/>
        </a:xfrm>
      </p:grpSpPr>
      <p:pic>
        <p:nvPicPr>
          <p:cNvPr id="2" name="Image 0" descr="/sessions/optimistic-amazing-goldberg/presentation/assets/blossom-pink.png">    </p:cNvPr>
          <p:cNvPicPr>
            <a:picLocks noChangeAspect="1"/>
          </p:cNvPicPr>
          <p:nvPr/>
        </p:nvPicPr>
        <p:blipFill>
          <a:blip r:embed="rId1">
            <a:alphaModFix amt="35000"/>
          </a:blip>
          <a:stretch>
            <a:fillRect/>
          </a:stretch>
        </p:blipFill>
        <p:spPr>
          <a:xfrm>
            <a:off x="-1371600" y="-1371600"/>
            <a:ext cx="4114800" cy="4114800"/>
          </a:xfrm>
          <a:prstGeom prst="rect">
            <a:avLst/>
          </a:prstGeom>
        </p:spPr>
      </p:pic>
      <p:pic>
        <p:nvPicPr>
          <p:cNvPr id="3" name="Image 1" descr="/sessions/optimistic-amazing-goldberg/presentation/assets/blossom-orange.png">    </p:cNvPr>
          <p:cNvPicPr>
            <a:picLocks noChangeAspect="1"/>
          </p:cNvPicPr>
          <p:nvPr/>
        </p:nvPicPr>
        <p:blipFill>
          <a:blip r:embed="rId2">
            <a:alphaModFix amt="35000"/>
          </a:blip>
          <a:stretch>
            <a:fillRect/>
          </a:stretch>
        </p:blipFill>
        <p:spPr>
          <a:xfrm>
            <a:off x="8991295" y="3657600"/>
            <a:ext cx="4114800" cy="4114800"/>
          </a:xfrm>
          <a:prstGeom prst="rect">
            <a:avLst/>
          </a:prstGeom>
        </p:spPr>
      </p:pic>
      <p:pic>
        <p:nvPicPr>
          <p:cNvPr id="4" name="Image 2" descr="/sessions/optimistic-amazing-goldberg/presentation/assets/blossom-green.png">    </p:cNvPr>
          <p:cNvPicPr>
            <a:picLocks noChangeAspect="1"/>
          </p:cNvPicPr>
          <p:nvPr/>
        </p:nvPicPr>
        <p:blipFill>
          <a:blip r:embed="rId3">
            <a:alphaModFix amt="25000"/>
          </a:blip>
          <a:stretch>
            <a:fillRect/>
          </a:stretch>
        </p:blipFill>
        <p:spPr>
          <a:xfrm>
            <a:off x="9905695" y="457200"/>
            <a:ext cx="1828800" cy="1828800"/>
          </a:xfrm>
          <a:prstGeom prst="rect">
            <a:avLst/>
          </a:prstGeom>
        </p:spPr>
      </p:pic>
      <p:pic>
        <p:nvPicPr>
          <p:cNvPr id="5" name="Image 3" descr="/sessions/optimistic-amazing-goldberg/presentation/assets/blossom-pink.png">    </p:cNvPr>
          <p:cNvPicPr>
            <a:picLocks noChangeAspect="1"/>
          </p:cNvPicPr>
          <p:nvPr/>
        </p:nvPicPr>
        <p:blipFill>
          <a:blip r:embed="rId4">
            <a:alphaModFix amt="25000"/>
          </a:blip>
          <a:stretch>
            <a:fillRect/>
          </a:stretch>
        </p:blipFill>
        <p:spPr>
          <a:xfrm>
            <a:off x="457200" y="4846320"/>
            <a:ext cx="1371600" cy="1371600"/>
          </a:xfrm>
          <a:prstGeom prst="rect">
            <a:avLst/>
          </a:prstGeom>
        </p:spPr>
      </p:pic>
      <p:sp>
        <p:nvSpPr>
          <p:cNvPr id="6" name="Text 0"/>
          <p:cNvSpPr/>
          <p:nvPr/>
        </p:nvSpPr>
        <p:spPr>
          <a:xfrm>
            <a:off x="548640" y="2103120"/>
            <a:ext cx="11094415" cy="1371600"/>
          </a:xfrm>
          <a:prstGeom prst="rect">
            <a:avLst/>
          </a:prstGeom>
          <a:noFill/>
          <a:ln/>
        </p:spPr>
        <p:txBody>
          <a:bodyPr wrap="square" lIns="0" tIns="0" rIns="0" bIns="0" rtlCol="0" anchor="ctr"/>
          <a:lstStyle/>
          <a:p>
            <a:pPr algn="ctr" indent="0" marL="0">
              <a:buNone/>
            </a:pPr>
            <a:r>
              <a:rPr lang="en-US" sz="9000" b="1" dirty="0">
                <a:solidFill>
                  <a:srgbClr val="5C4033"/>
                </a:solidFill>
                <a:latin typeface="Nanum Myeongjo" pitchFamily="34" charset="0"/>
                <a:ea typeface="Nanum Myeongjo" pitchFamily="34" charset="-122"/>
                <a:cs typeface="Nanum Myeongjo" pitchFamily="34" charset="-120"/>
              </a:rPr>
              <a:t>Thank You</a:t>
            </a:r>
            <a:endParaRPr lang="en-US" sz="9000" dirty="0"/>
          </a:p>
        </p:txBody>
      </p:sp>
      <p:sp>
        <p:nvSpPr>
          <p:cNvPr id="7" name="Text 1"/>
          <p:cNvSpPr/>
          <p:nvPr/>
        </p:nvSpPr>
        <p:spPr>
          <a:xfrm>
            <a:off x="548640" y="3566160"/>
            <a:ext cx="11094415" cy="457200"/>
          </a:xfrm>
          <a:prstGeom prst="rect">
            <a:avLst/>
          </a:prstGeom>
          <a:noFill/>
          <a:ln/>
        </p:spPr>
        <p:txBody>
          <a:bodyPr wrap="square" lIns="0" tIns="0" rIns="0" bIns="0" rtlCol="0" anchor="ctr"/>
          <a:lstStyle/>
          <a:p>
            <a:pPr algn="ctr" indent="0" marL="0">
              <a:buNone/>
            </a:pPr>
            <a:r>
              <a:rPr lang="en-US" sz="2000" dirty="0">
                <a:solidFill>
                  <a:srgbClr val="7E5D4E"/>
                </a:solidFill>
                <a:latin typeface="Noto Sans KR" pitchFamily="34" charset="0"/>
                <a:ea typeface="Noto Sans KR" pitchFamily="34" charset="-122"/>
                <a:cs typeface="Noto Sans KR" pitchFamily="34" charset="-120"/>
              </a:rPr>
              <a:t>감사합니다  ·  질문 환영합니다</a:t>
            </a:r>
            <a:endParaRPr lang="en-US" sz="2000" dirty="0"/>
          </a:p>
        </p:txBody>
      </p:sp>
      <p:sp>
        <p:nvSpPr>
          <p:cNvPr id="8" name="Shape 2"/>
          <p:cNvSpPr/>
          <p:nvPr/>
        </p:nvSpPr>
        <p:spPr>
          <a:xfrm>
            <a:off x="5638648" y="4297680"/>
            <a:ext cx="914400" cy="36576"/>
          </a:xfrm>
          <a:prstGeom prst="rect">
            <a:avLst/>
          </a:prstGeom>
          <a:solidFill>
            <a:srgbClr val="F4A6B8"/>
          </a:solidFill>
          <a:ln w="12700">
            <a:solidFill>
              <a:srgbClr val="F4A6B8"/>
            </a:solidFill>
            <a:prstDash val="solid"/>
          </a:ln>
        </p:spPr>
      </p:sp>
      <p:sp>
        <p:nvSpPr>
          <p:cNvPr id="9" name="Shape 3"/>
          <p:cNvSpPr/>
          <p:nvPr/>
        </p:nvSpPr>
        <p:spPr>
          <a:xfrm>
            <a:off x="2804008" y="4663440"/>
            <a:ext cx="2011680" cy="457200"/>
          </a:xfrm>
          <a:prstGeom prst="roundRect">
            <a:avLst>
              <a:gd name="adj" fmla="val 50000"/>
            </a:avLst>
          </a:prstGeom>
          <a:solidFill>
            <a:srgbClr val="FFFFFF"/>
          </a:solidFill>
          <a:ln w="12700">
            <a:solidFill>
              <a:srgbClr val="F4A6B8"/>
            </a:solidFill>
            <a:prstDash val="solid"/>
          </a:ln>
        </p:spPr>
      </p:sp>
      <p:sp>
        <p:nvSpPr>
          <p:cNvPr id="10" name="Text 4"/>
          <p:cNvSpPr/>
          <p:nvPr/>
        </p:nvSpPr>
        <p:spPr>
          <a:xfrm>
            <a:off x="2804008" y="4663440"/>
            <a:ext cx="2011680" cy="457200"/>
          </a:xfrm>
          <a:prstGeom prst="rect">
            <a:avLst/>
          </a:prstGeom>
          <a:noFill/>
          <a:ln/>
        </p:spPr>
        <p:txBody>
          <a:bodyPr wrap="square" lIns="0" tIns="0" rIns="0" bIns="0" rtlCol="0" anchor="ctr"/>
          <a:lstStyle/>
          <a:p>
            <a:pPr algn="ctr" indent="0" marL="0">
              <a:buNone/>
            </a:pPr>
            <a:r>
              <a:rPr lang="en-US" sz="1300" b="1" dirty="0">
                <a:solidFill>
                  <a:srgbClr val="F4A6B8"/>
                </a:solidFill>
                <a:latin typeface="Noto Sans KR" pitchFamily="34" charset="0"/>
                <a:ea typeface="Noto Sans KR" pitchFamily="34" charset="-122"/>
                <a:cs typeface="Noto Sans KR" pitchFamily="34" charset="-120"/>
              </a:rPr>
              <a:t>환경의 통제</a:t>
            </a:r>
            <a:endParaRPr lang="en-US" sz="1300" dirty="0"/>
          </a:p>
        </p:txBody>
      </p:sp>
      <p:sp>
        <p:nvSpPr>
          <p:cNvPr id="11" name="Shape 5"/>
          <p:cNvSpPr/>
          <p:nvPr/>
        </p:nvSpPr>
        <p:spPr>
          <a:xfrm>
            <a:off x="5090008" y="4663440"/>
            <a:ext cx="2011680" cy="457200"/>
          </a:xfrm>
          <a:prstGeom prst="roundRect">
            <a:avLst>
              <a:gd name="adj" fmla="val 50000"/>
            </a:avLst>
          </a:prstGeom>
          <a:solidFill>
            <a:srgbClr val="FFFFFF"/>
          </a:solidFill>
          <a:ln w="12700">
            <a:solidFill>
              <a:srgbClr val="F08B51"/>
            </a:solidFill>
            <a:prstDash val="solid"/>
          </a:ln>
        </p:spPr>
      </p:sp>
      <p:sp>
        <p:nvSpPr>
          <p:cNvPr id="12" name="Text 6"/>
          <p:cNvSpPr/>
          <p:nvPr/>
        </p:nvSpPr>
        <p:spPr>
          <a:xfrm>
            <a:off x="5090008" y="4663440"/>
            <a:ext cx="2011680" cy="457200"/>
          </a:xfrm>
          <a:prstGeom prst="rect">
            <a:avLst/>
          </a:prstGeom>
          <a:noFill/>
          <a:ln/>
        </p:spPr>
        <p:txBody>
          <a:bodyPr wrap="square" lIns="0" tIns="0" rIns="0" bIns="0" rtlCol="0" anchor="ctr"/>
          <a:lstStyle/>
          <a:p>
            <a:pPr algn="ctr" indent="0" marL="0">
              <a:buNone/>
            </a:pPr>
            <a:r>
              <a:rPr lang="en-US" sz="1300" b="1" dirty="0">
                <a:solidFill>
                  <a:srgbClr val="F08B51"/>
                </a:solidFill>
                <a:latin typeface="Noto Sans KR" pitchFamily="34" charset="0"/>
                <a:ea typeface="Noto Sans KR" pitchFamily="34" charset="-122"/>
                <a:cs typeface="Noto Sans KR" pitchFamily="34" charset="-120"/>
              </a:rPr>
              <a:t>인터페이스의 힘</a:t>
            </a:r>
            <a:endParaRPr lang="en-US" sz="1300" dirty="0"/>
          </a:p>
        </p:txBody>
      </p:sp>
      <p:sp>
        <p:nvSpPr>
          <p:cNvPr id="13" name="Shape 7"/>
          <p:cNvSpPr/>
          <p:nvPr/>
        </p:nvSpPr>
        <p:spPr>
          <a:xfrm>
            <a:off x="7376008" y="4663440"/>
            <a:ext cx="2011680" cy="457200"/>
          </a:xfrm>
          <a:prstGeom prst="roundRect">
            <a:avLst>
              <a:gd name="adj" fmla="val 50000"/>
            </a:avLst>
          </a:prstGeom>
          <a:solidFill>
            <a:srgbClr val="FFFFFF"/>
          </a:solidFill>
          <a:ln w="12700">
            <a:solidFill>
              <a:srgbClr val="88B04B"/>
            </a:solidFill>
            <a:prstDash val="solid"/>
          </a:ln>
        </p:spPr>
      </p:sp>
      <p:sp>
        <p:nvSpPr>
          <p:cNvPr id="14" name="Text 8"/>
          <p:cNvSpPr/>
          <p:nvPr/>
        </p:nvSpPr>
        <p:spPr>
          <a:xfrm>
            <a:off x="7376008" y="4663440"/>
            <a:ext cx="2011680" cy="457200"/>
          </a:xfrm>
          <a:prstGeom prst="rect">
            <a:avLst/>
          </a:prstGeom>
          <a:noFill/>
          <a:ln/>
        </p:spPr>
        <p:txBody>
          <a:bodyPr wrap="square" lIns="0" tIns="0" rIns="0" bIns="0" rtlCol="0" anchor="ctr"/>
          <a:lstStyle/>
          <a:p>
            <a:pPr algn="ctr" indent="0" marL="0">
              <a:buNone/>
            </a:pPr>
            <a:r>
              <a:rPr lang="en-US" sz="1300" b="1" dirty="0">
                <a:solidFill>
                  <a:srgbClr val="88B04B"/>
                </a:solidFill>
                <a:latin typeface="Noto Sans KR" pitchFamily="34" charset="0"/>
                <a:ea typeface="Noto Sans KR" pitchFamily="34" charset="-122"/>
                <a:cs typeface="Noto Sans KR" pitchFamily="34" charset="-120"/>
              </a:rPr>
              <a:t>제한의 역설</a:t>
            </a:r>
            <a:endParaRPr lang="en-US" sz="1300" dirty="0"/>
          </a:p>
        </p:txBody>
      </p:sp>
      <p:sp>
        <p:nvSpPr>
          <p:cNvPr id="15" name="Text 9"/>
          <p:cNvSpPr/>
          <p:nvPr/>
        </p:nvSpPr>
        <p:spPr>
          <a:xfrm>
            <a:off x="548640" y="6217920"/>
            <a:ext cx="11094415" cy="320040"/>
          </a:xfrm>
          <a:prstGeom prst="rect">
            <a:avLst/>
          </a:prstGeom>
          <a:noFill/>
          <a:ln/>
        </p:spPr>
        <p:txBody>
          <a:bodyPr wrap="square" lIns="0" tIns="0" rIns="0" bIns="0" rtlCol="0" anchor="ctr"/>
          <a:lstStyle/>
          <a:p>
            <a:pPr algn="ctr" indent="0" marL="0">
              <a:buNone/>
            </a:pPr>
            <a:r>
              <a:rPr lang="en-US" sz="1200" b="1" dirty="0">
                <a:solidFill>
                  <a:srgbClr val="5C4033"/>
                </a:solidFill>
                <a:latin typeface="Noto Sans KR" pitchFamily="34" charset="0"/>
                <a:ea typeface="Noto Sans KR" pitchFamily="34" charset="-122"/>
                <a:cs typeface="Noto Sans KR" pitchFamily="34" charset="-120"/>
              </a:rPr>
              <a:t>Minjeong Jeon  ·  </a:t>
            </a:r>
            <a:pPr algn="ctr" indent="0" marL="0">
              <a:buNone/>
            </a:pPr>
            <a:r>
              <a:rPr lang="en-US" sz="1200" dirty="0">
                <a:solidFill>
                  <a:srgbClr val="A68474"/>
                </a:solidFill>
                <a:latin typeface="Noto Sans KR" pitchFamily="34" charset="0"/>
                <a:ea typeface="Noto Sans KR" pitchFamily="34" charset="-122"/>
                <a:cs typeface="Noto Sans KR" pitchFamily="34" charset="-120"/>
              </a:rPr>
              <a:t>Spring 2026  ·  DeerFlow vs SWE-Agent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DF8F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5C4033"/>
          </a:solidFill>
          <a:ln w="12700">
            <a:solidFill>
              <a:srgbClr val="5C4033"/>
            </a:solidFill>
            <a:prstDash val="solid"/>
          </a:ln>
        </p:spPr>
      </p:sp>
      <p:sp>
        <p:nvSpPr>
          <p:cNvPr id="3" name="Text 1"/>
          <p:cNvSpPr/>
          <p:nvPr/>
        </p:nvSpPr>
        <p:spPr>
          <a:xfrm>
            <a:off x="548640" y="182880"/>
            <a:ext cx="5486400" cy="274320"/>
          </a:xfrm>
          <a:prstGeom prst="rect">
            <a:avLst/>
          </a:prstGeom>
          <a:noFill/>
          <a:ln/>
        </p:spPr>
        <p:txBody>
          <a:bodyPr wrap="square" lIns="0" tIns="0" rIns="0" bIns="0" rtlCol="0" anchor="ctr"/>
          <a:lstStyle/>
          <a:p>
            <a:pPr indent="0" marL="0">
              <a:buNone/>
            </a:pPr>
            <a:r>
              <a:rPr lang="en-US" sz="1000" b="1" spc="200" kern="0" dirty="0">
                <a:solidFill>
                  <a:srgbClr val="7E5D4E"/>
                </a:solidFill>
                <a:latin typeface="Noto Sans KR" pitchFamily="34" charset="0"/>
                <a:ea typeface="Noto Sans KR" pitchFamily="34" charset="-122"/>
                <a:cs typeface="Noto Sans KR" pitchFamily="34" charset="-120"/>
              </a:rPr>
              <a:t>REFERENCES</a:t>
            </a:r>
            <a:endParaRPr lang="en-US" sz="1000" dirty="0"/>
          </a:p>
        </p:txBody>
      </p:sp>
      <p:sp>
        <p:nvSpPr>
          <p:cNvPr id="4" name="Text 2"/>
          <p:cNvSpPr/>
          <p:nvPr/>
        </p:nvSpPr>
        <p:spPr>
          <a:xfrm>
            <a:off x="10271455" y="182880"/>
            <a:ext cx="1371600" cy="274320"/>
          </a:xfrm>
          <a:prstGeom prst="rect">
            <a:avLst/>
          </a:prstGeom>
          <a:noFill/>
          <a:ln/>
        </p:spPr>
        <p:txBody>
          <a:bodyPr wrap="square" lIns="0" tIns="0" rIns="0" bIns="0" rtlCol="0" anchor="ctr"/>
          <a:lstStyle/>
          <a:p>
            <a:pPr algn="r" indent="0" marL="0">
              <a:buNone/>
            </a:pPr>
            <a:r>
              <a:rPr lang="en-US" sz="1000" dirty="0">
                <a:solidFill>
                  <a:srgbClr val="A68474"/>
                </a:solidFill>
                <a:latin typeface="Noto Sans KR" pitchFamily="34" charset="0"/>
                <a:ea typeface="Noto Sans KR" pitchFamily="34" charset="-122"/>
                <a:cs typeface="Noto Sans KR" pitchFamily="34" charset="-120"/>
              </a:rPr>
              <a:t>32 / 32</a:t>
            </a:r>
            <a:endParaRPr lang="en-US" sz="1000" dirty="0"/>
          </a:p>
        </p:txBody>
      </p:sp>
      <p:sp>
        <p:nvSpPr>
          <p:cNvPr id="5" name="Text 3"/>
          <p:cNvSpPr/>
          <p:nvPr/>
        </p:nvSpPr>
        <p:spPr>
          <a:xfrm>
            <a:off x="548640" y="640080"/>
            <a:ext cx="11094415" cy="640080"/>
          </a:xfrm>
          <a:prstGeom prst="rect">
            <a:avLst/>
          </a:prstGeom>
          <a:noFill/>
          <a:ln/>
        </p:spPr>
        <p:txBody>
          <a:bodyPr wrap="square" lIns="0" tIns="0" rIns="0" bIns="0" rtlCol="0" anchor="ctr"/>
          <a:lstStyle/>
          <a:p>
            <a:pPr algn="l" indent="0" marL="0">
              <a:buNone/>
            </a:pPr>
            <a:r>
              <a:rPr lang="en-US" sz="3200" b="1" dirty="0">
                <a:solidFill>
                  <a:srgbClr val="5C4033"/>
                </a:solidFill>
                <a:latin typeface="Nanum Myeongjo" pitchFamily="34" charset="0"/>
                <a:ea typeface="Nanum Myeongjo" pitchFamily="34" charset="-122"/>
                <a:cs typeface="Nanum Myeongjo" pitchFamily="34" charset="-120"/>
              </a:rPr>
              <a:t>참고 자료  ·  References</a:t>
            </a:r>
            <a:endParaRPr lang="en-US" sz="3200" dirty="0"/>
          </a:p>
        </p:txBody>
      </p:sp>
      <p:sp>
        <p:nvSpPr>
          <p:cNvPr id="6" name="Text 4"/>
          <p:cNvSpPr/>
          <p:nvPr/>
        </p:nvSpPr>
        <p:spPr>
          <a:xfrm>
            <a:off x="548640" y="1371600"/>
            <a:ext cx="11094415" cy="365760"/>
          </a:xfrm>
          <a:prstGeom prst="rect">
            <a:avLst/>
          </a:prstGeom>
          <a:noFill/>
          <a:ln/>
        </p:spPr>
        <p:txBody>
          <a:bodyPr wrap="square" lIns="0" tIns="0" rIns="0" bIns="0" rtlCol="0" anchor="ctr"/>
          <a:lstStyle/>
          <a:p>
            <a:pPr algn="l" indent="0" marL="0">
              <a:buNone/>
            </a:pPr>
            <a:r>
              <a:rPr lang="en-US" sz="1800" dirty="0">
                <a:solidFill>
                  <a:srgbClr val="7E5D4E"/>
                </a:solidFill>
                <a:latin typeface="Noto Sans KR" pitchFamily="34" charset="0"/>
                <a:ea typeface="Noto Sans KR" pitchFamily="34" charset="-122"/>
                <a:cs typeface="Noto Sans KR" pitchFamily="34" charset="-120"/>
              </a:rPr>
              <a:t>더 깊이 읽어볼 수 있는 소스들</a:t>
            </a:r>
            <a:endParaRPr lang="en-US" sz="1800" dirty="0"/>
          </a:p>
        </p:txBody>
      </p:sp>
      <p:sp>
        <p:nvSpPr>
          <p:cNvPr id="7" name="Shape 5"/>
          <p:cNvSpPr/>
          <p:nvPr/>
        </p:nvSpPr>
        <p:spPr>
          <a:xfrm>
            <a:off x="548640" y="1691640"/>
            <a:ext cx="457200" cy="36576"/>
          </a:xfrm>
          <a:prstGeom prst="rect">
            <a:avLst/>
          </a:prstGeom>
          <a:solidFill>
            <a:srgbClr val="5C4033"/>
          </a:solidFill>
          <a:ln w="12700">
            <a:solidFill>
              <a:srgbClr val="5C4033"/>
            </a:solidFill>
            <a:prstDash val="solid"/>
          </a:ln>
        </p:spPr>
      </p:sp>
      <p:sp>
        <p:nvSpPr>
          <p:cNvPr id="8" name="Shape 6"/>
          <p:cNvSpPr/>
          <p:nvPr/>
        </p:nvSpPr>
        <p:spPr>
          <a:xfrm>
            <a:off x="548640" y="2103120"/>
            <a:ext cx="11094415" cy="118872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9" name="Shape 7"/>
          <p:cNvSpPr/>
          <p:nvPr/>
        </p:nvSpPr>
        <p:spPr>
          <a:xfrm>
            <a:off x="548640" y="2103120"/>
            <a:ext cx="73152" cy="1188720"/>
          </a:xfrm>
          <a:prstGeom prst="rect">
            <a:avLst/>
          </a:prstGeom>
          <a:solidFill>
            <a:srgbClr val="F4A6B8"/>
          </a:solidFill>
          <a:ln w="12700">
            <a:solidFill>
              <a:srgbClr val="F4A6B8"/>
            </a:solidFill>
            <a:prstDash val="solid"/>
          </a:ln>
        </p:spPr>
      </p:sp>
      <p:sp>
        <p:nvSpPr>
          <p:cNvPr id="10" name="Shape 8"/>
          <p:cNvSpPr/>
          <p:nvPr/>
        </p:nvSpPr>
        <p:spPr>
          <a:xfrm>
            <a:off x="868680" y="2377440"/>
            <a:ext cx="822960" cy="274320"/>
          </a:xfrm>
          <a:prstGeom prst="roundRect">
            <a:avLst>
              <a:gd name="adj" fmla="val 20000"/>
            </a:avLst>
          </a:prstGeom>
          <a:solidFill>
            <a:srgbClr val="F4A6B8"/>
          </a:solidFill>
          <a:ln w="12700">
            <a:solidFill>
              <a:srgbClr val="F4A6B8"/>
            </a:solidFill>
            <a:prstDash val="solid"/>
          </a:ln>
        </p:spPr>
      </p:sp>
      <p:sp>
        <p:nvSpPr>
          <p:cNvPr id="11" name="Text 9"/>
          <p:cNvSpPr/>
          <p:nvPr/>
        </p:nvSpPr>
        <p:spPr>
          <a:xfrm>
            <a:off x="868680" y="2377440"/>
            <a:ext cx="82296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Noto Sans KR" pitchFamily="34" charset="0"/>
                <a:ea typeface="Noto Sans KR" pitchFamily="34" charset="-122"/>
                <a:cs typeface="Noto Sans KR" pitchFamily="34" charset="-120"/>
              </a:rPr>
              <a:t>CODE</a:t>
            </a:r>
            <a:endParaRPr lang="en-US" sz="1000" dirty="0"/>
          </a:p>
        </p:txBody>
      </p:sp>
      <p:sp>
        <p:nvSpPr>
          <p:cNvPr id="12" name="Text 10"/>
          <p:cNvSpPr/>
          <p:nvPr/>
        </p:nvSpPr>
        <p:spPr>
          <a:xfrm>
            <a:off x="1828800" y="2286000"/>
            <a:ext cx="7894015"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oto Sans KR" pitchFamily="34" charset="0"/>
                <a:ea typeface="Noto Sans KR" pitchFamily="34" charset="-122"/>
                <a:cs typeface="Noto Sans KR" pitchFamily="34" charset="-120"/>
              </a:rPr>
              <a:t>DeerFlow</a:t>
            </a:r>
            <a:endParaRPr lang="en-US" sz="1600" dirty="0"/>
          </a:p>
        </p:txBody>
      </p:sp>
      <p:sp>
        <p:nvSpPr>
          <p:cNvPr id="13" name="Text 11"/>
          <p:cNvSpPr/>
          <p:nvPr/>
        </p:nvSpPr>
        <p:spPr>
          <a:xfrm>
            <a:off x="1828800" y="2651760"/>
            <a:ext cx="7894015" cy="274320"/>
          </a:xfrm>
          <a:prstGeom prst="rect">
            <a:avLst/>
          </a:prstGeom>
          <a:noFill/>
          <a:ln/>
        </p:spPr>
        <p:txBody>
          <a:bodyPr wrap="square" lIns="0" tIns="0" rIns="0" bIns="0" rtlCol="0" anchor="ctr"/>
          <a:lstStyle/>
          <a:p>
            <a:pPr algn="l" indent="0" marL="0">
              <a:buNone/>
            </a:pPr>
            <a:r>
              <a:rPr lang="en-US" sz="1100" i="1" dirty="0">
                <a:solidFill>
                  <a:srgbClr val="F4A6B8"/>
                </a:solidFill>
                <a:latin typeface="Noto Sans KR" pitchFamily="34" charset="0"/>
                <a:ea typeface="Noto Sans KR" pitchFamily="34" charset="-122"/>
                <a:cs typeface="Noto Sans KR" pitchFamily="34" charset="-120"/>
              </a:rPr>
              <a:t>github.com/bytedance/deer-flow</a:t>
            </a:r>
            <a:endParaRPr lang="en-US" sz="1100" dirty="0"/>
          </a:p>
        </p:txBody>
      </p:sp>
      <p:sp>
        <p:nvSpPr>
          <p:cNvPr id="14" name="Text 12"/>
          <p:cNvSpPr/>
          <p:nvPr/>
        </p:nvSpPr>
        <p:spPr>
          <a:xfrm>
            <a:off x="1828800" y="2907792"/>
            <a:ext cx="7894015" cy="320040"/>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ByteDance 의 오픈소스 에이전트 아키텍처 — Lead + Subagents, 미들웨어, 메모리, 스킬</a:t>
            </a:r>
            <a:endParaRPr lang="en-US" sz="1100" dirty="0"/>
          </a:p>
        </p:txBody>
      </p:sp>
      <p:sp>
        <p:nvSpPr>
          <p:cNvPr id="15" name="Text 13"/>
          <p:cNvSpPr/>
          <p:nvPr/>
        </p:nvSpPr>
        <p:spPr>
          <a:xfrm>
            <a:off x="10180015" y="2423160"/>
            <a:ext cx="1188720" cy="457200"/>
          </a:xfrm>
          <a:prstGeom prst="rect">
            <a:avLst/>
          </a:prstGeom>
          <a:noFill/>
          <a:ln/>
        </p:spPr>
        <p:txBody>
          <a:bodyPr wrap="square" lIns="0" tIns="0" rIns="0" bIns="0" rtlCol="0" anchor="ctr"/>
          <a:lstStyle/>
          <a:p>
            <a:pPr algn="r" indent="0" marL="0">
              <a:buNone/>
            </a:pPr>
            <a:r>
              <a:rPr lang="en-US" sz="1500" b="1" dirty="0">
                <a:solidFill>
                  <a:srgbClr val="5C4033"/>
                </a:solidFill>
                <a:latin typeface="Noto Sans KR" pitchFamily="34" charset="0"/>
                <a:ea typeface="Noto Sans KR" pitchFamily="34" charset="-122"/>
                <a:cs typeface="Noto Sans KR" pitchFamily="34" charset="-120"/>
              </a:rPr>
              <a:t>45K+ stars</a:t>
            </a:r>
            <a:endParaRPr lang="en-US" sz="1500" dirty="0"/>
          </a:p>
        </p:txBody>
      </p:sp>
      <p:sp>
        <p:nvSpPr>
          <p:cNvPr id="16" name="Shape 14"/>
          <p:cNvSpPr/>
          <p:nvPr/>
        </p:nvSpPr>
        <p:spPr>
          <a:xfrm>
            <a:off x="548640" y="3474720"/>
            <a:ext cx="11094415" cy="118872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17" name="Shape 15"/>
          <p:cNvSpPr/>
          <p:nvPr/>
        </p:nvSpPr>
        <p:spPr>
          <a:xfrm>
            <a:off x="548640" y="3474720"/>
            <a:ext cx="73152" cy="1188720"/>
          </a:xfrm>
          <a:prstGeom prst="rect">
            <a:avLst/>
          </a:prstGeom>
          <a:solidFill>
            <a:srgbClr val="F08B51"/>
          </a:solidFill>
          <a:ln w="12700">
            <a:solidFill>
              <a:srgbClr val="F08B51"/>
            </a:solidFill>
            <a:prstDash val="solid"/>
          </a:ln>
        </p:spPr>
      </p:sp>
      <p:sp>
        <p:nvSpPr>
          <p:cNvPr id="18" name="Shape 16"/>
          <p:cNvSpPr/>
          <p:nvPr/>
        </p:nvSpPr>
        <p:spPr>
          <a:xfrm>
            <a:off x="868680" y="3749040"/>
            <a:ext cx="822960" cy="274320"/>
          </a:xfrm>
          <a:prstGeom prst="roundRect">
            <a:avLst>
              <a:gd name="adj" fmla="val 20000"/>
            </a:avLst>
          </a:prstGeom>
          <a:solidFill>
            <a:srgbClr val="F08B51"/>
          </a:solidFill>
          <a:ln w="12700">
            <a:solidFill>
              <a:srgbClr val="F08B51"/>
            </a:solidFill>
            <a:prstDash val="solid"/>
          </a:ln>
        </p:spPr>
      </p:sp>
      <p:sp>
        <p:nvSpPr>
          <p:cNvPr id="19" name="Text 17"/>
          <p:cNvSpPr/>
          <p:nvPr/>
        </p:nvSpPr>
        <p:spPr>
          <a:xfrm>
            <a:off x="868680" y="3749040"/>
            <a:ext cx="82296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Noto Sans KR" pitchFamily="34" charset="0"/>
                <a:ea typeface="Noto Sans KR" pitchFamily="34" charset="-122"/>
                <a:cs typeface="Noto Sans KR" pitchFamily="34" charset="-120"/>
              </a:rPr>
              <a:t>CODE</a:t>
            </a:r>
            <a:endParaRPr lang="en-US" sz="1000" dirty="0"/>
          </a:p>
        </p:txBody>
      </p:sp>
      <p:sp>
        <p:nvSpPr>
          <p:cNvPr id="20" name="Text 18"/>
          <p:cNvSpPr/>
          <p:nvPr/>
        </p:nvSpPr>
        <p:spPr>
          <a:xfrm>
            <a:off x="1828800" y="3657600"/>
            <a:ext cx="7894015"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oto Sans KR" pitchFamily="34" charset="0"/>
                <a:ea typeface="Noto Sans KR" pitchFamily="34" charset="-122"/>
                <a:cs typeface="Noto Sans KR" pitchFamily="34" charset="-120"/>
              </a:rPr>
              <a:t>SWE-Agent</a:t>
            </a:r>
            <a:endParaRPr lang="en-US" sz="1600" dirty="0"/>
          </a:p>
        </p:txBody>
      </p:sp>
      <p:sp>
        <p:nvSpPr>
          <p:cNvPr id="21" name="Text 19"/>
          <p:cNvSpPr/>
          <p:nvPr/>
        </p:nvSpPr>
        <p:spPr>
          <a:xfrm>
            <a:off x="1828800" y="4023360"/>
            <a:ext cx="7894015" cy="274320"/>
          </a:xfrm>
          <a:prstGeom prst="rect">
            <a:avLst/>
          </a:prstGeom>
          <a:noFill/>
          <a:ln/>
        </p:spPr>
        <p:txBody>
          <a:bodyPr wrap="square" lIns="0" tIns="0" rIns="0" bIns="0" rtlCol="0" anchor="ctr"/>
          <a:lstStyle/>
          <a:p>
            <a:pPr algn="l" indent="0" marL="0">
              <a:buNone/>
            </a:pPr>
            <a:r>
              <a:rPr lang="en-US" sz="1100" i="1" dirty="0">
                <a:solidFill>
                  <a:srgbClr val="F08B51"/>
                </a:solidFill>
                <a:latin typeface="Noto Sans KR" pitchFamily="34" charset="0"/>
                <a:ea typeface="Noto Sans KR" pitchFamily="34" charset="-122"/>
                <a:cs typeface="Noto Sans KR" pitchFamily="34" charset="-120"/>
              </a:rPr>
              <a:t>github.com/SWE-agent/SWE-agent</a:t>
            </a:r>
            <a:endParaRPr lang="en-US" sz="1100" dirty="0"/>
          </a:p>
        </p:txBody>
      </p:sp>
      <p:sp>
        <p:nvSpPr>
          <p:cNvPr id="22" name="Text 20"/>
          <p:cNvSpPr/>
          <p:nvPr/>
        </p:nvSpPr>
        <p:spPr>
          <a:xfrm>
            <a:off x="1828800" y="4279392"/>
            <a:ext cx="7894015" cy="320040"/>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Princeton/NeurIPS ACI 구현체 — File Viewer, Search, Edit, Linter Guard, ReAct Loop</a:t>
            </a:r>
            <a:endParaRPr lang="en-US" sz="1100" dirty="0"/>
          </a:p>
        </p:txBody>
      </p:sp>
      <p:sp>
        <p:nvSpPr>
          <p:cNvPr id="23" name="Text 21"/>
          <p:cNvSpPr/>
          <p:nvPr/>
        </p:nvSpPr>
        <p:spPr>
          <a:xfrm>
            <a:off x="10180015" y="3794760"/>
            <a:ext cx="1188720" cy="457200"/>
          </a:xfrm>
          <a:prstGeom prst="rect">
            <a:avLst/>
          </a:prstGeom>
          <a:noFill/>
          <a:ln/>
        </p:spPr>
        <p:txBody>
          <a:bodyPr wrap="square" lIns="0" tIns="0" rIns="0" bIns="0" rtlCol="0" anchor="ctr"/>
          <a:lstStyle/>
          <a:p>
            <a:pPr algn="r" indent="0" marL="0">
              <a:buNone/>
            </a:pPr>
            <a:r>
              <a:rPr lang="en-US" sz="1500" b="1" dirty="0">
                <a:solidFill>
                  <a:srgbClr val="5C4033"/>
                </a:solidFill>
                <a:latin typeface="Noto Sans KR" pitchFamily="34" charset="0"/>
                <a:ea typeface="Noto Sans KR" pitchFamily="34" charset="-122"/>
                <a:cs typeface="Noto Sans KR" pitchFamily="34" charset="-120"/>
              </a:rPr>
              <a:t>18.8K stars</a:t>
            </a:r>
            <a:endParaRPr lang="en-US" sz="1500" dirty="0"/>
          </a:p>
        </p:txBody>
      </p:sp>
      <p:sp>
        <p:nvSpPr>
          <p:cNvPr id="24" name="Shape 22"/>
          <p:cNvSpPr/>
          <p:nvPr/>
        </p:nvSpPr>
        <p:spPr>
          <a:xfrm>
            <a:off x="548640" y="4846320"/>
            <a:ext cx="11094415" cy="1188720"/>
          </a:xfrm>
          <a:prstGeom prst="rect">
            <a:avLst/>
          </a:prstGeom>
          <a:solidFill>
            <a:srgbClr val="FFFFFF"/>
          </a:solidFill>
          <a:ln w="6350">
            <a:solidFill>
              <a:srgbClr val="E8DED0"/>
            </a:solidFill>
            <a:prstDash val="solid"/>
          </a:ln>
          <a:effectLst>
            <a:outerShdw sx="100000" sy="100000" kx="0" ky="0" algn="bl" rotWithShape="0" blurRad="101600" dist="25400" dir="5400000">
              <a:srgbClr val="5C4033">
                <a:alpha val="6000"/>
              </a:srgbClr>
            </a:outerShdw>
          </a:effectLst>
        </p:spPr>
      </p:sp>
      <p:sp>
        <p:nvSpPr>
          <p:cNvPr id="25" name="Shape 23"/>
          <p:cNvSpPr/>
          <p:nvPr/>
        </p:nvSpPr>
        <p:spPr>
          <a:xfrm>
            <a:off x="548640" y="4846320"/>
            <a:ext cx="73152" cy="1188720"/>
          </a:xfrm>
          <a:prstGeom prst="rect">
            <a:avLst/>
          </a:prstGeom>
          <a:solidFill>
            <a:srgbClr val="88B04B"/>
          </a:solidFill>
          <a:ln w="12700">
            <a:solidFill>
              <a:srgbClr val="88B04B"/>
            </a:solidFill>
            <a:prstDash val="solid"/>
          </a:ln>
        </p:spPr>
      </p:sp>
      <p:sp>
        <p:nvSpPr>
          <p:cNvPr id="26" name="Shape 24"/>
          <p:cNvSpPr/>
          <p:nvPr/>
        </p:nvSpPr>
        <p:spPr>
          <a:xfrm>
            <a:off x="868680" y="5120640"/>
            <a:ext cx="822960" cy="274320"/>
          </a:xfrm>
          <a:prstGeom prst="roundRect">
            <a:avLst>
              <a:gd name="adj" fmla="val 20000"/>
            </a:avLst>
          </a:prstGeom>
          <a:solidFill>
            <a:srgbClr val="88B04B"/>
          </a:solidFill>
          <a:ln w="12700">
            <a:solidFill>
              <a:srgbClr val="88B04B"/>
            </a:solidFill>
            <a:prstDash val="solid"/>
          </a:ln>
        </p:spPr>
      </p:sp>
      <p:sp>
        <p:nvSpPr>
          <p:cNvPr id="27" name="Text 25"/>
          <p:cNvSpPr/>
          <p:nvPr/>
        </p:nvSpPr>
        <p:spPr>
          <a:xfrm>
            <a:off x="868680" y="5120640"/>
            <a:ext cx="82296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Noto Sans KR" pitchFamily="34" charset="0"/>
                <a:ea typeface="Noto Sans KR" pitchFamily="34" charset="-122"/>
                <a:cs typeface="Noto Sans KR" pitchFamily="34" charset="-120"/>
              </a:rPr>
              <a:t>PAPER</a:t>
            </a:r>
            <a:endParaRPr lang="en-US" sz="1000" dirty="0"/>
          </a:p>
        </p:txBody>
      </p:sp>
      <p:sp>
        <p:nvSpPr>
          <p:cNvPr id="28" name="Text 26"/>
          <p:cNvSpPr/>
          <p:nvPr/>
        </p:nvSpPr>
        <p:spPr>
          <a:xfrm>
            <a:off x="1828800" y="5029200"/>
            <a:ext cx="7894015" cy="411480"/>
          </a:xfrm>
          <a:prstGeom prst="rect">
            <a:avLst/>
          </a:prstGeom>
          <a:noFill/>
          <a:ln/>
        </p:spPr>
        <p:txBody>
          <a:bodyPr wrap="square" lIns="0" tIns="0" rIns="0" bIns="0" rtlCol="0" anchor="ctr"/>
          <a:lstStyle/>
          <a:p>
            <a:pPr algn="l" indent="0" marL="0">
              <a:buNone/>
            </a:pPr>
            <a:r>
              <a:rPr lang="en-US" sz="1600" b="1" dirty="0">
                <a:solidFill>
                  <a:srgbClr val="5C4033"/>
                </a:solidFill>
                <a:latin typeface="Noto Sans KR" pitchFamily="34" charset="0"/>
                <a:ea typeface="Noto Sans KR" pitchFamily="34" charset="-122"/>
                <a:cs typeface="Noto Sans KR" pitchFamily="34" charset="-120"/>
              </a:rPr>
              <a:t>SWE-agent: Agent-Computer Interfaces Enable Automated Software Engineering</a:t>
            </a:r>
            <a:endParaRPr lang="en-US" sz="1600" dirty="0"/>
          </a:p>
        </p:txBody>
      </p:sp>
      <p:sp>
        <p:nvSpPr>
          <p:cNvPr id="29" name="Text 27"/>
          <p:cNvSpPr/>
          <p:nvPr/>
        </p:nvSpPr>
        <p:spPr>
          <a:xfrm>
            <a:off x="1828800" y="5394960"/>
            <a:ext cx="7894015" cy="274320"/>
          </a:xfrm>
          <a:prstGeom prst="rect">
            <a:avLst/>
          </a:prstGeom>
          <a:noFill/>
          <a:ln/>
        </p:spPr>
        <p:txBody>
          <a:bodyPr wrap="square" lIns="0" tIns="0" rIns="0" bIns="0" rtlCol="0" anchor="ctr"/>
          <a:lstStyle/>
          <a:p>
            <a:pPr algn="l" indent="0" marL="0">
              <a:buNone/>
            </a:pPr>
            <a:r>
              <a:rPr lang="en-US" sz="1100" i="1" dirty="0">
                <a:solidFill>
                  <a:srgbClr val="88B04B"/>
                </a:solidFill>
                <a:latin typeface="Noto Sans KR" pitchFamily="34" charset="0"/>
                <a:ea typeface="Noto Sans KR" pitchFamily="34" charset="-122"/>
                <a:cs typeface="Noto Sans KR" pitchFamily="34" charset="-120"/>
              </a:rPr>
              <a:t>arXiv:2405.15793  ·  NeurIPS 2024</a:t>
            </a:r>
            <a:endParaRPr lang="en-US" sz="1100" dirty="0"/>
          </a:p>
        </p:txBody>
      </p:sp>
      <p:sp>
        <p:nvSpPr>
          <p:cNvPr id="30" name="Text 28"/>
          <p:cNvSpPr/>
          <p:nvPr/>
        </p:nvSpPr>
        <p:spPr>
          <a:xfrm>
            <a:off x="1828800" y="5650992"/>
            <a:ext cx="7894015" cy="320040"/>
          </a:xfrm>
          <a:prstGeom prst="rect">
            <a:avLst/>
          </a:prstGeom>
          <a:noFill/>
          <a:ln/>
        </p:spPr>
        <p:txBody>
          <a:bodyPr wrap="square" lIns="0" tIns="0" rIns="0" bIns="0" rtlCol="0" anchor="ctr"/>
          <a:lstStyle/>
          <a:p>
            <a:pPr algn="l" indent="0" marL="0">
              <a:buNone/>
            </a:pPr>
            <a:r>
              <a:rPr lang="en-US" sz="1100" dirty="0">
                <a:solidFill>
                  <a:srgbClr val="7E5D4E"/>
                </a:solidFill>
                <a:latin typeface="Noto Sans KR" pitchFamily="34" charset="0"/>
                <a:ea typeface="Noto Sans KR" pitchFamily="34" charset="-122"/>
                <a:cs typeface="Noto Sans KR" pitchFamily="34" charset="-120"/>
              </a:rPr>
              <a:t>Yang, Jimenez, Wettig, Lieret, Yao, Narasimhan, Press  —  ACI 개념과 Ablation 결과의 근거</a:t>
            </a:r>
            <a:endParaRPr lang="en-US" sz="1100" dirty="0"/>
          </a:p>
        </p:txBody>
      </p:sp>
      <p:sp>
        <p:nvSpPr>
          <p:cNvPr id="31" name="Text 29"/>
          <p:cNvSpPr/>
          <p:nvPr/>
        </p:nvSpPr>
        <p:spPr>
          <a:xfrm>
            <a:off x="548640" y="6172200"/>
            <a:ext cx="11094415" cy="274320"/>
          </a:xfrm>
          <a:prstGeom prst="rect">
            <a:avLst/>
          </a:prstGeom>
          <a:noFill/>
          <a:ln/>
        </p:spPr>
        <p:txBody>
          <a:bodyPr wrap="square" lIns="0" tIns="0" rIns="0" bIns="0" rtlCol="0" anchor="ctr"/>
          <a:lstStyle/>
          <a:p>
            <a:pPr algn="ctr" indent="0" marL="0">
              <a:buNone/>
            </a:pPr>
            <a:r>
              <a:rPr lang="en-US" sz="1000" i="1" dirty="0">
                <a:solidFill>
                  <a:srgbClr val="A68474"/>
                </a:solidFill>
                <a:latin typeface="Noto Sans KR" pitchFamily="34" charset="0"/>
                <a:ea typeface="Noto Sans KR" pitchFamily="34" charset="-122"/>
                <a:cs typeface="Noto Sans KR" pitchFamily="34" charset="-120"/>
              </a:rPr>
              <a:t>원본 분석 노트: data/deerflow-sweagent-deep-dive.md  (907 lines)</a:t>
            </a:r>
            <a:endParaRPr lang="en-US" sz="1000" dirty="0"/>
          </a:p>
        </p:txBody>
      </p:sp>
      <p:sp>
        <p:nvSpPr>
          <p:cNvPr id="33" name="Text 30"/>
          <p:cNvSpPr/>
          <p:nvPr/>
        </p:nvSpPr>
        <p:spPr>
          <a:xfrm>
            <a:off x="548640" y="6537960"/>
            <a:ext cx="11094415" cy="228600"/>
          </a:xfrm>
          <a:prstGeom prst="rect">
            <a:avLst/>
          </a:prstGeom>
          <a:noFill/>
          <a:ln/>
        </p:spPr>
        <p:txBody>
          <a:bodyPr wrap="square" lIns="0" tIns="0" rIns="0" bIns="0" rtlCol="0" anchor="ctr"/>
          <a:lstStyle/>
          <a:p>
            <a:pPr algn="l" indent="0" marL="0">
              <a:buNone/>
            </a:pPr>
            <a:r>
              <a:rPr lang="en-US" sz="900" dirty="0">
                <a:solidFill>
                  <a:srgbClr val="C7BDB1"/>
                </a:solidFill>
                <a:latin typeface="Noto Sans KR" pitchFamily="34" charset="0"/>
                <a:ea typeface="Noto Sans KR" pitchFamily="34" charset="-122"/>
                <a:cs typeface="Noto Sans KR" pitchFamily="34" charset="-120"/>
              </a:rPr>
              <a:t>DeerFlow vs SWE-Agent · Architectural Comparison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DeerFlow vs SWE-Agent</dc:title>
  <dc:subject>PptxGenJS Presentation</dc:subject>
  <dc:creator>Minjeong</dc:creator>
  <cp:lastModifiedBy>Minjeong</cp:lastModifiedBy>
  <cp:revision>1</cp:revision>
  <dcterms:created xsi:type="dcterms:W3CDTF">2026-04-17T23:54:44Z</dcterms:created>
  <dcterms:modified xsi:type="dcterms:W3CDTF">2026-04-17T23:54:44Z</dcterms:modified>
</cp:coreProperties>
</file>